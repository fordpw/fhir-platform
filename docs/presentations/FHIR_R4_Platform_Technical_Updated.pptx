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8" d="100"/>
          <a:sy n="148" d="100"/>
        </p:scale>
        <p:origin x="114"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537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Standard references: https://hl7.org/fhir/R4/condition.html and https://hl7.org/fhir/R4/encounter.html. Condition.subject permits Patient or Group; Encounter.subject permits Patient or Group. This subset shows Patient. A Reference is not a SQL foreign key. Endpoints below use the platform /fhir prefix.</a:t>
            </a: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Standards sources: https://hl7.org/fhir/R4/claim.html; https://hl7.org/fhir/R4/explanationofbenefit.html; https://hl7.org/fhir/R4/coverage.html. Selected references only. Claim.patient 1..1; ExplanationOfBenefit.patient 1..1; EOB.claim 0..1; Coverage.beneficiary 1..1. Claim.insurance 1..* and EOB.insurance 1..*, each with coverage 1..1. Cardinalities do not enforce unique referenced Coverage targets. Provider references (Claim and EOB) may target Practitioner, PractitionerRole, or Organization. Coverage.payor may target Organization, Patient or RelatedPerson. ClaimResponse exists in R4 but is outside this platform's 15 supported types. Endpoints use the platform /fhir prefix.</a:t>
            </a: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Platform implementation source: https://github.com/fordpw/fhir-platform/blob/master/docs/TECHNICAL_REFERENCE.md</a:t>
            </a:r>
          </a:p>
          <a:p>
            <a:r>
              <a:t>Technical Reference v1.1.1, August 2026. Diagrams are architectural summaries, not live execution traces.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13.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91000" y="1704677"/>
            <a:ext cx="6915150" cy="2962424"/>
          </a:xfrm>
          <a:prstGeom prst="rect">
            <a:avLst/>
          </a:prstGeom>
          <a:noFill/>
          <a:ln>
            <a:miter lim="800000"/>
          </a:ln>
        </p:spPr>
        <p:txBody>
          <a:bodyPr wrap="square" lIns="0" tIns="0" rIns="0" bIns="0" rtlCol="0" anchor="ctr"/>
          <a:lstStyle/>
          <a:p>
            <a:pPr algn="l" fontAlgn="ctr">
              <a:lnSpc>
                <a:spcPts val="7776"/>
              </a:lnSpc>
            </a:pPr>
            <a:r>
              <a:rPr lang="en-US" sz="6750" b="1" kern="0" spc="-405" dirty="0">
                <a:solidFill>
                  <a:srgbClr val="333333"/>
                </a:solidFill>
                <a:latin typeface="Arial" pitchFamily="34" charset="0"/>
                <a:ea typeface="Arial" pitchFamily="34" charset="-122"/>
                <a:cs typeface="Arial" pitchFamily="34" charset="-120"/>
              </a:rPr>
              <a:t>FHIR R4 Platform:</a:t>
            </a:r>
            <a:br>
              <a:rPr lang="en-US" sz="6750" b="1" kern="0" spc="-405" dirty="0">
                <a:solidFill>
                  <a:srgbClr val="333333"/>
                </a:solidFill>
                <a:latin typeface="Arial" pitchFamily="34" charset="0"/>
                <a:ea typeface="Arial" pitchFamily="34" charset="-122"/>
                <a:cs typeface="Arial" pitchFamily="34" charset="-120"/>
              </a:rPr>
            </a:br>
            <a:r>
              <a:rPr lang="en-US" sz="6750" b="1" kern="0" spc="-405" dirty="0">
                <a:solidFill>
                  <a:srgbClr val="333333"/>
                </a:solidFill>
                <a:latin typeface="Arial" pitchFamily="34" charset="0"/>
                <a:ea typeface="Arial" pitchFamily="34" charset="-122"/>
                <a:cs typeface="Arial" pitchFamily="34" charset="-120"/>
              </a:rPr>
              <a:t>Architecture &amp;</a:t>
            </a:r>
            <a:br>
              <a:rPr lang="en-US" sz="6750" b="1" kern="0" spc="-405" dirty="0">
                <a:solidFill>
                  <a:srgbClr val="333333"/>
                </a:solidFill>
                <a:latin typeface="Arial" pitchFamily="34" charset="0"/>
                <a:ea typeface="Arial" pitchFamily="34" charset="-122"/>
                <a:cs typeface="Arial" pitchFamily="34" charset="-120"/>
              </a:rPr>
            </a:br>
            <a:r>
              <a:rPr lang="en-US" sz="6750" b="1" kern="0" spc="-405" dirty="0">
                <a:solidFill>
                  <a:srgbClr val="333333"/>
                </a:solidFill>
                <a:latin typeface="Arial" pitchFamily="34" charset="0"/>
                <a:ea typeface="Arial" pitchFamily="34" charset="-122"/>
                <a:cs typeface="Arial" pitchFamily="34" charset="-120"/>
              </a:rPr>
              <a:t>Claims Workflow</a:t>
            </a:r>
            <a:endParaRPr lang="en-US" dirty="0"/>
          </a:p>
        </p:txBody>
      </p:sp>
      <p:sp>
        <p:nvSpPr>
          <p:cNvPr id="3" name="Text 1"/>
          <p:cNvSpPr/>
          <p:nvPr/>
        </p:nvSpPr>
        <p:spPr>
          <a:xfrm>
            <a:off x="4191000" y="4734818"/>
            <a:ext cx="6534150" cy="312688"/>
          </a:xfrm>
          <a:prstGeom prst="rect">
            <a:avLst/>
          </a:prstGeom>
          <a:noFill/>
          <a:ln>
            <a:miter lim="800000"/>
          </a:ln>
        </p:spPr>
        <p:txBody>
          <a:bodyPr wrap="square" lIns="0" tIns="0" rIns="0" bIns="0" rtlCol="0" anchor="ctr"/>
          <a:lstStyle/>
          <a:p>
            <a:pPr algn="l" fontAlgn="ctr">
              <a:lnSpc>
                <a:spcPts val="2462"/>
              </a:lnSpc>
              <a:spcBef>
                <a:spcPts val="524"/>
              </a:spcBef>
            </a:pPr>
            <a:r>
              <a:rPr lang="en-US" sz="1800" kern="0" spc="-36" dirty="0">
                <a:solidFill>
                  <a:srgbClr val="000000">
                    <a:alpha val="55000"/>
                  </a:srgbClr>
                </a:solidFill>
                <a:latin typeface="Arial" pitchFamily="34" charset="0"/>
                <a:ea typeface="Arial" pitchFamily="34" charset="-122"/>
                <a:cs typeface="Arial" pitchFamily="34" charset="-120"/>
              </a:rPr>
              <a:t>Technical Reference v1.1.1 | August 2026</a:t>
            </a:r>
            <a:endParaRPr lang="en-US" dirty="0"/>
          </a:p>
        </p:txBody>
      </p:sp>
      <p:sp>
        <p:nvSpPr>
          <p:cNvPr id="4" name="Shape 2"/>
          <p:cNvSpPr/>
          <p:nvPr/>
        </p:nvSpPr>
        <p:spPr>
          <a:xfrm>
            <a:off x="0" y="0"/>
            <a:ext cx="3810000" cy="6858000"/>
          </a:xfrm>
          <a:prstGeom prst="rect">
            <a:avLst/>
          </a:prstGeom>
          <a:solidFill>
            <a:srgbClr val="000000">
              <a:alpha val="0"/>
            </a:srgbClr>
          </a:solidFill>
          <a:ln>
            <a:miter lim="800000"/>
          </a:ln>
        </p:spPr>
        <p:txBody>
          <a:bodyPr/>
          <a:lstStyle/>
          <a:p>
            <a:endParaRPr lang="en-US"/>
          </a:p>
        </p:txBody>
      </p:sp>
      <p:sp>
        <p:nvSpPr>
          <p:cNvPr id="5" name="Text 3"/>
          <p:cNvSpPr/>
          <p:nvPr/>
        </p:nvSpPr>
        <p:spPr>
          <a:xfrm>
            <a:off x="4191000" y="6085433"/>
            <a:ext cx="1257300" cy="219373"/>
          </a:xfrm>
          <a:prstGeom prst="rect">
            <a:avLst/>
          </a:prstGeom>
          <a:noFill/>
          <a:ln>
            <a:miter lim="800000"/>
          </a:ln>
        </p:spPr>
        <p:txBody>
          <a:bodyPr wrap="square" lIns="0" tIns="0" rIns="0" bIns="0" rtlCol="0" anchor="t"/>
          <a:lstStyle/>
          <a:p>
            <a:pPr algn="l" fontAlgn="ctr">
              <a:lnSpc>
                <a:spcPts val="1728"/>
              </a:lnSpc>
            </a:pPr>
            <a:r>
              <a:rPr lang="en-US" sz="1500" b="1" kern="0" spc="-90" dirty="0">
                <a:solidFill>
                  <a:srgbClr val="333333"/>
                </a:solidFill>
                <a:latin typeface="Arial" pitchFamily="34" charset="0"/>
                <a:ea typeface="Arial" pitchFamily="34" charset="-122"/>
                <a:cs typeface="Arial" pitchFamily="34" charset="-120"/>
              </a:rPr>
              <a:t>Paul W. Ford</a:t>
            </a:r>
            <a:endParaRPr lang="en-US" dirty="0"/>
          </a:p>
        </p:txBody>
      </p:sp>
      <p:sp>
        <p:nvSpPr>
          <p:cNvPr id="6" name="Text 4"/>
          <p:cNvSpPr/>
          <p:nvPr/>
        </p:nvSpPr>
        <p:spPr>
          <a:xfrm>
            <a:off x="4191000" y="6401395"/>
            <a:ext cx="1257300" cy="221456"/>
          </a:xfrm>
          <a:prstGeom prst="rect">
            <a:avLst/>
          </a:prstGeom>
          <a:noFill/>
          <a:ln>
            <a:miter lim="800000"/>
          </a:ln>
        </p:spPr>
        <p:txBody>
          <a:bodyPr wrap="square" lIns="0" tIns="0" rIns="0" bIns="0" rtlCol="0" anchor="t"/>
          <a:lstStyle/>
          <a:p>
            <a:pPr algn="l" fontAlgn="ctr">
              <a:lnSpc>
                <a:spcPts val="1744"/>
              </a:lnSpc>
              <a:spcBef>
                <a:spcPts val="745"/>
              </a:spcBef>
            </a:pPr>
            <a:r>
              <a:rPr lang="en-US" sz="1275" kern="0" spc="-26" dirty="0">
                <a:solidFill>
                  <a:srgbClr val="000000">
                    <a:alpha val="55000"/>
                  </a:srgbClr>
                </a:solidFill>
                <a:latin typeface="Arial" pitchFamily="34" charset="0"/>
                <a:ea typeface="Arial" pitchFamily="34" charset="-122"/>
                <a:cs typeface="Arial" pitchFamily="34" charset="-120"/>
              </a:rPr>
              <a:t>Maintainer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Platform Scope</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Experimental healthcare data platform architecture</a:t>
            </a:r>
            <a:endParaRPr lang="en-US" dirty="0"/>
          </a:p>
        </p:txBody>
      </p:sp>
      <p:sp>
        <p:nvSpPr>
          <p:cNvPr id="4" name="Text 2"/>
          <p:cNvSpPr/>
          <p:nvPr/>
        </p:nvSpPr>
        <p:spPr>
          <a:xfrm>
            <a:off x="952500" y="2711351"/>
            <a:ext cx="5238750" cy="1990279"/>
          </a:xfrm>
          <a:prstGeom prst="rect">
            <a:avLst/>
          </a:prstGeom>
          <a:noFill/>
          <a:ln>
            <a:miter lim="800000"/>
          </a:ln>
        </p:spPr>
        <p:txBody>
          <a:bodyPr wrap="square" lIns="0" tIns="0" rIns="0" bIns="0" rtlCol="0" anchor="t"/>
          <a:lstStyle/>
          <a:p>
            <a:pPr marL="241300" indent="-241300" algn="l" fontAlgn="ctr">
              <a:lnSpc>
                <a:spcPts val="2246"/>
              </a:lnSpc>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fhir-server</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Backend engine responsible for managing and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processing FHIR resources.</a:t>
            </a:r>
            <a:endParaRPr lang="en-US" dirty="0"/>
          </a:p>
          <a:p>
            <a:pPr marL="241300" indent="-241300" algn="l" fontAlgn="ctr">
              <a:lnSpc>
                <a:spcPts val="2246"/>
              </a:lnSpc>
              <a:spcBef>
                <a:spcPts val="2055"/>
              </a:spcBef>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fhir-admin-ui</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Administrative interface designed for streamlined data</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management and oversight.</a:t>
            </a:r>
            <a:endParaRPr lang="en-US" dirty="0"/>
          </a:p>
        </p:txBody>
      </p:sp>
      <p:sp>
        <p:nvSpPr>
          <p:cNvPr id="5" name="Text 3"/>
          <p:cNvSpPr/>
          <p:nvPr/>
        </p:nvSpPr>
        <p:spPr>
          <a:xfrm>
            <a:off x="6286500" y="2711351"/>
            <a:ext cx="5238750" cy="1990279"/>
          </a:xfrm>
          <a:prstGeom prst="rect">
            <a:avLst/>
          </a:prstGeom>
          <a:noFill/>
          <a:ln>
            <a:miter lim="800000"/>
          </a:ln>
        </p:spPr>
        <p:txBody>
          <a:bodyPr wrap="square" lIns="0" tIns="0" rIns="0" bIns="0" rtlCol="0" anchor="t"/>
          <a:lstStyle/>
          <a:p>
            <a:pPr marL="241300" indent="-241300" algn="l" fontAlgn="ctr">
              <a:lnSpc>
                <a:spcPts val="2246"/>
              </a:lnSpc>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fhir-demo-client</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Client-side application tailored for platform</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demonstrations and user interaction.</a:t>
            </a:r>
            <a:endParaRPr lang="en-US" dirty="0"/>
          </a:p>
          <a:p>
            <a:pPr marL="241300" indent="-241300" algn="l" fontAlgn="ctr">
              <a:lnSpc>
                <a:spcPts val="2246"/>
              </a:lnSpc>
              <a:spcBef>
                <a:spcPts val="2055"/>
              </a:spcBef>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MongoDB</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Flexible document-based database storage optimized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for clinical data structures.</a:t>
            </a:r>
            <a:endParaRPr lang="en-US" dirty="0"/>
          </a:p>
        </p:txBody>
      </p:sp>
      <p:sp>
        <p:nvSpPr>
          <p:cNvPr id="6" name="Shape 4"/>
          <p:cNvSpPr/>
          <p:nvPr/>
        </p:nvSpPr>
        <p:spPr>
          <a:xfrm>
            <a:off x="0" y="6134100"/>
            <a:ext cx="12192000" cy="723900"/>
          </a:xfrm>
          <a:prstGeom prst="rect">
            <a:avLst/>
          </a:prstGeom>
          <a:solidFill>
            <a:srgbClr val="222222"/>
          </a:solidFill>
          <a:ln>
            <a:miter lim="800000"/>
          </a:ln>
        </p:spPr>
        <p:txBody>
          <a:bodyPr/>
          <a:lstStyle/>
          <a:p>
            <a:endParaRPr lang="en-US"/>
          </a:p>
        </p:txBody>
      </p:sp>
      <p:sp>
        <p:nvSpPr>
          <p:cNvPr id="7" name="Text 5"/>
          <p:cNvSpPr/>
          <p:nvPr/>
        </p:nvSpPr>
        <p:spPr>
          <a:xfrm>
            <a:off x="1085850" y="6376690"/>
            <a:ext cx="10020300" cy="241399"/>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Cloud deployment is intended for development and testing; it does not establish clinical production readiness.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Presentation Agenda</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Overview of the technical architecture, operational strategy, and project roadmap.</a:t>
            </a:r>
            <a:endParaRPr lang="en-US" dirty="0"/>
          </a:p>
        </p:txBody>
      </p:sp>
      <p:sp>
        <p:nvSpPr>
          <p:cNvPr id="4" name="Text 2"/>
          <p:cNvSpPr/>
          <p:nvPr/>
        </p:nvSpPr>
        <p:spPr>
          <a:xfrm>
            <a:off x="952500" y="2768501"/>
            <a:ext cx="5238750" cy="2597348"/>
          </a:xfrm>
          <a:prstGeom prst="rect">
            <a:avLst/>
          </a:prstGeom>
          <a:noFill/>
          <a:ln>
            <a:miter lim="800000"/>
          </a:ln>
        </p:spPr>
        <p:txBody>
          <a:bodyPr wrap="square" lIns="0" tIns="0" rIns="0" bIns="0" rtlCol="0" anchor="t"/>
          <a:lstStyle/>
          <a:p>
            <a:pPr marL="482600" indent="-482600" algn="l" fontAlgn="ctr">
              <a:lnSpc>
                <a:spcPts val="2246"/>
              </a:lnSpc>
              <a:buSzPct val="200000"/>
              <a:buBlip>
                <a:blip r:embed="rId3"/>
              </a:buBlip>
            </a:pPr>
            <a:r>
              <a:rPr lang="en-US" sz="1950" b="1" kern="0" spc="-117" dirty="0">
                <a:solidFill>
                  <a:srgbClr val="333333"/>
                </a:solidFill>
                <a:latin typeface="Arial" pitchFamily="34" charset="0"/>
                <a:ea typeface="Arial" pitchFamily="34" charset="-122"/>
                <a:cs typeface="Arial" pitchFamily="34" charset="-120"/>
              </a:rPr>
              <a:t>Platform Foundations</a:t>
            </a:r>
            <a:endParaRPr lang="en-US" dirty="0"/>
          </a:p>
          <a:p>
            <a:pPr marL="4826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Core principles and architecture overview.</a:t>
            </a:r>
            <a:endParaRPr lang="en-US" dirty="0"/>
          </a:p>
          <a:p>
            <a:pPr marL="482600" indent="-482600" algn="l" fontAlgn="ctr">
              <a:lnSpc>
                <a:spcPts val="2246"/>
              </a:lnSpc>
              <a:spcBef>
                <a:spcPts val="2055"/>
              </a:spcBef>
              <a:buSzPct val="200000"/>
              <a:buBlip>
                <a:blip r:embed="rId4"/>
              </a:buBlip>
            </a:pPr>
            <a:r>
              <a:rPr lang="en-US" sz="1950" b="1" kern="0" spc="-117" dirty="0">
                <a:solidFill>
                  <a:srgbClr val="333333"/>
                </a:solidFill>
                <a:latin typeface="Arial" pitchFamily="34" charset="0"/>
                <a:ea typeface="Arial" pitchFamily="34" charset="-122"/>
                <a:cs typeface="Arial" pitchFamily="34" charset="-120"/>
              </a:rPr>
              <a:t>System &amp; Data Architecture</a:t>
            </a:r>
            <a:endParaRPr lang="en-US" dirty="0"/>
          </a:p>
          <a:p>
            <a:pPr marL="4826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Structural design and data flow configurations.</a:t>
            </a:r>
            <a:endParaRPr lang="en-US" dirty="0"/>
          </a:p>
          <a:p>
            <a:pPr marL="482600" indent="-482600" algn="l" fontAlgn="ctr">
              <a:lnSpc>
                <a:spcPts val="2246"/>
              </a:lnSpc>
              <a:spcBef>
                <a:spcPts val="2055"/>
              </a:spcBef>
              <a:buSzPct val="200000"/>
              <a:buBlip>
                <a:blip r:embed="rId5"/>
              </a:buBlip>
            </a:pPr>
            <a:r>
              <a:rPr lang="en-US" sz="1950" b="1" kern="0" spc="-117" dirty="0">
                <a:solidFill>
                  <a:srgbClr val="333333"/>
                </a:solidFill>
                <a:latin typeface="Arial" pitchFamily="34" charset="0"/>
                <a:ea typeface="Arial" pitchFamily="34" charset="-122"/>
                <a:cs typeface="Arial" pitchFamily="34" charset="-120"/>
              </a:rPr>
              <a:t>Security &amp; API Behavior</a:t>
            </a:r>
            <a:endParaRPr lang="en-US" dirty="0"/>
          </a:p>
          <a:p>
            <a:pPr marL="4826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Governance, authentication protocols, and interface</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standards.</a:t>
            </a:r>
            <a:endParaRPr lang="en-US" dirty="0"/>
          </a:p>
        </p:txBody>
      </p:sp>
      <p:sp>
        <p:nvSpPr>
          <p:cNvPr id="5" name="Text 3"/>
          <p:cNvSpPr/>
          <p:nvPr/>
        </p:nvSpPr>
        <p:spPr>
          <a:xfrm>
            <a:off x="6286500" y="2768501"/>
            <a:ext cx="5238750" cy="2597348"/>
          </a:xfrm>
          <a:prstGeom prst="rect">
            <a:avLst/>
          </a:prstGeom>
          <a:noFill/>
          <a:ln>
            <a:miter lim="800000"/>
          </a:ln>
        </p:spPr>
        <p:txBody>
          <a:bodyPr wrap="square" lIns="0" tIns="0" rIns="0" bIns="0" rtlCol="0" anchor="t"/>
          <a:lstStyle/>
          <a:p>
            <a:pPr marL="482600" indent="-482600" algn="l" fontAlgn="ctr">
              <a:lnSpc>
                <a:spcPts val="2246"/>
              </a:lnSpc>
              <a:buSzPct val="200000"/>
              <a:buBlip>
                <a:blip r:embed="rId6"/>
              </a:buBlip>
            </a:pPr>
            <a:r>
              <a:rPr lang="en-US" sz="1950" b="1" kern="0" spc="-117" dirty="0">
                <a:solidFill>
                  <a:srgbClr val="333333"/>
                </a:solidFill>
                <a:latin typeface="Arial" pitchFamily="34" charset="0"/>
                <a:ea typeface="Arial" pitchFamily="34" charset="-122"/>
                <a:cs typeface="Arial" pitchFamily="34" charset="-120"/>
              </a:rPr>
              <a:t>Delivery &amp; Operations</a:t>
            </a:r>
            <a:endParaRPr lang="en-US" dirty="0"/>
          </a:p>
          <a:p>
            <a:pPr marL="4826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Deployment strategies and operational management.</a:t>
            </a:r>
            <a:endParaRPr lang="en-US" dirty="0"/>
          </a:p>
          <a:p>
            <a:pPr marL="482600" indent="-482600" algn="l" fontAlgn="ctr">
              <a:lnSpc>
                <a:spcPts val="2246"/>
              </a:lnSpc>
              <a:spcBef>
                <a:spcPts val="2055"/>
              </a:spcBef>
              <a:buSzPct val="200000"/>
              <a:buBlip>
                <a:blip r:embed="rId7"/>
              </a:buBlip>
            </a:pPr>
            <a:r>
              <a:rPr lang="en-US" sz="1950" b="1" kern="0" spc="-117" dirty="0">
                <a:solidFill>
                  <a:srgbClr val="333333"/>
                </a:solidFill>
                <a:latin typeface="Arial" pitchFamily="34" charset="0"/>
                <a:ea typeface="Arial" pitchFamily="34" charset="-122"/>
                <a:cs typeface="Arial" pitchFamily="34" charset="-120"/>
              </a:rPr>
              <a:t>Claims Demonstration</a:t>
            </a:r>
            <a:endParaRPr lang="en-US" dirty="0"/>
          </a:p>
          <a:p>
            <a:pPr marL="4826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Practical proof-of-concept and capability showcase.</a:t>
            </a:r>
            <a:endParaRPr lang="en-US" dirty="0"/>
          </a:p>
          <a:p>
            <a:pPr marL="482600" indent="-482600" algn="l" fontAlgn="ctr">
              <a:lnSpc>
                <a:spcPts val="2246"/>
              </a:lnSpc>
              <a:spcBef>
                <a:spcPts val="2055"/>
              </a:spcBef>
              <a:buSzPct val="200000"/>
              <a:buBlip>
                <a:blip r:embed="rId8"/>
              </a:buBlip>
            </a:pPr>
            <a:r>
              <a:rPr lang="en-US" sz="1950" b="1" kern="0" spc="-117" dirty="0">
                <a:solidFill>
                  <a:srgbClr val="333333"/>
                </a:solidFill>
                <a:latin typeface="Arial" pitchFamily="34" charset="0"/>
                <a:ea typeface="Arial" pitchFamily="34" charset="-122"/>
                <a:cs typeface="Arial" pitchFamily="34" charset="-120"/>
              </a:rPr>
              <a:t>Limitations &amp; v1.2.0 Roadmap</a:t>
            </a:r>
            <a:endParaRPr lang="en-US" dirty="0"/>
          </a:p>
          <a:p>
            <a:pPr marL="4826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Current constraints and future development</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milestones.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FHIR R4 Resource Coverage</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Summary of 15 essential FHIR R4 resource types categorized by workflow</a:t>
            </a:r>
            <a:endParaRPr lang="en-US" dirty="0"/>
          </a:p>
        </p:txBody>
      </p:sp>
      <p:sp>
        <p:nvSpPr>
          <p:cNvPr id="4" name="Shape 2"/>
          <p:cNvSpPr/>
          <p:nvPr/>
        </p:nvSpPr>
        <p:spPr>
          <a:xfrm>
            <a:off x="476250" y="1743075"/>
            <a:ext cx="11239500" cy="3914775"/>
          </a:xfrm>
          <a:prstGeom prst="roundRect">
            <a:avLst>
              <a:gd name="adj" fmla="val 2336"/>
            </a:avLst>
          </a:prstGeom>
          <a:solidFill>
            <a:srgbClr val="000000">
              <a:alpha val="0"/>
            </a:srgbClr>
          </a:solidFill>
          <a:ln>
            <a:miter lim="800000"/>
          </a:ln>
        </p:spPr>
        <p:txBody>
          <a:bodyPr/>
          <a:lstStyle/>
          <a:p>
            <a:endParaRPr lang="en-US"/>
          </a:p>
        </p:txBody>
      </p:sp>
      <p:pic>
        <p:nvPicPr>
          <p:cNvPr id="5" name="Image 0" descr="-2c9a341e.png"/>
          <p:cNvPicPr>
            <a:picLocks noChangeAspect="1"/>
          </p:cNvPicPr>
          <p:nvPr/>
        </p:nvPicPr>
        <p:blipFill>
          <a:blip r:embed="rId3"/>
          <a:stretch>
            <a:fillRect/>
          </a:stretch>
        </p:blipFill>
        <p:spPr>
          <a:xfrm>
            <a:off x="476250" y="1743075"/>
            <a:ext cx="11249025" cy="3924300"/>
          </a:xfrm>
          <a:prstGeom prst="rect">
            <a:avLst/>
          </a:prstGeom>
        </p:spPr>
      </p:pic>
      <p:pic>
        <p:nvPicPr>
          <p:cNvPr id="6" name="Image 1" descr="-69b1055e.png"/>
          <p:cNvPicPr>
            <a:picLocks noChangeAspect="1"/>
          </p:cNvPicPr>
          <p:nvPr/>
        </p:nvPicPr>
        <p:blipFill>
          <a:blip r:embed="rId4"/>
          <a:stretch>
            <a:fillRect/>
          </a:stretch>
        </p:blipFill>
        <p:spPr>
          <a:xfrm>
            <a:off x="476250" y="1743075"/>
            <a:ext cx="11239500" cy="3914775"/>
          </a:xfrm>
          <a:prstGeom prst="rect">
            <a:avLst/>
          </a:prstGeom>
        </p:spPr>
      </p:pic>
      <p:sp>
        <p:nvSpPr>
          <p:cNvPr id="7" name="Text 3"/>
          <p:cNvSpPr/>
          <p:nvPr/>
        </p:nvSpPr>
        <p:spPr>
          <a:xfrm>
            <a:off x="476250" y="1743075"/>
            <a:ext cx="4795001" cy="1204546"/>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Category</a:t>
            </a:r>
            <a:endParaRPr lang="en-US" dirty="0"/>
          </a:p>
        </p:txBody>
      </p:sp>
      <p:sp>
        <p:nvSpPr>
          <p:cNvPr id="8" name="Text 4"/>
          <p:cNvSpPr/>
          <p:nvPr/>
        </p:nvSpPr>
        <p:spPr>
          <a:xfrm>
            <a:off x="5271251" y="1743075"/>
            <a:ext cx="6444499" cy="1204546"/>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Resource Types</a:t>
            </a:r>
            <a:endParaRPr lang="en-US" dirty="0"/>
          </a:p>
        </p:txBody>
      </p:sp>
      <p:sp>
        <p:nvSpPr>
          <p:cNvPr id="9" name="Text 5"/>
          <p:cNvSpPr/>
          <p:nvPr/>
        </p:nvSpPr>
        <p:spPr>
          <a:xfrm>
            <a:off x="476250" y="2947621"/>
            <a:ext cx="4795001" cy="90341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Identity &amp; Organizations</a:t>
            </a:r>
            <a:endParaRPr lang="en-US" dirty="0"/>
          </a:p>
        </p:txBody>
      </p:sp>
      <p:sp>
        <p:nvSpPr>
          <p:cNvPr id="10" name="Text 6"/>
          <p:cNvSpPr/>
          <p:nvPr/>
        </p:nvSpPr>
        <p:spPr>
          <a:xfrm>
            <a:off x="5271251" y="2947621"/>
            <a:ext cx="6444499" cy="90341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Patient, Practitioner, Organization</a:t>
            </a:r>
            <a:endParaRPr lang="en-US" dirty="0"/>
          </a:p>
        </p:txBody>
      </p:sp>
      <p:sp>
        <p:nvSpPr>
          <p:cNvPr id="11" name="Text 7"/>
          <p:cNvSpPr/>
          <p:nvPr/>
        </p:nvSpPr>
        <p:spPr>
          <a:xfrm>
            <a:off x="476250" y="3851031"/>
            <a:ext cx="4795001" cy="90341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Clinical</a:t>
            </a:r>
            <a:endParaRPr lang="en-US" dirty="0"/>
          </a:p>
        </p:txBody>
      </p:sp>
      <p:sp>
        <p:nvSpPr>
          <p:cNvPr id="12" name="Text 8"/>
          <p:cNvSpPr/>
          <p:nvPr/>
        </p:nvSpPr>
        <p:spPr>
          <a:xfrm>
            <a:off x="5271251" y="3851031"/>
            <a:ext cx="6444499" cy="90341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Encounter, Condition, Observation, MedicationRequest, AllergyIntolerance, Immunization, Procedure, DiagnosticReport, CarePlan</a:t>
            </a:r>
            <a:endParaRPr lang="en-US" dirty="0"/>
          </a:p>
        </p:txBody>
      </p:sp>
      <p:sp>
        <p:nvSpPr>
          <p:cNvPr id="13" name="Text 9"/>
          <p:cNvSpPr/>
          <p:nvPr/>
        </p:nvSpPr>
        <p:spPr>
          <a:xfrm>
            <a:off x="476250" y="4754440"/>
            <a:ext cx="4795001" cy="90341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Billing</a:t>
            </a:r>
            <a:endParaRPr lang="en-US" dirty="0"/>
          </a:p>
        </p:txBody>
      </p:sp>
      <p:sp>
        <p:nvSpPr>
          <p:cNvPr id="14" name="Text 10"/>
          <p:cNvSpPr/>
          <p:nvPr/>
        </p:nvSpPr>
        <p:spPr>
          <a:xfrm>
            <a:off x="5271251" y="4754440"/>
            <a:ext cx="6444499" cy="90341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Claim, Coverage, ExplanationOfBenefit</a:t>
            </a:r>
            <a:endParaRPr lang="en-US" dirty="0"/>
          </a:p>
        </p:txBody>
      </p:sp>
      <p:sp>
        <p:nvSpPr>
          <p:cNvPr id="15" name="Shape 11"/>
          <p:cNvSpPr/>
          <p:nvPr/>
        </p:nvSpPr>
        <p:spPr>
          <a:xfrm>
            <a:off x="0" y="6134100"/>
            <a:ext cx="12192000" cy="723900"/>
          </a:xfrm>
          <a:prstGeom prst="rect">
            <a:avLst/>
          </a:prstGeom>
          <a:solidFill>
            <a:srgbClr val="222222"/>
          </a:solidFill>
          <a:ln>
            <a:miter lim="800000"/>
          </a:ln>
        </p:spPr>
        <p:txBody>
          <a:bodyPr/>
          <a:lstStyle/>
          <a:p>
            <a:endParaRPr lang="en-US"/>
          </a:p>
        </p:txBody>
      </p:sp>
      <p:sp>
        <p:nvSpPr>
          <p:cNvPr id="16" name="Text 12"/>
          <p:cNvSpPr/>
          <p:nvPr/>
        </p:nvSpPr>
        <p:spPr>
          <a:xfrm>
            <a:off x="1062038" y="6376690"/>
            <a:ext cx="10067925" cy="241399"/>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Our platform supports 15 essential FHIR R4 resource types to streamline clinical and administrative workflows.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Technology Stack</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Core components and tools powering our infrastructure</a:t>
            </a:r>
            <a:endParaRPr lang="en-US" dirty="0"/>
          </a:p>
        </p:txBody>
      </p:sp>
      <p:sp>
        <p:nvSpPr>
          <p:cNvPr id="4" name="Shape 2"/>
          <p:cNvSpPr/>
          <p:nvPr/>
        </p:nvSpPr>
        <p:spPr>
          <a:xfrm>
            <a:off x="476250" y="1743075"/>
            <a:ext cx="11239500" cy="4638675"/>
          </a:xfrm>
          <a:prstGeom prst="roundRect">
            <a:avLst>
              <a:gd name="adj" fmla="val 1971"/>
            </a:avLst>
          </a:prstGeom>
          <a:solidFill>
            <a:srgbClr val="000000">
              <a:alpha val="0"/>
            </a:srgbClr>
          </a:solidFill>
          <a:ln>
            <a:miter lim="800000"/>
          </a:ln>
        </p:spPr>
        <p:txBody>
          <a:bodyPr/>
          <a:lstStyle/>
          <a:p>
            <a:endParaRPr lang="en-US"/>
          </a:p>
        </p:txBody>
      </p:sp>
      <p:pic>
        <p:nvPicPr>
          <p:cNvPr id="5" name="Image 0" descr="360ba862.png"/>
          <p:cNvPicPr>
            <a:picLocks noChangeAspect="1"/>
          </p:cNvPicPr>
          <p:nvPr/>
        </p:nvPicPr>
        <p:blipFill>
          <a:blip r:embed="rId3"/>
          <a:stretch>
            <a:fillRect/>
          </a:stretch>
        </p:blipFill>
        <p:spPr>
          <a:xfrm>
            <a:off x="476250" y="1743075"/>
            <a:ext cx="11249025" cy="4648200"/>
          </a:xfrm>
          <a:prstGeom prst="rect">
            <a:avLst/>
          </a:prstGeom>
        </p:spPr>
      </p:pic>
      <p:pic>
        <p:nvPicPr>
          <p:cNvPr id="6" name="Image 1" descr="-ac0061e.png"/>
          <p:cNvPicPr>
            <a:picLocks noChangeAspect="1"/>
          </p:cNvPicPr>
          <p:nvPr/>
        </p:nvPicPr>
        <p:blipFill>
          <a:blip r:embed="rId4"/>
          <a:stretch>
            <a:fillRect/>
          </a:stretch>
        </p:blipFill>
        <p:spPr>
          <a:xfrm>
            <a:off x="476250" y="1743075"/>
            <a:ext cx="11239500" cy="4638675"/>
          </a:xfrm>
          <a:prstGeom prst="rect">
            <a:avLst/>
          </a:prstGeom>
        </p:spPr>
      </p:pic>
      <p:sp>
        <p:nvSpPr>
          <p:cNvPr id="7" name="Text 3"/>
          <p:cNvSpPr/>
          <p:nvPr/>
        </p:nvSpPr>
        <p:spPr>
          <a:xfrm>
            <a:off x="476250" y="1743075"/>
            <a:ext cx="4028876" cy="843395"/>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Category</a:t>
            </a:r>
            <a:endParaRPr lang="en-US" dirty="0"/>
          </a:p>
        </p:txBody>
      </p:sp>
      <p:sp>
        <p:nvSpPr>
          <p:cNvPr id="8" name="Text 4"/>
          <p:cNvSpPr/>
          <p:nvPr/>
        </p:nvSpPr>
        <p:spPr>
          <a:xfrm>
            <a:off x="4505126" y="1743075"/>
            <a:ext cx="7210624" cy="843395"/>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Technology / Component</a:t>
            </a:r>
            <a:endParaRPr lang="en-US" dirty="0"/>
          </a:p>
        </p:txBody>
      </p:sp>
      <p:sp>
        <p:nvSpPr>
          <p:cNvPr id="9" name="Text 5"/>
          <p:cNvSpPr/>
          <p:nvPr/>
        </p:nvSpPr>
        <p:spPr>
          <a:xfrm>
            <a:off x="476250" y="2586470"/>
            <a:ext cx="4028876"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Backend</a:t>
            </a:r>
            <a:endParaRPr lang="en-US" dirty="0"/>
          </a:p>
        </p:txBody>
      </p:sp>
      <p:sp>
        <p:nvSpPr>
          <p:cNvPr id="10" name="Text 6"/>
          <p:cNvSpPr/>
          <p:nvPr/>
        </p:nvSpPr>
        <p:spPr>
          <a:xfrm>
            <a:off x="4505126" y="2586470"/>
            <a:ext cx="7210624"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Java 17, Spring Boot 3.2.5, HAPI FHIR 7.2.0</a:t>
            </a:r>
            <a:endParaRPr lang="en-US" dirty="0"/>
          </a:p>
        </p:txBody>
      </p:sp>
      <p:sp>
        <p:nvSpPr>
          <p:cNvPr id="11" name="Text 7"/>
          <p:cNvSpPr/>
          <p:nvPr/>
        </p:nvSpPr>
        <p:spPr>
          <a:xfrm>
            <a:off x="476250" y="3219017"/>
            <a:ext cx="4028876"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Data</a:t>
            </a:r>
            <a:endParaRPr lang="en-US" dirty="0"/>
          </a:p>
        </p:txBody>
      </p:sp>
      <p:sp>
        <p:nvSpPr>
          <p:cNvPr id="12" name="Text 8"/>
          <p:cNvSpPr/>
          <p:nvPr/>
        </p:nvSpPr>
        <p:spPr>
          <a:xfrm>
            <a:off x="4505126" y="3219017"/>
            <a:ext cx="7210624"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MongoDB 7.0</a:t>
            </a:r>
            <a:endParaRPr lang="en-US" dirty="0"/>
          </a:p>
        </p:txBody>
      </p:sp>
      <p:sp>
        <p:nvSpPr>
          <p:cNvPr id="13" name="Text 9"/>
          <p:cNvSpPr/>
          <p:nvPr/>
        </p:nvSpPr>
        <p:spPr>
          <a:xfrm>
            <a:off x="476250" y="3851564"/>
            <a:ext cx="4028876"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Frontend</a:t>
            </a:r>
            <a:endParaRPr lang="en-US" dirty="0"/>
          </a:p>
        </p:txBody>
      </p:sp>
      <p:sp>
        <p:nvSpPr>
          <p:cNvPr id="14" name="Text 10"/>
          <p:cNvSpPr/>
          <p:nvPr/>
        </p:nvSpPr>
        <p:spPr>
          <a:xfrm>
            <a:off x="4505126" y="3851564"/>
            <a:ext cx="7210624"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React 18, TypeScript, Vite 6, Tailwind CSS 4</a:t>
            </a:r>
            <a:endParaRPr lang="en-US" dirty="0"/>
          </a:p>
        </p:txBody>
      </p:sp>
      <p:sp>
        <p:nvSpPr>
          <p:cNvPr id="15" name="Text 11"/>
          <p:cNvSpPr/>
          <p:nvPr/>
        </p:nvSpPr>
        <p:spPr>
          <a:xfrm>
            <a:off x="476250" y="4484110"/>
            <a:ext cx="4028876"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State &amp; API</a:t>
            </a:r>
            <a:endParaRPr lang="en-US" dirty="0"/>
          </a:p>
        </p:txBody>
      </p:sp>
      <p:sp>
        <p:nvSpPr>
          <p:cNvPr id="16" name="Text 12"/>
          <p:cNvSpPr/>
          <p:nvPr/>
        </p:nvSpPr>
        <p:spPr>
          <a:xfrm>
            <a:off x="4505126" y="4484110"/>
            <a:ext cx="7210624"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TanStack Query, Axios</a:t>
            </a:r>
            <a:endParaRPr lang="en-US" dirty="0"/>
          </a:p>
        </p:txBody>
      </p:sp>
      <p:sp>
        <p:nvSpPr>
          <p:cNvPr id="17" name="Text 13"/>
          <p:cNvSpPr/>
          <p:nvPr/>
        </p:nvSpPr>
        <p:spPr>
          <a:xfrm>
            <a:off x="476250" y="5116657"/>
            <a:ext cx="4028876"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Infrastructure</a:t>
            </a:r>
            <a:endParaRPr lang="en-US" dirty="0"/>
          </a:p>
        </p:txBody>
      </p:sp>
      <p:sp>
        <p:nvSpPr>
          <p:cNvPr id="18" name="Text 14"/>
          <p:cNvSpPr/>
          <p:nvPr/>
        </p:nvSpPr>
        <p:spPr>
          <a:xfrm>
            <a:off x="4505126" y="5116657"/>
            <a:ext cx="7210624"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Docker Compose, Caddy 2, GitHub Container Registry</a:t>
            </a:r>
            <a:endParaRPr lang="en-US" dirty="0"/>
          </a:p>
        </p:txBody>
      </p:sp>
      <p:sp>
        <p:nvSpPr>
          <p:cNvPr id="19" name="Text 15"/>
          <p:cNvSpPr/>
          <p:nvPr/>
        </p:nvSpPr>
        <p:spPr>
          <a:xfrm>
            <a:off x="476250" y="5749203"/>
            <a:ext cx="4028876"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Data Generation</a:t>
            </a:r>
            <a:endParaRPr lang="en-US" dirty="0"/>
          </a:p>
        </p:txBody>
      </p:sp>
      <p:sp>
        <p:nvSpPr>
          <p:cNvPr id="20" name="Text 16"/>
          <p:cNvSpPr/>
          <p:nvPr/>
        </p:nvSpPr>
        <p:spPr>
          <a:xfrm>
            <a:off x="4505126" y="5749203"/>
            <a:ext cx="7210624" cy="632547"/>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Synthea (Synthetic Data)</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HAPI Plain Server with MongoDB Architecture</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Leveraging NoSQL for FHIR Resource Persistence</a:t>
            </a:r>
            <a:endParaRPr lang="en-US" dirty="0"/>
          </a:p>
        </p:txBody>
      </p:sp>
      <p:sp>
        <p:nvSpPr>
          <p:cNvPr id="4" name="Shape 2"/>
          <p:cNvSpPr/>
          <p:nvPr/>
        </p:nvSpPr>
        <p:spPr>
          <a:xfrm>
            <a:off x="1095375" y="2419112"/>
            <a:ext cx="714375" cy="714375"/>
          </a:xfrm>
          <a:prstGeom prst="roundRect">
            <a:avLst>
              <a:gd name="adj" fmla="val 12800"/>
            </a:avLst>
          </a:prstGeom>
          <a:solidFill>
            <a:srgbClr val="0F8B8D">
              <a:alpha val="30000"/>
            </a:srgbClr>
          </a:solidFill>
          <a:ln>
            <a:miter lim="800000"/>
          </a:ln>
        </p:spPr>
        <p:txBody>
          <a:bodyPr/>
          <a:lstStyle/>
          <a:p>
            <a:endParaRPr lang="en-US"/>
          </a:p>
        </p:txBody>
      </p:sp>
      <p:pic>
        <p:nvPicPr>
          <p:cNvPr id="5" name="Image 0" descr="-4fd17b9e.png"/>
          <p:cNvPicPr>
            <a:picLocks noChangeAspect="1"/>
          </p:cNvPicPr>
          <p:nvPr/>
        </p:nvPicPr>
        <p:blipFill>
          <a:blip r:embed="rId3"/>
          <a:stretch>
            <a:fillRect/>
          </a:stretch>
        </p:blipFill>
        <p:spPr>
          <a:xfrm>
            <a:off x="1264200" y="2604622"/>
            <a:ext cx="381000" cy="342900"/>
          </a:xfrm>
          <a:prstGeom prst="rect">
            <a:avLst/>
          </a:prstGeom>
        </p:spPr>
      </p:pic>
      <p:sp>
        <p:nvSpPr>
          <p:cNvPr id="6" name="Text 3"/>
          <p:cNvSpPr/>
          <p:nvPr/>
        </p:nvSpPr>
        <p:spPr>
          <a:xfrm>
            <a:off x="2000250" y="2372082"/>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RESTful Framework</a:t>
            </a:r>
            <a:endParaRPr lang="en-US" dirty="0"/>
          </a:p>
        </p:txBody>
      </p:sp>
      <p:sp>
        <p:nvSpPr>
          <p:cNvPr id="7" name="Text 4"/>
          <p:cNvSpPr/>
          <p:nvPr/>
        </p:nvSpPr>
        <p:spPr>
          <a:xfrm>
            <a:off x="2000250" y="2714238"/>
            <a:ext cx="4143375" cy="521196"/>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Handles resource models, routing, and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serialization for FHIR compliance.</a:t>
            </a:r>
            <a:endParaRPr lang="en-US" dirty="0"/>
          </a:p>
        </p:txBody>
      </p:sp>
      <p:sp>
        <p:nvSpPr>
          <p:cNvPr id="8" name="Shape 5"/>
          <p:cNvSpPr/>
          <p:nvPr/>
        </p:nvSpPr>
        <p:spPr>
          <a:xfrm>
            <a:off x="1095375" y="3657362"/>
            <a:ext cx="714375" cy="714375"/>
          </a:xfrm>
          <a:prstGeom prst="roundRect">
            <a:avLst>
              <a:gd name="adj" fmla="val 12800"/>
            </a:avLst>
          </a:prstGeom>
          <a:solidFill>
            <a:srgbClr val="3478B9">
              <a:alpha val="30000"/>
            </a:srgbClr>
          </a:solidFill>
          <a:ln>
            <a:miter lim="800000"/>
          </a:ln>
        </p:spPr>
        <p:txBody>
          <a:bodyPr/>
          <a:lstStyle/>
          <a:p>
            <a:endParaRPr lang="en-US"/>
          </a:p>
        </p:txBody>
      </p:sp>
      <p:pic>
        <p:nvPicPr>
          <p:cNvPr id="9" name="Image 1" descr="37c26762.png"/>
          <p:cNvPicPr>
            <a:picLocks noChangeAspect="1"/>
          </p:cNvPicPr>
          <p:nvPr/>
        </p:nvPicPr>
        <p:blipFill>
          <a:blip r:embed="rId4"/>
          <a:stretch>
            <a:fillRect/>
          </a:stretch>
        </p:blipFill>
        <p:spPr>
          <a:xfrm>
            <a:off x="1272707" y="3842873"/>
            <a:ext cx="361950" cy="352425"/>
          </a:xfrm>
          <a:prstGeom prst="rect">
            <a:avLst/>
          </a:prstGeom>
        </p:spPr>
      </p:pic>
      <p:sp>
        <p:nvSpPr>
          <p:cNvPr id="10" name="Text 6"/>
          <p:cNvSpPr/>
          <p:nvPr/>
        </p:nvSpPr>
        <p:spPr>
          <a:xfrm>
            <a:off x="2000250" y="3610332"/>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Standard Compliance</a:t>
            </a:r>
            <a:endParaRPr lang="en-US" dirty="0"/>
          </a:p>
        </p:txBody>
      </p:sp>
      <p:sp>
        <p:nvSpPr>
          <p:cNvPr id="11" name="Text 7"/>
          <p:cNvSpPr/>
          <p:nvPr/>
        </p:nvSpPr>
        <p:spPr>
          <a:xfrm>
            <a:off x="2000250" y="3952488"/>
            <a:ext cx="4143375" cy="521196"/>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Provides automatic CapabilityStatement</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generation for seamless integration.</a:t>
            </a:r>
            <a:endParaRPr lang="en-US" dirty="0"/>
          </a:p>
        </p:txBody>
      </p:sp>
      <p:sp>
        <p:nvSpPr>
          <p:cNvPr id="12" name="Shape 8"/>
          <p:cNvSpPr/>
          <p:nvPr/>
        </p:nvSpPr>
        <p:spPr>
          <a:xfrm>
            <a:off x="1095375" y="4895612"/>
            <a:ext cx="714375" cy="714375"/>
          </a:xfrm>
          <a:prstGeom prst="roundRect">
            <a:avLst>
              <a:gd name="adj" fmla="val 12800"/>
            </a:avLst>
          </a:prstGeom>
          <a:solidFill>
            <a:srgbClr val="E8EFF5">
              <a:alpha val="30000"/>
            </a:srgbClr>
          </a:solidFill>
          <a:ln>
            <a:miter lim="800000"/>
          </a:ln>
        </p:spPr>
        <p:txBody>
          <a:bodyPr/>
          <a:lstStyle/>
          <a:p>
            <a:endParaRPr lang="en-US"/>
          </a:p>
        </p:txBody>
      </p:sp>
      <p:pic>
        <p:nvPicPr>
          <p:cNvPr id="13" name="Image 2" descr="0245faa2.png"/>
          <p:cNvPicPr>
            <a:picLocks noChangeAspect="1"/>
          </p:cNvPicPr>
          <p:nvPr/>
        </p:nvPicPr>
        <p:blipFill>
          <a:blip r:embed="rId5"/>
          <a:stretch>
            <a:fillRect/>
          </a:stretch>
        </p:blipFill>
        <p:spPr>
          <a:xfrm>
            <a:off x="1297688" y="5118794"/>
            <a:ext cx="304800" cy="276225"/>
          </a:xfrm>
          <a:prstGeom prst="rect">
            <a:avLst/>
          </a:prstGeom>
        </p:spPr>
      </p:pic>
      <p:sp>
        <p:nvSpPr>
          <p:cNvPr id="14" name="Text 9"/>
          <p:cNvSpPr/>
          <p:nvPr/>
        </p:nvSpPr>
        <p:spPr>
          <a:xfrm>
            <a:off x="2000250" y="4848582"/>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Direct Persistence</a:t>
            </a:r>
            <a:endParaRPr lang="en-US" dirty="0"/>
          </a:p>
        </p:txBody>
      </p:sp>
      <p:sp>
        <p:nvSpPr>
          <p:cNvPr id="15" name="Text 10"/>
          <p:cNvSpPr/>
          <p:nvPr/>
        </p:nvSpPr>
        <p:spPr>
          <a:xfrm>
            <a:off x="2000250" y="5190738"/>
            <a:ext cx="4270474" cy="521196"/>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Utilizes custom providers to interface directly</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with MongoDB for optimized storage.</a:t>
            </a:r>
            <a:endParaRPr lang="en-US" dirty="0"/>
          </a:p>
        </p:txBody>
      </p:sp>
      <p:sp>
        <p:nvSpPr>
          <p:cNvPr id="16" name="Shape 11"/>
          <p:cNvSpPr/>
          <p:nvPr/>
        </p:nvSpPr>
        <p:spPr>
          <a:xfrm>
            <a:off x="6334125" y="2419112"/>
            <a:ext cx="714375" cy="714375"/>
          </a:xfrm>
          <a:prstGeom prst="roundRect">
            <a:avLst>
              <a:gd name="adj" fmla="val 12800"/>
            </a:avLst>
          </a:prstGeom>
          <a:solidFill>
            <a:srgbClr val="FF8000">
              <a:alpha val="30000"/>
            </a:srgbClr>
          </a:solidFill>
          <a:ln>
            <a:miter lim="800000"/>
          </a:ln>
        </p:spPr>
        <p:txBody>
          <a:bodyPr/>
          <a:lstStyle/>
          <a:p>
            <a:endParaRPr lang="en-US"/>
          </a:p>
        </p:txBody>
      </p:sp>
      <p:pic>
        <p:nvPicPr>
          <p:cNvPr id="17" name="Image 3" descr="-4613b89e.png"/>
          <p:cNvPicPr>
            <a:picLocks noChangeAspect="1"/>
          </p:cNvPicPr>
          <p:nvPr/>
        </p:nvPicPr>
        <p:blipFill>
          <a:blip r:embed="rId6"/>
          <a:stretch>
            <a:fillRect/>
          </a:stretch>
        </p:blipFill>
        <p:spPr>
          <a:xfrm>
            <a:off x="6553181" y="2621366"/>
            <a:ext cx="295275" cy="314325"/>
          </a:xfrm>
          <a:prstGeom prst="rect">
            <a:avLst/>
          </a:prstGeom>
        </p:spPr>
      </p:pic>
      <p:sp>
        <p:nvSpPr>
          <p:cNvPr id="18" name="Text 12"/>
          <p:cNvSpPr/>
          <p:nvPr/>
        </p:nvSpPr>
        <p:spPr>
          <a:xfrm>
            <a:off x="7239000" y="2372082"/>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Design Strategy</a:t>
            </a:r>
            <a:endParaRPr lang="en-US" dirty="0"/>
          </a:p>
        </p:txBody>
      </p:sp>
      <p:sp>
        <p:nvSpPr>
          <p:cNvPr id="19" name="Text 13"/>
          <p:cNvSpPr/>
          <p:nvPr/>
        </p:nvSpPr>
        <p:spPr>
          <a:xfrm>
            <a:off x="7239000" y="2714238"/>
            <a:ext cx="4143375" cy="521196"/>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Uses HAPI Plain Server for direct</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integration with MongoDB.</a:t>
            </a:r>
            <a:endParaRPr lang="en-US" dirty="0"/>
          </a:p>
        </p:txBody>
      </p:sp>
      <p:sp>
        <p:nvSpPr>
          <p:cNvPr id="20" name="Shape 14"/>
          <p:cNvSpPr/>
          <p:nvPr/>
        </p:nvSpPr>
        <p:spPr>
          <a:xfrm>
            <a:off x="6334125" y="3657362"/>
            <a:ext cx="714375" cy="714375"/>
          </a:xfrm>
          <a:prstGeom prst="roundRect">
            <a:avLst>
              <a:gd name="adj" fmla="val 12800"/>
            </a:avLst>
          </a:prstGeom>
          <a:solidFill>
            <a:srgbClr val="FF797A">
              <a:alpha val="30000"/>
            </a:srgbClr>
          </a:solidFill>
          <a:ln>
            <a:miter lim="800000"/>
          </a:ln>
        </p:spPr>
        <p:txBody>
          <a:bodyPr/>
          <a:lstStyle/>
          <a:p>
            <a:endParaRPr lang="en-US"/>
          </a:p>
        </p:txBody>
      </p:sp>
      <p:pic>
        <p:nvPicPr>
          <p:cNvPr id="21" name="Image 4" descr="-10608d5e.png"/>
          <p:cNvPicPr>
            <a:picLocks noChangeAspect="1"/>
          </p:cNvPicPr>
          <p:nvPr/>
        </p:nvPicPr>
        <p:blipFill>
          <a:blip r:embed="rId7"/>
          <a:stretch>
            <a:fillRect/>
          </a:stretch>
        </p:blipFill>
        <p:spPr>
          <a:xfrm>
            <a:off x="6511311" y="3851244"/>
            <a:ext cx="371475" cy="333375"/>
          </a:xfrm>
          <a:prstGeom prst="rect">
            <a:avLst/>
          </a:prstGeom>
        </p:spPr>
      </p:pic>
      <p:sp>
        <p:nvSpPr>
          <p:cNvPr id="22" name="Text 15"/>
          <p:cNvSpPr/>
          <p:nvPr/>
        </p:nvSpPr>
        <p:spPr>
          <a:xfrm>
            <a:off x="7239000" y="3610332"/>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Key Trade-offs</a:t>
            </a:r>
            <a:endParaRPr lang="en-US" dirty="0"/>
          </a:p>
        </p:txBody>
      </p:sp>
      <p:sp>
        <p:nvSpPr>
          <p:cNvPr id="23" name="Text 16"/>
          <p:cNvSpPr/>
          <p:nvPr/>
        </p:nvSpPr>
        <p:spPr>
          <a:xfrm>
            <a:off x="7239000" y="3952488"/>
            <a:ext cx="4427934" cy="781794"/>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Lacks native HTTP transaction bundle support;</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uses the Java</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BundleImportService for bulk import.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native-1">
            <a:extLst>
              <a:ext uri="{FF2B5EF4-FFF2-40B4-BE49-F238E27FC236}">
                <a16:creationId xmlns:a16="http://schemas.microsoft.com/office/drawing/2014/main" id="{DC6B738F-10AF-4C22-8649-48B494D9CE86}"/>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System architecture</a:t>
            </a:r>
          </a:p>
        </p:txBody>
      </p:sp>
      <p:sp>
        <p:nvSpPr>
          <p:cNvPr id="2" name="native-2">
            <a:extLst>
              <a:ext uri="{FF2B5EF4-FFF2-40B4-BE49-F238E27FC236}">
                <a16:creationId xmlns:a16="http://schemas.microsoft.com/office/drawing/2014/main" id="{3D81E80A-4AB1-4CBC-9B1D-284A50405C83}"/>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Production deployment topology and public entry points</a:t>
            </a:r>
          </a:p>
        </p:txBody>
      </p:sp>
      <p:sp>
        <p:nvSpPr>
          <p:cNvPr id="3" name="native-3">
            <a:extLst>
              <a:ext uri="{FF2B5EF4-FFF2-40B4-BE49-F238E27FC236}">
                <a16:creationId xmlns:a16="http://schemas.microsoft.com/office/drawing/2014/main" id="{84239045-6651-4D89-9D53-713736483B16}"/>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4">
            <a:extLst>
              <a:ext uri="{FF2B5EF4-FFF2-40B4-BE49-F238E27FC236}">
                <a16:creationId xmlns:a16="http://schemas.microsoft.com/office/drawing/2014/main" id="{9C5BD5C7-5DF4-4D78-A81A-B2ABB58B62E2}"/>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86" name="Straight Arrow Connector 85"/>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5">
            <a:extLst>
              <a:ext uri="{FF2B5EF4-FFF2-40B4-BE49-F238E27FC236}">
                <a16:creationId xmlns:a16="http://schemas.microsoft.com/office/drawing/2014/main" id="{95370FEE-76C3-4FF0-BC69-12B800C481EE}"/>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Reference deployment uses HTTP. FHIR API access remains unauthenticated at the HTTP layer.</a:t>
            </a:r>
          </a:p>
        </p:txBody>
      </p:sp>
      <p:sp>
        <p:nvSpPr>
          <p:cNvPr id="7" name="native-6">
            <a:extLst>
              <a:ext uri="{FF2B5EF4-FFF2-40B4-BE49-F238E27FC236}">
                <a16:creationId xmlns:a16="http://schemas.microsoft.com/office/drawing/2014/main" id="{E2BFD999-D1E3-4358-BB01-31AF08BB7804}"/>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07</a:t>
            </a:r>
          </a:p>
        </p:txBody>
      </p:sp>
      <p:sp>
        <p:nvSpPr>
          <p:cNvPr id="8" name="native-7">
            <a:extLst>
              <a:ext uri="{FF2B5EF4-FFF2-40B4-BE49-F238E27FC236}">
                <a16:creationId xmlns:a16="http://schemas.microsoft.com/office/drawing/2014/main" id="{2E0ED60C-56F9-48B8-A2AB-C02359B6EE90}"/>
              </a:ext>
            </a:extLst>
          </p:cNvPr>
          <p:cNvSpPr>
            <a:spLocks noGrp="1"/>
          </p:cNvSpPr>
          <p:nvPr/>
        </p:nvSpPr>
        <p:spPr>
          <a:xfrm>
            <a:off x="3048000" y="1543050"/>
            <a:ext cx="8591550" cy="4391025"/>
          </a:xfrm>
          <a:prstGeom prst="rect">
            <a:avLst/>
          </a:prstGeom>
          <a:noFill/>
          <a:ln w="9525">
            <a:solidFill>
              <a:srgbClr val="B6C6D2"/>
            </a:solidFill>
          </a:ln>
        </p:spPr>
        <p:txBody>
          <a:bodyPr/>
          <a:lstStyle/>
          <a:p>
            <a:endParaRPr lang="en-US"/>
          </a:p>
        </p:txBody>
      </p:sp>
      <p:sp>
        <p:nvSpPr>
          <p:cNvPr id="9" name="native-8">
            <a:extLst>
              <a:ext uri="{FF2B5EF4-FFF2-40B4-BE49-F238E27FC236}">
                <a16:creationId xmlns:a16="http://schemas.microsoft.com/office/drawing/2014/main" id="{1A2E1ACE-BF75-4413-AFD0-1278F69213F5}"/>
              </a:ext>
            </a:extLst>
          </p:cNvPr>
          <p:cNvSpPr>
            <a:spLocks noGrp="1"/>
          </p:cNvSpPr>
          <p:nvPr/>
        </p:nvSpPr>
        <p:spPr>
          <a:xfrm>
            <a:off x="3190875" y="1552575"/>
            <a:ext cx="4095750" cy="266700"/>
          </a:xfrm>
          <a:prstGeom prst="rect">
            <a:avLst/>
          </a:prstGeom>
          <a:noFill/>
          <a:ln w="0">
            <a:noFill/>
          </a:ln>
        </p:spPr>
        <p:txBody>
          <a:bodyPr anchor="ctr">
            <a:noAutofit/>
          </a:bodyPr>
          <a:lstStyle/>
          <a:p>
            <a:pPr algn="l">
              <a:defRPr sz="1350" b="0">
                <a:solidFill>
                  <a:srgbClr val="5D6C79"/>
                </a:solidFill>
                <a:latin typeface="Arial"/>
                <a:ea typeface="Arial"/>
                <a:cs typeface="Arial"/>
              </a:defRPr>
            </a:pPr>
            <a:r>
              <a:rPr sz="1350" b="0">
                <a:solidFill>
                  <a:srgbClr val="5D6C79"/>
                </a:solidFill>
                <a:latin typeface="Arial"/>
                <a:ea typeface="Arial"/>
                <a:cs typeface="Arial"/>
              </a:rPr>
              <a:t>fhir-prod Docker network</a:t>
            </a:r>
          </a:p>
        </p:txBody>
      </p:sp>
      <p:sp>
        <p:nvSpPr>
          <p:cNvPr id="10" name="native-9">
            <a:extLst>
              <a:ext uri="{FF2B5EF4-FFF2-40B4-BE49-F238E27FC236}">
                <a16:creationId xmlns:a16="http://schemas.microsoft.com/office/drawing/2014/main" id="{8C320DAF-5805-4990-85AC-641815FFC44A}"/>
              </a:ext>
            </a:extLst>
          </p:cNvPr>
          <p:cNvSpPr>
            <a:spLocks noGrp="1"/>
          </p:cNvSpPr>
          <p:nvPr/>
        </p:nvSpPr>
        <p:spPr>
          <a:xfrm>
            <a:off x="552450" y="2876550"/>
            <a:ext cx="2047875" cy="923925"/>
          </a:xfrm>
          <a:prstGeom prst="rect">
            <a:avLst/>
          </a:prstGeom>
          <a:solidFill>
            <a:srgbClr val="E2F2F1"/>
          </a:solidFill>
          <a:ln w="9525">
            <a:solidFill>
              <a:srgbClr val="B6C6D2"/>
            </a:solidFill>
          </a:ln>
        </p:spPr>
        <p:txBody>
          <a:bodyPr/>
          <a:lstStyle/>
          <a:p>
            <a:endParaRPr lang="en-US"/>
          </a:p>
        </p:txBody>
      </p:sp>
      <p:sp>
        <p:nvSpPr>
          <p:cNvPr id="11" name="native-10">
            <a:extLst>
              <a:ext uri="{FF2B5EF4-FFF2-40B4-BE49-F238E27FC236}">
                <a16:creationId xmlns:a16="http://schemas.microsoft.com/office/drawing/2014/main" id="{91594537-34EB-4D95-B8F8-C1E6369D8468}"/>
              </a:ext>
            </a:extLst>
          </p:cNvPr>
          <p:cNvSpPr>
            <a:spLocks noGrp="1"/>
          </p:cNvSpPr>
          <p:nvPr/>
        </p:nvSpPr>
        <p:spPr>
          <a:xfrm>
            <a:off x="685800" y="2952750"/>
            <a:ext cx="1781175"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Browser</a:t>
            </a:r>
          </a:p>
        </p:txBody>
      </p:sp>
      <p:sp>
        <p:nvSpPr>
          <p:cNvPr id="12" name="native-11">
            <a:extLst>
              <a:ext uri="{FF2B5EF4-FFF2-40B4-BE49-F238E27FC236}">
                <a16:creationId xmlns:a16="http://schemas.microsoft.com/office/drawing/2014/main" id="{241148C3-7B60-42E1-B4F9-C4401ADABD92}"/>
              </a:ext>
            </a:extLst>
          </p:cNvPr>
          <p:cNvSpPr>
            <a:spLocks noGrp="1"/>
          </p:cNvSpPr>
          <p:nvPr/>
        </p:nvSpPr>
        <p:spPr>
          <a:xfrm>
            <a:off x="685800" y="3286125"/>
            <a:ext cx="1781175" cy="4572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Admin UI or claims demo</a:t>
            </a:r>
          </a:p>
        </p:txBody>
      </p:sp>
      <p:sp>
        <p:nvSpPr>
          <p:cNvPr id="13" name="native-12">
            <a:extLst>
              <a:ext uri="{FF2B5EF4-FFF2-40B4-BE49-F238E27FC236}">
                <a16:creationId xmlns:a16="http://schemas.microsoft.com/office/drawing/2014/main" id="{257D2708-010D-4821-96C7-873AD6D35152}"/>
              </a:ext>
            </a:extLst>
          </p:cNvPr>
          <p:cNvSpPr>
            <a:spLocks noGrp="1"/>
          </p:cNvSpPr>
          <p:nvPr/>
        </p:nvSpPr>
        <p:spPr>
          <a:xfrm>
            <a:off x="3333750" y="2019300"/>
            <a:ext cx="2286000" cy="857250"/>
          </a:xfrm>
          <a:prstGeom prst="rect">
            <a:avLst/>
          </a:prstGeom>
          <a:solidFill>
            <a:srgbClr val="E8EFF5"/>
          </a:solidFill>
          <a:ln w="9525">
            <a:solidFill>
              <a:srgbClr val="B6C6D2"/>
            </a:solidFill>
          </a:ln>
        </p:spPr>
        <p:txBody>
          <a:bodyPr/>
          <a:lstStyle/>
          <a:p>
            <a:endParaRPr lang="en-US"/>
          </a:p>
        </p:txBody>
      </p:sp>
      <p:sp>
        <p:nvSpPr>
          <p:cNvPr id="14" name="native-13">
            <a:extLst>
              <a:ext uri="{FF2B5EF4-FFF2-40B4-BE49-F238E27FC236}">
                <a16:creationId xmlns:a16="http://schemas.microsoft.com/office/drawing/2014/main" id="{1976CE91-AFE9-4E12-A676-0A83A837ED54}"/>
              </a:ext>
            </a:extLst>
          </p:cNvPr>
          <p:cNvSpPr>
            <a:spLocks noGrp="1"/>
          </p:cNvSpPr>
          <p:nvPr/>
        </p:nvSpPr>
        <p:spPr>
          <a:xfrm>
            <a:off x="3467100" y="2095500"/>
            <a:ext cx="20193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Caddy</a:t>
            </a:r>
          </a:p>
        </p:txBody>
      </p:sp>
      <p:sp>
        <p:nvSpPr>
          <p:cNvPr id="15" name="native-14">
            <a:extLst>
              <a:ext uri="{FF2B5EF4-FFF2-40B4-BE49-F238E27FC236}">
                <a16:creationId xmlns:a16="http://schemas.microsoft.com/office/drawing/2014/main" id="{4FFBCDF4-F766-48FD-AF51-15DFA69246A1}"/>
              </a:ext>
            </a:extLst>
          </p:cNvPr>
          <p:cNvSpPr>
            <a:spLocks noGrp="1"/>
          </p:cNvSpPr>
          <p:nvPr/>
        </p:nvSpPr>
        <p:spPr>
          <a:xfrm>
            <a:off x="3467100" y="2428875"/>
            <a:ext cx="2019300" cy="3905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Public :80, reserved :443</a:t>
            </a:r>
          </a:p>
        </p:txBody>
      </p:sp>
      <p:sp>
        <p:nvSpPr>
          <p:cNvPr id="16" name="native-15">
            <a:extLst>
              <a:ext uri="{FF2B5EF4-FFF2-40B4-BE49-F238E27FC236}">
                <a16:creationId xmlns:a16="http://schemas.microsoft.com/office/drawing/2014/main" id="{C19E1E77-022D-42B8-9A71-53CCFE98A11C}"/>
              </a:ext>
            </a:extLst>
          </p:cNvPr>
          <p:cNvSpPr>
            <a:spLocks noGrp="1"/>
          </p:cNvSpPr>
          <p:nvPr/>
        </p:nvSpPr>
        <p:spPr>
          <a:xfrm>
            <a:off x="6191250" y="2019300"/>
            <a:ext cx="2476500" cy="857250"/>
          </a:xfrm>
          <a:prstGeom prst="rect">
            <a:avLst/>
          </a:prstGeom>
          <a:solidFill>
            <a:srgbClr val="E8EFF5"/>
          </a:solidFill>
          <a:ln w="9525">
            <a:solidFill>
              <a:srgbClr val="B6C6D2"/>
            </a:solidFill>
          </a:ln>
        </p:spPr>
        <p:txBody>
          <a:bodyPr/>
          <a:lstStyle/>
          <a:p>
            <a:endParaRPr lang="en-US"/>
          </a:p>
        </p:txBody>
      </p:sp>
      <p:sp>
        <p:nvSpPr>
          <p:cNvPr id="17" name="native-16">
            <a:extLst>
              <a:ext uri="{FF2B5EF4-FFF2-40B4-BE49-F238E27FC236}">
                <a16:creationId xmlns:a16="http://schemas.microsoft.com/office/drawing/2014/main" id="{A929ED08-A01A-41E1-8D85-5E5F80710902}"/>
              </a:ext>
            </a:extLst>
          </p:cNvPr>
          <p:cNvSpPr>
            <a:spLocks noGrp="1"/>
          </p:cNvSpPr>
          <p:nvPr/>
        </p:nvSpPr>
        <p:spPr>
          <a:xfrm>
            <a:off x="6324600" y="2095500"/>
            <a:ext cx="2209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Admin nginx</a:t>
            </a:r>
          </a:p>
        </p:txBody>
      </p:sp>
      <p:sp>
        <p:nvSpPr>
          <p:cNvPr id="18" name="native-17">
            <a:extLst>
              <a:ext uri="{FF2B5EF4-FFF2-40B4-BE49-F238E27FC236}">
                <a16:creationId xmlns:a16="http://schemas.microsoft.com/office/drawing/2014/main" id="{83BF9B72-C3F5-4BA3-AEC6-8D0836F37874}"/>
              </a:ext>
            </a:extLst>
          </p:cNvPr>
          <p:cNvSpPr>
            <a:spLocks noGrp="1"/>
          </p:cNvSpPr>
          <p:nvPr/>
        </p:nvSpPr>
        <p:spPr>
          <a:xfrm>
            <a:off x="6324600" y="2428875"/>
            <a:ext cx="2209800" cy="3905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Serves SPA and proxies API</a:t>
            </a:r>
          </a:p>
        </p:txBody>
      </p:sp>
      <p:sp>
        <p:nvSpPr>
          <p:cNvPr id="19" name="native-18">
            <a:extLst>
              <a:ext uri="{FF2B5EF4-FFF2-40B4-BE49-F238E27FC236}">
                <a16:creationId xmlns:a16="http://schemas.microsoft.com/office/drawing/2014/main" id="{3262C071-DA70-4F39-BF7A-1B5877B07AF6}"/>
              </a:ext>
            </a:extLst>
          </p:cNvPr>
          <p:cNvSpPr>
            <a:spLocks noGrp="1"/>
          </p:cNvSpPr>
          <p:nvPr/>
        </p:nvSpPr>
        <p:spPr>
          <a:xfrm>
            <a:off x="6062464" y="3673831"/>
            <a:ext cx="2476500" cy="857250"/>
          </a:xfrm>
          <a:prstGeom prst="rect">
            <a:avLst/>
          </a:prstGeom>
          <a:solidFill>
            <a:srgbClr val="E2F2F1"/>
          </a:solidFill>
          <a:ln w="9525">
            <a:solidFill>
              <a:srgbClr val="B6C6D2"/>
            </a:solidFill>
          </a:ln>
        </p:spPr>
        <p:txBody>
          <a:bodyPr/>
          <a:lstStyle/>
          <a:p>
            <a:endParaRPr lang="en-US"/>
          </a:p>
        </p:txBody>
      </p:sp>
      <p:sp>
        <p:nvSpPr>
          <p:cNvPr id="20" name="native-19">
            <a:extLst>
              <a:ext uri="{FF2B5EF4-FFF2-40B4-BE49-F238E27FC236}">
                <a16:creationId xmlns:a16="http://schemas.microsoft.com/office/drawing/2014/main" id="{0EAA4F21-81A3-4E23-A66C-4A8AE3E619F6}"/>
              </a:ext>
            </a:extLst>
          </p:cNvPr>
          <p:cNvSpPr>
            <a:spLocks noGrp="1"/>
          </p:cNvSpPr>
          <p:nvPr/>
        </p:nvSpPr>
        <p:spPr>
          <a:xfrm>
            <a:off x="6324600" y="3724275"/>
            <a:ext cx="2209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Demo nginx</a:t>
            </a:r>
          </a:p>
        </p:txBody>
      </p:sp>
      <p:sp>
        <p:nvSpPr>
          <p:cNvPr id="21" name="native-20">
            <a:extLst>
              <a:ext uri="{FF2B5EF4-FFF2-40B4-BE49-F238E27FC236}">
                <a16:creationId xmlns:a16="http://schemas.microsoft.com/office/drawing/2014/main" id="{909BECEF-E1D8-470B-A995-5138DAF97A27}"/>
              </a:ext>
            </a:extLst>
          </p:cNvPr>
          <p:cNvSpPr>
            <a:spLocks noGrp="1"/>
          </p:cNvSpPr>
          <p:nvPr/>
        </p:nvSpPr>
        <p:spPr>
          <a:xfrm>
            <a:off x="6324600" y="4057650"/>
            <a:ext cx="2209800" cy="3905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Public :5175, proxies API</a:t>
            </a:r>
          </a:p>
        </p:txBody>
      </p:sp>
      <p:sp>
        <p:nvSpPr>
          <p:cNvPr id="22" name="native-21">
            <a:extLst>
              <a:ext uri="{FF2B5EF4-FFF2-40B4-BE49-F238E27FC236}">
                <a16:creationId xmlns:a16="http://schemas.microsoft.com/office/drawing/2014/main" id="{C95913BF-882C-41AC-97EC-6484C1DA384E}"/>
              </a:ext>
            </a:extLst>
          </p:cNvPr>
          <p:cNvSpPr>
            <a:spLocks noGrp="1"/>
          </p:cNvSpPr>
          <p:nvPr/>
        </p:nvSpPr>
        <p:spPr>
          <a:xfrm>
            <a:off x="9048750" y="2857500"/>
            <a:ext cx="2286000" cy="1009650"/>
          </a:xfrm>
          <a:prstGeom prst="rect">
            <a:avLst/>
          </a:prstGeom>
          <a:solidFill>
            <a:srgbClr val="E8EFF5"/>
          </a:solidFill>
          <a:ln w="9525">
            <a:solidFill>
              <a:srgbClr val="B6C6D2"/>
            </a:solidFill>
          </a:ln>
        </p:spPr>
        <p:txBody>
          <a:bodyPr/>
          <a:lstStyle/>
          <a:p>
            <a:endParaRPr lang="en-US"/>
          </a:p>
        </p:txBody>
      </p:sp>
      <p:sp>
        <p:nvSpPr>
          <p:cNvPr id="23" name="native-22">
            <a:extLst>
              <a:ext uri="{FF2B5EF4-FFF2-40B4-BE49-F238E27FC236}">
                <a16:creationId xmlns:a16="http://schemas.microsoft.com/office/drawing/2014/main" id="{7B68D29B-EB68-49BC-9590-FF4C213F4F29}"/>
              </a:ext>
            </a:extLst>
          </p:cNvPr>
          <p:cNvSpPr>
            <a:spLocks noGrp="1"/>
          </p:cNvSpPr>
          <p:nvPr/>
        </p:nvSpPr>
        <p:spPr>
          <a:xfrm>
            <a:off x="9182100" y="2933700"/>
            <a:ext cx="20193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FHIR server</a:t>
            </a:r>
          </a:p>
        </p:txBody>
      </p:sp>
      <p:sp>
        <p:nvSpPr>
          <p:cNvPr id="24" name="native-23">
            <a:extLst>
              <a:ext uri="{FF2B5EF4-FFF2-40B4-BE49-F238E27FC236}">
                <a16:creationId xmlns:a16="http://schemas.microsoft.com/office/drawing/2014/main" id="{D0911ED5-612F-48B9-B9E2-47FD19AA9DAB}"/>
              </a:ext>
            </a:extLst>
          </p:cNvPr>
          <p:cNvSpPr>
            <a:spLocks noGrp="1"/>
          </p:cNvSpPr>
          <p:nvPr/>
        </p:nvSpPr>
        <p:spPr>
          <a:xfrm>
            <a:off x="9182100" y="3267075"/>
            <a:ext cx="2019300" cy="5429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Spring Boot :8080</a:t>
            </a:r>
          </a:p>
          <a:p>
            <a:pPr algn="l">
              <a:defRPr sz="1425" b="0">
                <a:solidFill>
                  <a:srgbClr val="5D6C79"/>
                </a:solidFill>
                <a:latin typeface="Arial"/>
                <a:ea typeface="Arial"/>
                <a:cs typeface="Arial"/>
              </a:defRPr>
            </a:pPr>
            <a:r>
              <a:rPr sz="1425" b="0">
                <a:solidFill>
                  <a:srgbClr val="5D6C79"/>
                </a:solidFill>
                <a:latin typeface="Arial"/>
                <a:ea typeface="Arial"/>
                <a:cs typeface="Arial"/>
              </a:rPr>
              <a:t>Internal service</a:t>
            </a:r>
          </a:p>
        </p:txBody>
      </p:sp>
      <p:sp>
        <p:nvSpPr>
          <p:cNvPr id="25" name="native-24">
            <a:extLst>
              <a:ext uri="{FF2B5EF4-FFF2-40B4-BE49-F238E27FC236}">
                <a16:creationId xmlns:a16="http://schemas.microsoft.com/office/drawing/2014/main" id="{B5C4078F-405D-4B50-BDE2-A4D5D48EB93B}"/>
              </a:ext>
            </a:extLst>
          </p:cNvPr>
          <p:cNvSpPr>
            <a:spLocks noGrp="1"/>
          </p:cNvSpPr>
          <p:nvPr/>
        </p:nvSpPr>
        <p:spPr>
          <a:xfrm>
            <a:off x="9048750" y="4857750"/>
            <a:ext cx="2286000" cy="933450"/>
          </a:xfrm>
          <a:prstGeom prst="rect">
            <a:avLst/>
          </a:prstGeom>
          <a:solidFill>
            <a:srgbClr val="E8EFF5"/>
          </a:solidFill>
          <a:ln w="9525">
            <a:solidFill>
              <a:srgbClr val="B6C6D2"/>
            </a:solidFill>
          </a:ln>
        </p:spPr>
        <p:txBody>
          <a:bodyPr/>
          <a:lstStyle/>
          <a:p>
            <a:endParaRPr lang="en-US"/>
          </a:p>
        </p:txBody>
      </p:sp>
      <p:sp>
        <p:nvSpPr>
          <p:cNvPr id="26" name="native-25">
            <a:extLst>
              <a:ext uri="{FF2B5EF4-FFF2-40B4-BE49-F238E27FC236}">
                <a16:creationId xmlns:a16="http://schemas.microsoft.com/office/drawing/2014/main" id="{EFF89B9F-AA93-48B0-A289-9FCDCF6AD010}"/>
              </a:ext>
            </a:extLst>
          </p:cNvPr>
          <p:cNvSpPr>
            <a:spLocks noGrp="1"/>
          </p:cNvSpPr>
          <p:nvPr/>
        </p:nvSpPr>
        <p:spPr>
          <a:xfrm>
            <a:off x="9182100" y="4933950"/>
            <a:ext cx="20193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MongoDB 7</a:t>
            </a:r>
          </a:p>
        </p:txBody>
      </p:sp>
      <p:sp>
        <p:nvSpPr>
          <p:cNvPr id="27" name="native-26">
            <a:extLst>
              <a:ext uri="{FF2B5EF4-FFF2-40B4-BE49-F238E27FC236}">
                <a16:creationId xmlns:a16="http://schemas.microsoft.com/office/drawing/2014/main" id="{B16E3623-D6FA-4A54-9448-70E2D214F83F}"/>
              </a:ext>
            </a:extLst>
          </p:cNvPr>
          <p:cNvSpPr>
            <a:spLocks noGrp="1"/>
          </p:cNvSpPr>
          <p:nvPr/>
        </p:nvSpPr>
        <p:spPr>
          <a:xfrm>
            <a:off x="9182100" y="5267325"/>
            <a:ext cx="2019300" cy="4667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Authenticated storage</a:t>
            </a:r>
          </a:p>
          <a:p>
            <a:pPr algn="l">
              <a:defRPr sz="1425" b="0">
                <a:solidFill>
                  <a:srgbClr val="5D6C79"/>
                </a:solidFill>
                <a:latin typeface="Arial"/>
                <a:ea typeface="Arial"/>
                <a:cs typeface="Arial"/>
              </a:defRPr>
            </a:pPr>
            <a:r>
              <a:rPr sz="1425" b="0">
                <a:solidFill>
                  <a:srgbClr val="5D6C79"/>
                </a:solidFill>
                <a:latin typeface="Arial"/>
                <a:ea typeface="Arial"/>
                <a:cs typeface="Arial"/>
              </a:rPr>
              <a:t>Host bind: 127.0.0.1</a:t>
            </a:r>
          </a:p>
        </p:txBody>
      </p:sp>
      <p:sp>
        <p:nvSpPr>
          <p:cNvPr id="28" name="native-27">
            <a:extLst>
              <a:ext uri="{FF2B5EF4-FFF2-40B4-BE49-F238E27FC236}">
                <a16:creationId xmlns:a16="http://schemas.microsoft.com/office/drawing/2014/main" id="{DC4AD082-1871-4232-A9A3-B855717789C6}"/>
              </a:ext>
            </a:extLst>
          </p:cNvPr>
          <p:cNvSpPr>
            <a:spLocks noGrp="1"/>
          </p:cNvSpPr>
          <p:nvPr/>
        </p:nvSpPr>
        <p:spPr>
          <a:xfrm>
            <a:off x="6007695" y="4857750"/>
            <a:ext cx="2476500" cy="933450"/>
          </a:xfrm>
          <a:prstGeom prst="rect">
            <a:avLst/>
          </a:prstGeom>
          <a:solidFill>
            <a:srgbClr val="E8EFF5"/>
          </a:solidFill>
          <a:ln w="9525">
            <a:solidFill>
              <a:srgbClr val="B6C6D2"/>
            </a:solidFill>
          </a:ln>
        </p:spPr>
        <p:txBody>
          <a:bodyPr/>
          <a:lstStyle/>
          <a:p>
            <a:endParaRPr lang="en-US"/>
          </a:p>
        </p:txBody>
      </p:sp>
      <p:sp>
        <p:nvSpPr>
          <p:cNvPr id="29" name="native-28">
            <a:extLst>
              <a:ext uri="{FF2B5EF4-FFF2-40B4-BE49-F238E27FC236}">
                <a16:creationId xmlns:a16="http://schemas.microsoft.com/office/drawing/2014/main" id="{0BCDB5AC-8F9D-4ED7-9826-2209B20EF5C1}"/>
              </a:ext>
            </a:extLst>
          </p:cNvPr>
          <p:cNvSpPr>
            <a:spLocks noGrp="1"/>
          </p:cNvSpPr>
          <p:nvPr/>
        </p:nvSpPr>
        <p:spPr>
          <a:xfrm>
            <a:off x="6324600" y="4933950"/>
            <a:ext cx="2209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Backup sidecar</a:t>
            </a:r>
          </a:p>
        </p:txBody>
      </p:sp>
      <p:sp>
        <p:nvSpPr>
          <p:cNvPr id="30" name="native-29">
            <a:extLst>
              <a:ext uri="{FF2B5EF4-FFF2-40B4-BE49-F238E27FC236}">
                <a16:creationId xmlns:a16="http://schemas.microsoft.com/office/drawing/2014/main" id="{9CECE654-5C68-4E59-AE48-0AA65DE01342}"/>
              </a:ext>
            </a:extLst>
          </p:cNvPr>
          <p:cNvSpPr>
            <a:spLocks noGrp="1"/>
          </p:cNvSpPr>
          <p:nvPr/>
        </p:nvSpPr>
        <p:spPr>
          <a:xfrm>
            <a:off x="6324600" y="5267325"/>
            <a:ext cx="2209800" cy="4667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Daily mongodump</a:t>
            </a:r>
          </a:p>
        </p:txBody>
      </p:sp>
      <p:sp>
        <p:nvSpPr>
          <p:cNvPr id="31" name="native-30">
            <a:extLst>
              <a:ext uri="{FF2B5EF4-FFF2-40B4-BE49-F238E27FC236}">
                <a16:creationId xmlns:a16="http://schemas.microsoft.com/office/drawing/2014/main" id="{4D754F0B-4370-41DE-B4EC-7DC02D0C96AA}"/>
              </a:ext>
            </a:extLst>
          </p:cNvPr>
          <p:cNvSpPr>
            <a:spLocks noGrp="1"/>
          </p:cNvSpPr>
          <p:nvPr/>
        </p:nvSpPr>
        <p:spPr>
          <a:xfrm>
            <a:off x="2595563" y="3119438"/>
            <a:ext cx="9525" cy="9525"/>
          </a:xfrm>
          <a:prstGeom prst="rect">
            <a:avLst/>
          </a:prstGeom>
          <a:noFill/>
          <a:ln w="0">
            <a:noFill/>
          </a:ln>
        </p:spPr>
        <p:txBody>
          <a:bodyPr/>
          <a:lstStyle/>
          <a:p>
            <a:endParaRPr lang="en-US"/>
          </a:p>
        </p:txBody>
      </p:sp>
      <p:sp>
        <p:nvSpPr>
          <p:cNvPr id="32" name="native-31">
            <a:extLst>
              <a:ext uri="{FF2B5EF4-FFF2-40B4-BE49-F238E27FC236}">
                <a16:creationId xmlns:a16="http://schemas.microsoft.com/office/drawing/2014/main" id="{96B953C0-59C0-4FC1-B839-CA60F2C6B030}"/>
              </a:ext>
            </a:extLst>
          </p:cNvPr>
          <p:cNvSpPr>
            <a:spLocks noGrp="1"/>
          </p:cNvSpPr>
          <p:nvPr/>
        </p:nvSpPr>
        <p:spPr>
          <a:xfrm>
            <a:off x="2919413" y="3119438"/>
            <a:ext cx="9525" cy="9525"/>
          </a:xfrm>
          <a:prstGeom prst="rect">
            <a:avLst/>
          </a:prstGeom>
          <a:noFill/>
          <a:ln w="0">
            <a:noFill/>
          </a:ln>
        </p:spPr>
        <p:txBody>
          <a:bodyPr/>
          <a:lstStyle/>
          <a:p>
            <a:endParaRPr lang="en-US"/>
          </a:p>
        </p:txBody>
      </p:sp>
      <p:cxnSp>
        <p:nvCxnSpPr>
          <p:cNvPr id="114" name="Straight Arrow Connector 113"/>
          <p:cNvCxnSpPr>
            <a:stCxn id="31" idx="3"/>
            <a:endCxn id="32" idx="1"/>
          </p:cNvCxnSpPr>
          <p:nvPr/>
        </p:nvCxnSpPr>
        <p:spPr>
          <a:xfrm>
            <a:off x="2605088" y="3124201"/>
            <a:ext cx="314325" cy="0"/>
          </a:xfrm>
          <a:prstGeom prst="straightConnector1">
            <a:avLst/>
          </a:prstGeom>
          <a:ln w="19050">
            <a:solidFill>
              <a:srgbClr val="0F8B8D"/>
            </a:solidFill>
            <a:prstDash val="solid"/>
          </a:ln>
        </p:spPr>
      </p:cxnSp>
      <p:sp>
        <p:nvSpPr>
          <p:cNvPr id="34" name="native-32">
            <a:extLst>
              <a:ext uri="{FF2B5EF4-FFF2-40B4-BE49-F238E27FC236}">
                <a16:creationId xmlns:a16="http://schemas.microsoft.com/office/drawing/2014/main" id="{486A0CB7-C628-4B68-8536-652F6E5BB8F4}"/>
              </a:ext>
            </a:extLst>
          </p:cNvPr>
          <p:cNvSpPr>
            <a:spLocks noGrp="1"/>
          </p:cNvSpPr>
          <p:nvPr/>
        </p:nvSpPr>
        <p:spPr>
          <a:xfrm>
            <a:off x="2919413" y="3119438"/>
            <a:ext cx="9525" cy="9525"/>
          </a:xfrm>
          <a:prstGeom prst="rect">
            <a:avLst/>
          </a:prstGeom>
          <a:noFill/>
          <a:ln w="0">
            <a:noFill/>
          </a:ln>
        </p:spPr>
        <p:txBody>
          <a:bodyPr/>
          <a:lstStyle/>
          <a:p>
            <a:endParaRPr lang="en-US"/>
          </a:p>
        </p:txBody>
      </p:sp>
      <p:sp>
        <p:nvSpPr>
          <p:cNvPr id="35" name="native-33">
            <a:extLst>
              <a:ext uri="{FF2B5EF4-FFF2-40B4-BE49-F238E27FC236}">
                <a16:creationId xmlns:a16="http://schemas.microsoft.com/office/drawing/2014/main" id="{962D5C2B-B64F-4A80-9718-604CB8BF7AE7}"/>
              </a:ext>
            </a:extLst>
          </p:cNvPr>
          <p:cNvSpPr>
            <a:spLocks noGrp="1"/>
          </p:cNvSpPr>
          <p:nvPr/>
        </p:nvSpPr>
        <p:spPr>
          <a:xfrm>
            <a:off x="2919413" y="2452688"/>
            <a:ext cx="9525" cy="9525"/>
          </a:xfrm>
          <a:prstGeom prst="rect">
            <a:avLst/>
          </a:prstGeom>
          <a:noFill/>
          <a:ln w="0">
            <a:noFill/>
          </a:ln>
        </p:spPr>
        <p:txBody>
          <a:bodyPr/>
          <a:lstStyle/>
          <a:p>
            <a:endParaRPr lang="en-US"/>
          </a:p>
        </p:txBody>
      </p:sp>
      <p:cxnSp>
        <p:nvCxnSpPr>
          <p:cNvPr id="117" name="Straight Arrow Connector 116"/>
          <p:cNvCxnSpPr>
            <a:stCxn id="34" idx="3"/>
            <a:endCxn id="35" idx="1"/>
          </p:cNvCxnSpPr>
          <p:nvPr/>
        </p:nvCxnSpPr>
        <p:spPr>
          <a:xfrm flipH="1" flipV="1">
            <a:off x="2919413" y="2457451"/>
            <a:ext cx="9525" cy="666750"/>
          </a:xfrm>
          <a:prstGeom prst="straightConnector1">
            <a:avLst/>
          </a:prstGeom>
          <a:ln w="19050">
            <a:solidFill>
              <a:srgbClr val="0F8B8D"/>
            </a:solidFill>
            <a:prstDash val="solid"/>
          </a:ln>
        </p:spPr>
      </p:cxnSp>
      <p:sp>
        <p:nvSpPr>
          <p:cNvPr id="37" name="native-34">
            <a:extLst>
              <a:ext uri="{FF2B5EF4-FFF2-40B4-BE49-F238E27FC236}">
                <a16:creationId xmlns:a16="http://schemas.microsoft.com/office/drawing/2014/main" id="{80E274C8-2B27-46C4-BA84-9E3D412C3F17}"/>
              </a:ext>
            </a:extLst>
          </p:cNvPr>
          <p:cNvSpPr>
            <a:spLocks noGrp="1"/>
          </p:cNvSpPr>
          <p:nvPr/>
        </p:nvSpPr>
        <p:spPr>
          <a:xfrm>
            <a:off x="2919413" y="2452688"/>
            <a:ext cx="9525" cy="9525"/>
          </a:xfrm>
          <a:prstGeom prst="rect">
            <a:avLst/>
          </a:prstGeom>
          <a:noFill/>
          <a:ln w="0">
            <a:noFill/>
          </a:ln>
        </p:spPr>
        <p:txBody>
          <a:bodyPr/>
          <a:lstStyle/>
          <a:p>
            <a:endParaRPr lang="en-US"/>
          </a:p>
        </p:txBody>
      </p:sp>
      <p:sp>
        <p:nvSpPr>
          <p:cNvPr id="38" name="native-35">
            <a:extLst>
              <a:ext uri="{FF2B5EF4-FFF2-40B4-BE49-F238E27FC236}">
                <a16:creationId xmlns:a16="http://schemas.microsoft.com/office/drawing/2014/main" id="{457C3D0E-A334-4CA7-BA69-992DA7AD4BAF}"/>
              </a:ext>
            </a:extLst>
          </p:cNvPr>
          <p:cNvSpPr>
            <a:spLocks noGrp="1"/>
          </p:cNvSpPr>
          <p:nvPr/>
        </p:nvSpPr>
        <p:spPr>
          <a:xfrm>
            <a:off x="3328988" y="2452688"/>
            <a:ext cx="9525" cy="9525"/>
          </a:xfrm>
          <a:prstGeom prst="rect">
            <a:avLst/>
          </a:prstGeom>
          <a:noFill/>
          <a:ln w="0">
            <a:noFill/>
          </a:ln>
        </p:spPr>
        <p:txBody>
          <a:bodyPr/>
          <a:lstStyle/>
          <a:p>
            <a:endParaRPr lang="en-US"/>
          </a:p>
        </p:txBody>
      </p:sp>
      <p:cxnSp>
        <p:nvCxnSpPr>
          <p:cNvPr id="120" name="Straight Arrow Connector 119"/>
          <p:cNvCxnSpPr>
            <a:stCxn id="37" idx="3"/>
            <a:endCxn id="38" idx="1"/>
          </p:cNvCxnSpPr>
          <p:nvPr/>
        </p:nvCxnSpPr>
        <p:spPr>
          <a:xfrm>
            <a:off x="2928938" y="2457451"/>
            <a:ext cx="400050" cy="0"/>
          </a:xfrm>
          <a:prstGeom prst="straightConnector1">
            <a:avLst/>
          </a:prstGeom>
          <a:ln w="19050">
            <a:solidFill>
              <a:srgbClr val="0F8B8D"/>
            </a:solidFill>
            <a:prstDash val="solid"/>
            <a:tailEnd type="triangle" w="med" len="med"/>
          </a:ln>
        </p:spPr>
      </p:cxnSp>
      <p:sp>
        <p:nvSpPr>
          <p:cNvPr id="40" name="native-36">
            <a:extLst>
              <a:ext uri="{FF2B5EF4-FFF2-40B4-BE49-F238E27FC236}">
                <a16:creationId xmlns:a16="http://schemas.microsoft.com/office/drawing/2014/main" id="{AFAF4D2C-C625-4739-9BE3-01D09A4DBBE4}"/>
              </a:ext>
            </a:extLst>
          </p:cNvPr>
          <p:cNvSpPr>
            <a:spLocks noGrp="1"/>
          </p:cNvSpPr>
          <p:nvPr/>
        </p:nvSpPr>
        <p:spPr>
          <a:xfrm>
            <a:off x="2647950" y="2066925"/>
            <a:ext cx="685800" cy="238125"/>
          </a:xfrm>
          <a:prstGeom prst="rect">
            <a:avLst/>
          </a:prstGeom>
          <a:solidFill>
            <a:srgbClr val="FFFFFF"/>
          </a:solidFill>
          <a:ln w="0">
            <a:noFill/>
          </a:ln>
        </p:spPr>
        <p:txBody>
          <a:bodyPr anchor="ctr">
            <a:noAutofit/>
          </a:bodyPr>
          <a:lstStyle/>
          <a:p>
            <a:pPr algn="ctr">
              <a:defRPr sz="1425" b="0">
                <a:solidFill>
                  <a:srgbClr val="5D6C79"/>
                </a:solidFill>
                <a:latin typeface="Arial"/>
                <a:ea typeface="Arial"/>
                <a:cs typeface="Arial"/>
              </a:defRPr>
            </a:pPr>
            <a:r>
              <a:rPr sz="1425" b="0">
                <a:solidFill>
                  <a:srgbClr val="5D6C79"/>
                </a:solidFill>
                <a:latin typeface="Arial"/>
                <a:ea typeface="Arial"/>
                <a:cs typeface="Arial"/>
              </a:rPr>
              <a:t>:80</a:t>
            </a:r>
          </a:p>
        </p:txBody>
      </p:sp>
      <p:sp>
        <p:nvSpPr>
          <p:cNvPr id="41" name="native-37">
            <a:extLst>
              <a:ext uri="{FF2B5EF4-FFF2-40B4-BE49-F238E27FC236}">
                <a16:creationId xmlns:a16="http://schemas.microsoft.com/office/drawing/2014/main" id="{B55C3D3E-BF9B-4FE8-A58A-54E42B90E585}"/>
              </a:ext>
            </a:extLst>
          </p:cNvPr>
          <p:cNvSpPr>
            <a:spLocks noGrp="1"/>
          </p:cNvSpPr>
          <p:nvPr/>
        </p:nvSpPr>
        <p:spPr>
          <a:xfrm>
            <a:off x="5614988" y="2452688"/>
            <a:ext cx="9525" cy="9525"/>
          </a:xfrm>
          <a:prstGeom prst="rect">
            <a:avLst/>
          </a:prstGeom>
          <a:noFill/>
          <a:ln w="0">
            <a:noFill/>
          </a:ln>
        </p:spPr>
        <p:txBody>
          <a:bodyPr/>
          <a:lstStyle/>
          <a:p>
            <a:endParaRPr lang="en-US"/>
          </a:p>
        </p:txBody>
      </p:sp>
      <p:sp>
        <p:nvSpPr>
          <p:cNvPr id="42" name="native-38">
            <a:extLst>
              <a:ext uri="{FF2B5EF4-FFF2-40B4-BE49-F238E27FC236}">
                <a16:creationId xmlns:a16="http://schemas.microsoft.com/office/drawing/2014/main" id="{481B5927-57EE-45CD-9045-BAF9D0B1379F}"/>
              </a:ext>
            </a:extLst>
          </p:cNvPr>
          <p:cNvSpPr>
            <a:spLocks noGrp="1"/>
          </p:cNvSpPr>
          <p:nvPr/>
        </p:nvSpPr>
        <p:spPr>
          <a:xfrm>
            <a:off x="6186488" y="2452688"/>
            <a:ext cx="9525" cy="9525"/>
          </a:xfrm>
          <a:prstGeom prst="rect">
            <a:avLst/>
          </a:prstGeom>
          <a:noFill/>
          <a:ln w="0">
            <a:noFill/>
          </a:ln>
        </p:spPr>
        <p:txBody>
          <a:bodyPr/>
          <a:lstStyle/>
          <a:p>
            <a:endParaRPr lang="en-US"/>
          </a:p>
        </p:txBody>
      </p:sp>
      <p:cxnSp>
        <p:nvCxnSpPr>
          <p:cNvPr id="124" name="Straight Arrow Connector 123"/>
          <p:cNvCxnSpPr>
            <a:stCxn id="41" idx="3"/>
            <a:endCxn id="42" idx="1"/>
          </p:cNvCxnSpPr>
          <p:nvPr/>
        </p:nvCxnSpPr>
        <p:spPr>
          <a:xfrm>
            <a:off x="5624513" y="2457451"/>
            <a:ext cx="561975" cy="0"/>
          </a:xfrm>
          <a:prstGeom prst="straightConnector1">
            <a:avLst/>
          </a:prstGeom>
          <a:ln w="19050">
            <a:solidFill>
              <a:srgbClr val="0F8B8D"/>
            </a:solidFill>
            <a:prstDash val="solid"/>
            <a:tailEnd type="triangle" w="med" len="med"/>
          </a:ln>
        </p:spPr>
      </p:cxnSp>
      <p:sp>
        <p:nvSpPr>
          <p:cNvPr id="44" name="native-39">
            <a:extLst>
              <a:ext uri="{FF2B5EF4-FFF2-40B4-BE49-F238E27FC236}">
                <a16:creationId xmlns:a16="http://schemas.microsoft.com/office/drawing/2014/main" id="{10B26F2C-7DED-42AE-9222-7E0365C6CBB0}"/>
              </a:ext>
            </a:extLst>
          </p:cNvPr>
          <p:cNvSpPr>
            <a:spLocks noGrp="1"/>
          </p:cNvSpPr>
          <p:nvPr/>
        </p:nvSpPr>
        <p:spPr>
          <a:xfrm>
            <a:off x="5543550" y="2076450"/>
            <a:ext cx="762000" cy="238125"/>
          </a:xfrm>
          <a:prstGeom prst="rect">
            <a:avLst/>
          </a:prstGeom>
          <a:solidFill>
            <a:srgbClr val="FFFFFF"/>
          </a:solidFill>
          <a:ln w="0">
            <a:noFill/>
          </a:ln>
        </p:spPr>
        <p:txBody>
          <a:bodyPr anchor="ctr">
            <a:noAutofit/>
          </a:bodyPr>
          <a:lstStyle/>
          <a:p>
            <a:pPr algn="ctr">
              <a:defRPr sz="1275" b="0">
                <a:solidFill>
                  <a:srgbClr val="5D6C79"/>
                </a:solidFill>
                <a:latin typeface="Arial"/>
                <a:ea typeface="Arial"/>
                <a:cs typeface="Arial"/>
              </a:defRPr>
            </a:pPr>
            <a:r>
              <a:rPr sz="1000" b="0" dirty="0">
                <a:solidFill>
                  <a:srgbClr val="5D6C79"/>
                </a:solidFill>
                <a:latin typeface="Arial"/>
                <a:ea typeface="Arial"/>
                <a:cs typeface="Arial"/>
              </a:rPr>
              <a:t>proxy</a:t>
            </a:r>
          </a:p>
        </p:txBody>
      </p:sp>
      <p:sp>
        <p:nvSpPr>
          <p:cNvPr id="45" name="native-40">
            <a:extLst>
              <a:ext uri="{FF2B5EF4-FFF2-40B4-BE49-F238E27FC236}">
                <a16:creationId xmlns:a16="http://schemas.microsoft.com/office/drawing/2014/main" id="{8507AC99-8E4C-4F1C-A2AE-C404DFA2D8C1}"/>
              </a:ext>
            </a:extLst>
          </p:cNvPr>
          <p:cNvSpPr>
            <a:spLocks noGrp="1"/>
          </p:cNvSpPr>
          <p:nvPr/>
        </p:nvSpPr>
        <p:spPr>
          <a:xfrm>
            <a:off x="2595563" y="3567113"/>
            <a:ext cx="9525" cy="9525"/>
          </a:xfrm>
          <a:prstGeom prst="rect">
            <a:avLst/>
          </a:prstGeom>
          <a:noFill/>
          <a:ln w="0">
            <a:noFill/>
          </a:ln>
        </p:spPr>
        <p:txBody>
          <a:bodyPr/>
          <a:lstStyle/>
          <a:p>
            <a:endParaRPr lang="en-US"/>
          </a:p>
        </p:txBody>
      </p:sp>
      <p:sp>
        <p:nvSpPr>
          <p:cNvPr id="46" name="native-41">
            <a:extLst>
              <a:ext uri="{FF2B5EF4-FFF2-40B4-BE49-F238E27FC236}">
                <a16:creationId xmlns:a16="http://schemas.microsoft.com/office/drawing/2014/main" id="{1A1C8743-7B1C-45D5-920F-17EBA2F86F67}"/>
              </a:ext>
            </a:extLst>
          </p:cNvPr>
          <p:cNvSpPr>
            <a:spLocks noGrp="1"/>
          </p:cNvSpPr>
          <p:nvPr/>
        </p:nvSpPr>
        <p:spPr>
          <a:xfrm>
            <a:off x="2919413" y="3567113"/>
            <a:ext cx="9525" cy="9525"/>
          </a:xfrm>
          <a:prstGeom prst="rect">
            <a:avLst/>
          </a:prstGeom>
          <a:noFill/>
          <a:ln w="0">
            <a:noFill/>
          </a:ln>
        </p:spPr>
        <p:txBody>
          <a:bodyPr/>
          <a:lstStyle/>
          <a:p>
            <a:endParaRPr lang="en-US"/>
          </a:p>
        </p:txBody>
      </p:sp>
      <p:cxnSp>
        <p:nvCxnSpPr>
          <p:cNvPr id="128" name="Straight Arrow Connector 127"/>
          <p:cNvCxnSpPr>
            <a:stCxn id="45" idx="3"/>
            <a:endCxn id="46" idx="1"/>
          </p:cNvCxnSpPr>
          <p:nvPr/>
        </p:nvCxnSpPr>
        <p:spPr>
          <a:xfrm>
            <a:off x="2605088" y="3571876"/>
            <a:ext cx="314325" cy="0"/>
          </a:xfrm>
          <a:prstGeom prst="straightConnector1">
            <a:avLst/>
          </a:prstGeom>
          <a:ln w="19050">
            <a:solidFill>
              <a:srgbClr val="0F8B8D"/>
            </a:solidFill>
            <a:prstDash val="solid"/>
          </a:ln>
        </p:spPr>
      </p:cxnSp>
      <p:sp>
        <p:nvSpPr>
          <p:cNvPr id="48" name="native-42">
            <a:extLst>
              <a:ext uri="{FF2B5EF4-FFF2-40B4-BE49-F238E27FC236}">
                <a16:creationId xmlns:a16="http://schemas.microsoft.com/office/drawing/2014/main" id="{A9AD7E1C-0AB2-43B5-BD89-0DB8716E4851}"/>
              </a:ext>
            </a:extLst>
          </p:cNvPr>
          <p:cNvSpPr>
            <a:spLocks noGrp="1"/>
          </p:cNvSpPr>
          <p:nvPr/>
        </p:nvSpPr>
        <p:spPr>
          <a:xfrm>
            <a:off x="2919413" y="3567113"/>
            <a:ext cx="9525" cy="9525"/>
          </a:xfrm>
          <a:prstGeom prst="rect">
            <a:avLst/>
          </a:prstGeom>
          <a:noFill/>
          <a:ln w="0">
            <a:noFill/>
          </a:ln>
        </p:spPr>
        <p:txBody>
          <a:bodyPr/>
          <a:lstStyle/>
          <a:p>
            <a:endParaRPr lang="en-US"/>
          </a:p>
        </p:txBody>
      </p:sp>
      <p:sp>
        <p:nvSpPr>
          <p:cNvPr id="49" name="native-43">
            <a:extLst>
              <a:ext uri="{FF2B5EF4-FFF2-40B4-BE49-F238E27FC236}">
                <a16:creationId xmlns:a16="http://schemas.microsoft.com/office/drawing/2014/main" id="{C0143A3C-C992-490A-875E-13FEB5A759C2}"/>
              </a:ext>
            </a:extLst>
          </p:cNvPr>
          <p:cNvSpPr>
            <a:spLocks noGrp="1"/>
          </p:cNvSpPr>
          <p:nvPr/>
        </p:nvSpPr>
        <p:spPr>
          <a:xfrm>
            <a:off x="2919413" y="4090988"/>
            <a:ext cx="9525" cy="9525"/>
          </a:xfrm>
          <a:prstGeom prst="rect">
            <a:avLst/>
          </a:prstGeom>
          <a:noFill/>
          <a:ln w="0">
            <a:noFill/>
          </a:ln>
        </p:spPr>
        <p:txBody>
          <a:bodyPr/>
          <a:lstStyle/>
          <a:p>
            <a:endParaRPr lang="en-US"/>
          </a:p>
        </p:txBody>
      </p:sp>
      <p:cxnSp>
        <p:nvCxnSpPr>
          <p:cNvPr id="131" name="Straight Arrow Connector 130"/>
          <p:cNvCxnSpPr>
            <a:stCxn id="48" idx="3"/>
            <a:endCxn id="49" idx="1"/>
          </p:cNvCxnSpPr>
          <p:nvPr/>
        </p:nvCxnSpPr>
        <p:spPr>
          <a:xfrm flipH="1">
            <a:off x="2919413" y="3571876"/>
            <a:ext cx="9525" cy="523875"/>
          </a:xfrm>
          <a:prstGeom prst="straightConnector1">
            <a:avLst/>
          </a:prstGeom>
          <a:ln w="19050">
            <a:solidFill>
              <a:srgbClr val="0F8B8D"/>
            </a:solidFill>
            <a:prstDash val="solid"/>
          </a:ln>
        </p:spPr>
      </p:cxnSp>
      <p:sp>
        <p:nvSpPr>
          <p:cNvPr id="51" name="native-44">
            <a:extLst>
              <a:ext uri="{FF2B5EF4-FFF2-40B4-BE49-F238E27FC236}">
                <a16:creationId xmlns:a16="http://schemas.microsoft.com/office/drawing/2014/main" id="{741695D3-FA32-48AB-8BA2-4EFAB6F70BA4}"/>
              </a:ext>
            </a:extLst>
          </p:cNvPr>
          <p:cNvSpPr>
            <a:spLocks noGrp="1"/>
          </p:cNvSpPr>
          <p:nvPr/>
        </p:nvSpPr>
        <p:spPr>
          <a:xfrm>
            <a:off x="2919413" y="4090988"/>
            <a:ext cx="9525" cy="9525"/>
          </a:xfrm>
          <a:prstGeom prst="rect">
            <a:avLst/>
          </a:prstGeom>
          <a:noFill/>
          <a:ln w="0">
            <a:noFill/>
          </a:ln>
        </p:spPr>
        <p:txBody>
          <a:bodyPr/>
          <a:lstStyle/>
          <a:p>
            <a:endParaRPr lang="en-US"/>
          </a:p>
        </p:txBody>
      </p:sp>
      <p:sp>
        <p:nvSpPr>
          <p:cNvPr id="52" name="native-45">
            <a:extLst>
              <a:ext uri="{FF2B5EF4-FFF2-40B4-BE49-F238E27FC236}">
                <a16:creationId xmlns:a16="http://schemas.microsoft.com/office/drawing/2014/main" id="{E91E08B6-8EFA-4461-94CE-D087690EAF2B}"/>
              </a:ext>
            </a:extLst>
          </p:cNvPr>
          <p:cNvSpPr>
            <a:spLocks noGrp="1"/>
          </p:cNvSpPr>
          <p:nvPr/>
        </p:nvSpPr>
        <p:spPr>
          <a:xfrm>
            <a:off x="6186488" y="4090988"/>
            <a:ext cx="9525" cy="9525"/>
          </a:xfrm>
          <a:prstGeom prst="rect">
            <a:avLst/>
          </a:prstGeom>
          <a:noFill/>
          <a:ln w="0">
            <a:noFill/>
          </a:ln>
        </p:spPr>
        <p:txBody>
          <a:bodyPr/>
          <a:lstStyle/>
          <a:p>
            <a:endParaRPr lang="en-US"/>
          </a:p>
        </p:txBody>
      </p:sp>
      <p:cxnSp>
        <p:nvCxnSpPr>
          <p:cNvPr id="134" name="Straight Arrow Connector 133"/>
          <p:cNvCxnSpPr>
            <a:cxnSpLocks/>
            <a:stCxn id="51" idx="3"/>
            <a:endCxn id="19" idx="1"/>
          </p:cNvCxnSpPr>
          <p:nvPr/>
        </p:nvCxnSpPr>
        <p:spPr>
          <a:xfrm>
            <a:off x="2928938" y="4095751"/>
            <a:ext cx="3133526" cy="6705"/>
          </a:xfrm>
          <a:prstGeom prst="straightConnector1">
            <a:avLst/>
          </a:prstGeom>
          <a:ln w="19050">
            <a:solidFill>
              <a:srgbClr val="0F8B8D"/>
            </a:solidFill>
            <a:prstDash val="solid"/>
            <a:tailEnd type="triangle" w="med" len="med"/>
          </a:ln>
        </p:spPr>
      </p:cxnSp>
      <p:sp>
        <p:nvSpPr>
          <p:cNvPr id="54" name="native-46">
            <a:extLst>
              <a:ext uri="{FF2B5EF4-FFF2-40B4-BE49-F238E27FC236}">
                <a16:creationId xmlns:a16="http://schemas.microsoft.com/office/drawing/2014/main" id="{F6CD9F5A-25CE-4B95-9FDD-5A200DCF1290}"/>
              </a:ext>
            </a:extLst>
          </p:cNvPr>
          <p:cNvSpPr>
            <a:spLocks noGrp="1"/>
          </p:cNvSpPr>
          <p:nvPr/>
        </p:nvSpPr>
        <p:spPr>
          <a:xfrm>
            <a:off x="3705225" y="3800475"/>
            <a:ext cx="1190625" cy="238125"/>
          </a:xfrm>
          <a:prstGeom prst="rect">
            <a:avLst/>
          </a:prstGeom>
          <a:solidFill>
            <a:srgbClr val="FFFFFF"/>
          </a:solidFill>
          <a:ln w="0">
            <a:noFill/>
          </a:ln>
        </p:spPr>
        <p:txBody>
          <a:bodyPr anchor="ctr">
            <a:noAutofit/>
          </a:bodyPr>
          <a:lstStyle/>
          <a:p>
            <a:pPr algn="ctr">
              <a:defRPr sz="1425" b="0">
                <a:solidFill>
                  <a:srgbClr val="5D6C79"/>
                </a:solidFill>
                <a:latin typeface="Arial"/>
                <a:ea typeface="Arial"/>
                <a:cs typeface="Arial"/>
              </a:defRPr>
            </a:pPr>
            <a:r>
              <a:rPr sz="1425" b="0">
                <a:solidFill>
                  <a:srgbClr val="5D6C79"/>
                </a:solidFill>
                <a:latin typeface="Arial"/>
                <a:ea typeface="Arial"/>
                <a:cs typeface="Arial"/>
              </a:rPr>
              <a:t>:5175</a:t>
            </a:r>
          </a:p>
        </p:txBody>
      </p:sp>
      <p:sp>
        <p:nvSpPr>
          <p:cNvPr id="55" name="native-47">
            <a:extLst>
              <a:ext uri="{FF2B5EF4-FFF2-40B4-BE49-F238E27FC236}">
                <a16:creationId xmlns:a16="http://schemas.microsoft.com/office/drawing/2014/main" id="{86AD09D6-2A1F-4D26-BA69-9888AFA0FC8C}"/>
              </a:ext>
            </a:extLst>
          </p:cNvPr>
          <p:cNvSpPr>
            <a:spLocks noGrp="1"/>
          </p:cNvSpPr>
          <p:nvPr/>
        </p:nvSpPr>
        <p:spPr>
          <a:xfrm>
            <a:off x="8662988" y="2452688"/>
            <a:ext cx="9525" cy="9525"/>
          </a:xfrm>
          <a:prstGeom prst="rect">
            <a:avLst/>
          </a:prstGeom>
          <a:noFill/>
          <a:ln w="0">
            <a:noFill/>
          </a:ln>
        </p:spPr>
        <p:txBody>
          <a:bodyPr/>
          <a:lstStyle/>
          <a:p>
            <a:endParaRPr lang="en-US"/>
          </a:p>
        </p:txBody>
      </p:sp>
      <p:sp>
        <p:nvSpPr>
          <p:cNvPr id="56" name="native-48">
            <a:extLst>
              <a:ext uri="{FF2B5EF4-FFF2-40B4-BE49-F238E27FC236}">
                <a16:creationId xmlns:a16="http://schemas.microsoft.com/office/drawing/2014/main" id="{D92FC01D-1353-41AD-9750-3D0B604E4C6E}"/>
              </a:ext>
            </a:extLst>
          </p:cNvPr>
          <p:cNvSpPr>
            <a:spLocks noGrp="1"/>
          </p:cNvSpPr>
          <p:nvPr/>
        </p:nvSpPr>
        <p:spPr>
          <a:xfrm>
            <a:off x="8805863" y="2452688"/>
            <a:ext cx="9525" cy="9525"/>
          </a:xfrm>
          <a:prstGeom prst="rect">
            <a:avLst/>
          </a:prstGeom>
          <a:noFill/>
          <a:ln w="0">
            <a:noFill/>
          </a:ln>
        </p:spPr>
        <p:txBody>
          <a:bodyPr/>
          <a:lstStyle/>
          <a:p>
            <a:endParaRPr lang="en-US"/>
          </a:p>
        </p:txBody>
      </p:sp>
      <p:cxnSp>
        <p:nvCxnSpPr>
          <p:cNvPr id="138" name="Straight Arrow Connector 137"/>
          <p:cNvCxnSpPr>
            <a:stCxn id="55" idx="3"/>
            <a:endCxn id="56" idx="1"/>
          </p:cNvCxnSpPr>
          <p:nvPr/>
        </p:nvCxnSpPr>
        <p:spPr>
          <a:xfrm>
            <a:off x="8672513" y="2457451"/>
            <a:ext cx="133350" cy="0"/>
          </a:xfrm>
          <a:prstGeom prst="straightConnector1">
            <a:avLst/>
          </a:prstGeom>
          <a:ln w="19050">
            <a:solidFill>
              <a:srgbClr val="0F8B8D"/>
            </a:solidFill>
            <a:prstDash val="solid"/>
          </a:ln>
        </p:spPr>
      </p:cxnSp>
      <p:sp>
        <p:nvSpPr>
          <p:cNvPr id="58" name="native-49">
            <a:extLst>
              <a:ext uri="{FF2B5EF4-FFF2-40B4-BE49-F238E27FC236}">
                <a16:creationId xmlns:a16="http://schemas.microsoft.com/office/drawing/2014/main" id="{D247D3B5-F931-4B40-B168-CC23F5F319FA}"/>
              </a:ext>
            </a:extLst>
          </p:cNvPr>
          <p:cNvSpPr>
            <a:spLocks noGrp="1"/>
          </p:cNvSpPr>
          <p:nvPr/>
        </p:nvSpPr>
        <p:spPr>
          <a:xfrm>
            <a:off x="8805863" y="2452688"/>
            <a:ext cx="9525" cy="9525"/>
          </a:xfrm>
          <a:prstGeom prst="rect">
            <a:avLst/>
          </a:prstGeom>
          <a:noFill/>
          <a:ln w="0">
            <a:noFill/>
          </a:ln>
        </p:spPr>
        <p:txBody>
          <a:bodyPr/>
          <a:lstStyle/>
          <a:p>
            <a:endParaRPr lang="en-US"/>
          </a:p>
        </p:txBody>
      </p:sp>
      <p:sp>
        <p:nvSpPr>
          <p:cNvPr id="59" name="native-50">
            <a:extLst>
              <a:ext uri="{FF2B5EF4-FFF2-40B4-BE49-F238E27FC236}">
                <a16:creationId xmlns:a16="http://schemas.microsoft.com/office/drawing/2014/main" id="{04BD61C8-E0AC-44F0-89A7-CA606C452562}"/>
              </a:ext>
            </a:extLst>
          </p:cNvPr>
          <p:cNvSpPr>
            <a:spLocks noGrp="1"/>
          </p:cNvSpPr>
          <p:nvPr/>
        </p:nvSpPr>
        <p:spPr>
          <a:xfrm>
            <a:off x="8805863" y="3081338"/>
            <a:ext cx="9525" cy="9525"/>
          </a:xfrm>
          <a:prstGeom prst="rect">
            <a:avLst/>
          </a:prstGeom>
          <a:noFill/>
          <a:ln w="0">
            <a:noFill/>
          </a:ln>
        </p:spPr>
        <p:txBody>
          <a:bodyPr/>
          <a:lstStyle/>
          <a:p>
            <a:endParaRPr lang="en-US"/>
          </a:p>
        </p:txBody>
      </p:sp>
      <p:cxnSp>
        <p:nvCxnSpPr>
          <p:cNvPr id="141" name="Straight Arrow Connector 140"/>
          <p:cNvCxnSpPr>
            <a:stCxn id="58" idx="3"/>
            <a:endCxn id="59" idx="1"/>
          </p:cNvCxnSpPr>
          <p:nvPr/>
        </p:nvCxnSpPr>
        <p:spPr>
          <a:xfrm flipH="1">
            <a:off x="8805863" y="2457451"/>
            <a:ext cx="9525" cy="628650"/>
          </a:xfrm>
          <a:prstGeom prst="straightConnector1">
            <a:avLst/>
          </a:prstGeom>
          <a:ln w="19050">
            <a:solidFill>
              <a:srgbClr val="0F8B8D"/>
            </a:solidFill>
            <a:prstDash val="solid"/>
          </a:ln>
        </p:spPr>
      </p:cxnSp>
      <p:sp>
        <p:nvSpPr>
          <p:cNvPr id="61" name="native-51">
            <a:extLst>
              <a:ext uri="{FF2B5EF4-FFF2-40B4-BE49-F238E27FC236}">
                <a16:creationId xmlns:a16="http://schemas.microsoft.com/office/drawing/2014/main" id="{05092225-2CC8-4458-8D96-22BC46850D2C}"/>
              </a:ext>
            </a:extLst>
          </p:cNvPr>
          <p:cNvSpPr>
            <a:spLocks noGrp="1"/>
          </p:cNvSpPr>
          <p:nvPr/>
        </p:nvSpPr>
        <p:spPr>
          <a:xfrm>
            <a:off x="8805863" y="3081338"/>
            <a:ext cx="9525" cy="9525"/>
          </a:xfrm>
          <a:prstGeom prst="rect">
            <a:avLst/>
          </a:prstGeom>
          <a:noFill/>
          <a:ln w="0">
            <a:noFill/>
          </a:ln>
        </p:spPr>
        <p:txBody>
          <a:bodyPr/>
          <a:lstStyle/>
          <a:p>
            <a:endParaRPr lang="en-US"/>
          </a:p>
        </p:txBody>
      </p:sp>
      <p:sp>
        <p:nvSpPr>
          <p:cNvPr id="62" name="native-52">
            <a:extLst>
              <a:ext uri="{FF2B5EF4-FFF2-40B4-BE49-F238E27FC236}">
                <a16:creationId xmlns:a16="http://schemas.microsoft.com/office/drawing/2014/main" id="{79CA6FA5-3EF3-4DF1-A1DA-4ED17F42D344}"/>
              </a:ext>
            </a:extLst>
          </p:cNvPr>
          <p:cNvSpPr>
            <a:spLocks noGrp="1"/>
          </p:cNvSpPr>
          <p:nvPr/>
        </p:nvSpPr>
        <p:spPr>
          <a:xfrm>
            <a:off x="9043988" y="3081338"/>
            <a:ext cx="9525" cy="9525"/>
          </a:xfrm>
          <a:prstGeom prst="rect">
            <a:avLst/>
          </a:prstGeom>
          <a:noFill/>
          <a:ln w="0">
            <a:noFill/>
          </a:ln>
        </p:spPr>
        <p:txBody>
          <a:bodyPr/>
          <a:lstStyle/>
          <a:p>
            <a:endParaRPr lang="en-US"/>
          </a:p>
        </p:txBody>
      </p:sp>
      <p:cxnSp>
        <p:nvCxnSpPr>
          <p:cNvPr id="144" name="Straight Arrow Connector 143"/>
          <p:cNvCxnSpPr>
            <a:stCxn id="61" idx="3"/>
            <a:endCxn id="62" idx="1"/>
          </p:cNvCxnSpPr>
          <p:nvPr/>
        </p:nvCxnSpPr>
        <p:spPr>
          <a:xfrm>
            <a:off x="8815388" y="3086101"/>
            <a:ext cx="228600" cy="0"/>
          </a:xfrm>
          <a:prstGeom prst="straightConnector1">
            <a:avLst/>
          </a:prstGeom>
          <a:ln w="19050">
            <a:solidFill>
              <a:srgbClr val="0F8B8D"/>
            </a:solidFill>
            <a:prstDash val="solid"/>
            <a:tailEnd type="triangle" w="med" len="med"/>
          </a:ln>
        </p:spPr>
      </p:cxnSp>
      <p:sp>
        <p:nvSpPr>
          <p:cNvPr id="64" name="native-53">
            <a:extLst>
              <a:ext uri="{FF2B5EF4-FFF2-40B4-BE49-F238E27FC236}">
                <a16:creationId xmlns:a16="http://schemas.microsoft.com/office/drawing/2014/main" id="{534726FE-A480-4BBA-946F-B48328E47245}"/>
              </a:ext>
            </a:extLst>
          </p:cNvPr>
          <p:cNvSpPr>
            <a:spLocks noGrp="1"/>
          </p:cNvSpPr>
          <p:nvPr/>
        </p:nvSpPr>
        <p:spPr>
          <a:xfrm>
            <a:off x="8810625" y="2038350"/>
            <a:ext cx="2571750" cy="238125"/>
          </a:xfrm>
          <a:prstGeom prst="rect">
            <a:avLst/>
          </a:prstGeom>
          <a:solidFill>
            <a:srgbClr val="FFFFFF"/>
          </a:solidFill>
          <a:ln w="0">
            <a:noFill/>
          </a:ln>
        </p:spPr>
        <p:txBody>
          <a:bodyPr anchor="ctr">
            <a:noAutofit/>
          </a:bodyPr>
          <a:lstStyle/>
          <a:p>
            <a:pPr algn="ctr">
              <a:defRPr sz="1350" b="0">
                <a:solidFill>
                  <a:srgbClr val="5D6C79"/>
                </a:solidFill>
                <a:latin typeface="Arial"/>
                <a:ea typeface="Arial"/>
                <a:cs typeface="Arial"/>
              </a:defRPr>
            </a:pPr>
            <a:r>
              <a:rPr sz="1350" b="0">
                <a:solidFill>
                  <a:srgbClr val="5D6C79"/>
                </a:solidFill>
                <a:latin typeface="Arial"/>
                <a:ea typeface="Arial"/>
                <a:cs typeface="Arial"/>
              </a:rPr>
              <a:t>/fhir/  /api/</a:t>
            </a:r>
          </a:p>
        </p:txBody>
      </p:sp>
      <p:sp>
        <p:nvSpPr>
          <p:cNvPr id="65" name="native-54">
            <a:extLst>
              <a:ext uri="{FF2B5EF4-FFF2-40B4-BE49-F238E27FC236}">
                <a16:creationId xmlns:a16="http://schemas.microsoft.com/office/drawing/2014/main" id="{EB2301E3-2ADA-4360-807C-2A989F232F99}"/>
              </a:ext>
            </a:extLst>
          </p:cNvPr>
          <p:cNvSpPr>
            <a:spLocks noGrp="1"/>
          </p:cNvSpPr>
          <p:nvPr/>
        </p:nvSpPr>
        <p:spPr>
          <a:xfrm>
            <a:off x="8662988" y="4090988"/>
            <a:ext cx="9525" cy="9525"/>
          </a:xfrm>
          <a:prstGeom prst="rect">
            <a:avLst/>
          </a:prstGeom>
          <a:noFill/>
          <a:ln w="0">
            <a:noFill/>
          </a:ln>
        </p:spPr>
        <p:txBody>
          <a:bodyPr/>
          <a:lstStyle/>
          <a:p>
            <a:endParaRPr lang="en-US"/>
          </a:p>
        </p:txBody>
      </p:sp>
      <p:sp>
        <p:nvSpPr>
          <p:cNvPr id="66" name="native-55">
            <a:extLst>
              <a:ext uri="{FF2B5EF4-FFF2-40B4-BE49-F238E27FC236}">
                <a16:creationId xmlns:a16="http://schemas.microsoft.com/office/drawing/2014/main" id="{73FEE911-D478-4BF3-B976-ECF5B012E7E1}"/>
              </a:ext>
            </a:extLst>
          </p:cNvPr>
          <p:cNvSpPr>
            <a:spLocks noGrp="1"/>
          </p:cNvSpPr>
          <p:nvPr/>
        </p:nvSpPr>
        <p:spPr>
          <a:xfrm>
            <a:off x="8805863" y="4090988"/>
            <a:ext cx="9525" cy="9525"/>
          </a:xfrm>
          <a:prstGeom prst="rect">
            <a:avLst/>
          </a:prstGeom>
          <a:noFill/>
          <a:ln w="0">
            <a:noFill/>
          </a:ln>
        </p:spPr>
        <p:txBody>
          <a:bodyPr/>
          <a:lstStyle/>
          <a:p>
            <a:endParaRPr lang="en-US"/>
          </a:p>
        </p:txBody>
      </p:sp>
      <p:cxnSp>
        <p:nvCxnSpPr>
          <p:cNvPr id="148" name="Straight Arrow Connector 147"/>
          <p:cNvCxnSpPr>
            <a:cxnSpLocks/>
            <a:endCxn id="68" idx="2"/>
          </p:cNvCxnSpPr>
          <p:nvPr/>
        </p:nvCxnSpPr>
        <p:spPr>
          <a:xfrm flipV="1">
            <a:off x="8538964" y="4100513"/>
            <a:ext cx="271662" cy="1943"/>
          </a:xfrm>
          <a:prstGeom prst="straightConnector1">
            <a:avLst/>
          </a:prstGeom>
          <a:ln w="19050">
            <a:solidFill>
              <a:srgbClr val="0F8B8D"/>
            </a:solidFill>
            <a:prstDash val="solid"/>
          </a:ln>
        </p:spPr>
      </p:cxnSp>
      <p:sp>
        <p:nvSpPr>
          <p:cNvPr id="68" name="native-56">
            <a:extLst>
              <a:ext uri="{FF2B5EF4-FFF2-40B4-BE49-F238E27FC236}">
                <a16:creationId xmlns:a16="http://schemas.microsoft.com/office/drawing/2014/main" id="{5835A7AE-25F8-4513-866F-616BB28EEE6A}"/>
              </a:ext>
            </a:extLst>
          </p:cNvPr>
          <p:cNvSpPr>
            <a:spLocks noGrp="1"/>
          </p:cNvSpPr>
          <p:nvPr/>
        </p:nvSpPr>
        <p:spPr>
          <a:xfrm>
            <a:off x="8805863" y="4090988"/>
            <a:ext cx="9525" cy="9525"/>
          </a:xfrm>
          <a:prstGeom prst="rect">
            <a:avLst/>
          </a:prstGeom>
          <a:noFill/>
          <a:ln w="0">
            <a:noFill/>
          </a:ln>
        </p:spPr>
        <p:txBody>
          <a:bodyPr/>
          <a:lstStyle/>
          <a:p>
            <a:endParaRPr lang="en-US"/>
          </a:p>
        </p:txBody>
      </p:sp>
      <p:sp>
        <p:nvSpPr>
          <p:cNvPr id="69" name="native-57">
            <a:extLst>
              <a:ext uri="{FF2B5EF4-FFF2-40B4-BE49-F238E27FC236}">
                <a16:creationId xmlns:a16="http://schemas.microsoft.com/office/drawing/2014/main" id="{A37C6EB7-6E51-4479-8597-1FB1378D747F}"/>
              </a:ext>
            </a:extLst>
          </p:cNvPr>
          <p:cNvSpPr>
            <a:spLocks noGrp="1"/>
          </p:cNvSpPr>
          <p:nvPr/>
        </p:nvSpPr>
        <p:spPr>
          <a:xfrm>
            <a:off x="8805863" y="3633788"/>
            <a:ext cx="9525" cy="9525"/>
          </a:xfrm>
          <a:prstGeom prst="rect">
            <a:avLst/>
          </a:prstGeom>
          <a:noFill/>
          <a:ln w="0">
            <a:noFill/>
          </a:ln>
        </p:spPr>
        <p:txBody>
          <a:bodyPr/>
          <a:lstStyle/>
          <a:p>
            <a:endParaRPr lang="en-US"/>
          </a:p>
        </p:txBody>
      </p:sp>
      <p:cxnSp>
        <p:nvCxnSpPr>
          <p:cNvPr id="151" name="Straight Arrow Connector 150"/>
          <p:cNvCxnSpPr>
            <a:stCxn id="68" idx="3"/>
            <a:endCxn id="69" idx="1"/>
          </p:cNvCxnSpPr>
          <p:nvPr/>
        </p:nvCxnSpPr>
        <p:spPr>
          <a:xfrm flipH="1" flipV="1">
            <a:off x="8805863" y="3638551"/>
            <a:ext cx="9525" cy="457200"/>
          </a:xfrm>
          <a:prstGeom prst="straightConnector1">
            <a:avLst/>
          </a:prstGeom>
          <a:ln w="19050">
            <a:solidFill>
              <a:srgbClr val="0F8B8D"/>
            </a:solidFill>
            <a:prstDash val="solid"/>
          </a:ln>
        </p:spPr>
      </p:cxnSp>
      <p:sp>
        <p:nvSpPr>
          <p:cNvPr id="71" name="native-58">
            <a:extLst>
              <a:ext uri="{FF2B5EF4-FFF2-40B4-BE49-F238E27FC236}">
                <a16:creationId xmlns:a16="http://schemas.microsoft.com/office/drawing/2014/main" id="{AA0177DD-F483-42F5-B2A3-F0EAB1A79028}"/>
              </a:ext>
            </a:extLst>
          </p:cNvPr>
          <p:cNvSpPr>
            <a:spLocks noGrp="1"/>
          </p:cNvSpPr>
          <p:nvPr/>
        </p:nvSpPr>
        <p:spPr>
          <a:xfrm>
            <a:off x="8805863" y="3633788"/>
            <a:ext cx="9525" cy="9525"/>
          </a:xfrm>
          <a:prstGeom prst="rect">
            <a:avLst/>
          </a:prstGeom>
          <a:noFill/>
          <a:ln w="0">
            <a:noFill/>
          </a:ln>
        </p:spPr>
        <p:txBody>
          <a:bodyPr/>
          <a:lstStyle/>
          <a:p>
            <a:endParaRPr lang="en-US"/>
          </a:p>
        </p:txBody>
      </p:sp>
      <p:sp>
        <p:nvSpPr>
          <p:cNvPr id="72" name="native-59">
            <a:extLst>
              <a:ext uri="{FF2B5EF4-FFF2-40B4-BE49-F238E27FC236}">
                <a16:creationId xmlns:a16="http://schemas.microsoft.com/office/drawing/2014/main" id="{EDD5C876-836A-4825-B8C8-2B378B9B930A}"/>
              </a:ext>
            </a:extLst>
          </p:cNvPr>
          <p:cNvSpPr>
            <a:spLocks noGrp="1"/>
          </p:cNvSpPr>
          <p:nvPr/>
        </p:nvSpPr>
        <p:spPr>
          <a:xfrm>
            <a:off x="9043988" y="3633788"/>
            <a:ext cx="9525" cy="9525"/>
          </a:xfrm>
          <a:prstGeom prst="rect">
            <a:avLst/>
          </a:prstGeom>
          <a:noFill/>
          <a:ln w="0">
            <a:noFill/>
          </a:ln>
        </p:spPr>
        <p:txBody>
          <a:bodyPr/>
          <a:lstStyle/>
          <a:p>
            <a:endParaRPr lang="en-US"/>
          </a:p>
        </p:txBody>
      </p:sp>
      <p:cxnSp>
        <p:nvCxnSpPr>
          <p:cNvPr id="154" name="Straight Arrow Connector 153"/>
          <p:cNvCxnSpPr>
            <a:stCxn id="71" idx="3"/>
            <a:endCxn id="72" idx="1"/>
          </p:cNvCxnSpPr>
          <p:nvPr/>
        </p:nvCxnSpPr>
        <p:spPr>
          <a:xfrm>
            <a:off x="8815388" y="3638551"/>
            <a:ext cx="228600" cy="0"/>
          </a:xfrm>
          <a:prstGeom prst="straightConnector1">
            <a:avLst/>
          </a:prstGeom>
          <a:ln w="19050">
            <a:solidFill>
              <a:srgbClr val="0F8B8D"/>
            </a:solidFill>
            <a:prstDash val="solid"/>
            <a:tailEnd type="triangle" w="med" len="med"/>
          </a:ln>
        </p:spPr>
      </p:cxnSp>
      <p:sp>
        <p:nvSpPr>
          <p:cNvPr id="74" name="native-60">
            <a:extLst>
              <a:ext uri="{FF2B5EF4-FFF2-40B4-BE49-F238E27FC236}">
                <a16:creationId xmlns:a16="http://schemas.microsoft.com/office/drawing/2014/main" id="{5D01C2E5-B0D6-448A-998D-A0AB0EA90F32}"/>
              </a:ext>
            </a:extLst>
          </p:cNvPr>
          <p:cNvSpPr>
            <a:spLocks noGrp="1"/>
          </p:cNvSpPr>
          <p:nvPr/>
        </p:nvSpPr>
        <p:spPr>
          <a:xfrm>
            <a:off x="10186988" y="3862388"/>
            <a:ext cx="9525" cy="9525"/>
          </a:xfrm>
          <a:prstGeom prst="rect">
            <a:avLst/>
          </a:prstGeom>
          <a:noFill/>
          <a:ln w="0">
            <a:noFill/>
          </a:ln>
        </p:spPr>
        <p:txBody>
          <a:bodyPr/>
          <a:lstStyle/>
          <a:p>
            <a:endParaRPr lang="en-US"/>
          </a:p>
        </p:txBody>
      </p:sp>
      <p:sp>
        <p:nvSpPr>
          <p:cNvPr id="75" name="native-61">
            <a:extLst>
              <a:ext uri="{FF2B5EF4-FFF2-40B4-BE49-F238E27FC236}">
                <a16:creationId xmlns:a16="http://schemas.microsoft.com/office/drawing/2014/main" id="{316DE127-3A9A-472D-9E9E-D8E2129B8012}"/>
              </a:ext>
            </a:extLst>
          </p:cNvPr>
          <p:cNvSpPr>
            <a:spLocks noGrp="1"/>
          </p:cNvSpPr>
          <p:nvPr/>
        </p:nvSpPr>
        <p:spPr>
          <a:xfrm>
            <a:off x="10186988" y="4852988"/>
            <a:ext cx="9525" cy="9525"/>
          </a:xfrm>
          <a:prstGeom prst="rect">
            <a:avLst/>
          </a:prstGeom>
          <a:noFill/>
          <a:ln w="0">
            <a:noFill/>
          </a:ln>
        </p:spPr>
        <p:txBody>
          <a:bodyPr/>
          <a:lstStyle/>
          <a:p>
            <a:endParaRPr lang="en-US"/>
          </a:p>
        </p:txBody>
      </p:sp>
      <p:cxnSp>
        <p:nvCxnSpPr>
          <p:cNvPr id="157" name="Straight Arrow Connector 156"/>
          <p:cNvCxnSpPr>
            <a:stCxn id="74" idx="3"/>
            <a:endCxn id="75" idx="1"/>
          </p:cNvCxnSpPr>
          <p:nvPr/>
        </p:nvCxnSpPr>
        <p:spPr>
          <a:xfrm flipH="1">
            <a:off x="10186988" y="3867151"/>
            <a:ext cx="9525" cy="990600"/>
          </a:xfrm>
          <a:prstGeom prst="straightConnector1">
            <a:avLst/>
          </a:prstGeom>
          <a:ln w="19050">
            <a:solidFill>
              <a:srgbClr val="0F8B8D"/>
            </a:solidFill>
            <a:prstDash val="solid"/>
            <a:tailEnd type="triangle" w="med" len="med"/>
          </a:ln>
        </p:spPr>
      </p:cxnSp>
      <p:sp>
        <p:nvSpPr>
          <p:cNvPr id="77" name="native-62">
            <a:extLst>
              <a:ext uri="{FF2B5EF4-FFF2-40B4-BE49-F238E27FC236}">
                <a16:creationId xmlns:a16="http://schemas.microsoft.com/office/drawing/2014/main" id="{9F35A8DF-AE54-4880-97E8-3FD65A755AB5}"/>
              </a:ext>
            </a:extLst>
          </p:cNvPr>
          <p:cNvSpPr>
            <a:spLocks noGrp="1"/>
          </p:cNvSpPr>
          <p:nvPr/>
        </p:nvSpPr>
        <p:spPr>
          <a:xfrm>
            <a:off x="9277350" y="4229100"/>
            <a:ext cx="1828800" cy="238125"/>
          </a:xfrm>
          <a:prstGeom prst="rect">
            <a:avLst/>
          </a:prstGeom>
          <a:solidFill>
            <a:srgbClr val="FFFFFF"/>
          </a:solidFill>
          <a:ln w="0">
            <a:noFill/>
          </a:ln>
        </p:spPr>
        <p:txBody>
          <a:bodyPr anchor="ctr">
            <a:noAutofit/>
          </a:bodyPr>
          <a:lstStyle/>
          <a:p>
            <a:pPr algn="ctr">
              <a:defRPr sz="1350" b="0">
                <a:solidFill>
                  <a:srgbClr val="5D6C79"/>
                </a:solidFill>
                <a:latin typeface="Arial"/>
                <a:ea typeface="Arial"/>
                <a:cs typeface="Arial"/>
              </a:defRPr>
            </a:pPr>
            <a:r>
              <a:rPr sz="1350" b="0">
                <a:solidFill>
                  <a:srgbClr val="5D6C79"/>
                </a:solidFill>
                <a:latin typeface="Arial"/>
                <a:ea typeface="Arial"/>
                <a:cs typeface="Arial"/>
              </a:rPr>
              <a:t>MongoDB URI</a:t>
            </a:r>
          </a:p>
        </p:txBody>
      </p:sp>
      <p:sp>
        <p:nvSpPr>
          <p:cNvPr id="78" name="native-63">
            <a:extLst>
              <a:ext uri="{FF2B5EF4-FFF2-40B4-BE49-F238E27FC236}">
                <a16:creationId xmlns:a16="http://schemas.microsoft.com/office/drawing/2014/main" id="{648D04EF-5C20-448F-9BFF-55320F172523}"/>
              </a:ext>
            </a:extLst>
          </p:cNvPr>
          <p:cNvSpPr>
            <a:spLocks noGrp="1"/>
          </p:cNvSpPr>
          <p:nvPr/>
        </p:nvSpPr>
        <p:spPr>
          <a:xfrm>
            <a:off x="8662988" y="5310188"/>
            <a:ext cx="9525" cy="9525"/>
          </a:xfrm>
          <a:prstGeom prst="rect">
            <a:avLst/>
          </a:prstGeom>
          <a:noFill/>
          <a:ln w="0">
            <a:noFill/>
          </a:ln>
        </p:spPr>
        <p:txBody>
          <a:bodyPr/>
          <a:lstStyle/>
          <a:p>
            <a:endParaRPr lang="en-US"/>
          </a:p>
        </p:txBody>
      </p:sp>
      <p:sp>
        <p:nvSpPr>
          <p:cNvPr id="79" name="native-64">
            <a:extLst>
              <a:ext uri="{FF2B5EF4-FFF2-40B4-BE49-F238E27FC236}">
                <a16:creationId xmlns:a16="http://schemas.microsoft.com/office/drawing/2014/main" id="{8CA0E3C6-FCC5-4DC7-AEB5-5F09A48348D9}"/>
              </a:ext>
            </a:extLst>
          </p:cNvPr>
          <p:cNvSpPr>
            <a:spLocks noGrp="1"/>
          </p:cNvSpPr>
          <p:nvPr/>
        </p:nvSpPr>
        <p:spPr>
          <a:xfrm>
            <a:off x="9043988" y="5310188"/>
            <a:ext cx="9525" cy="9525"/>
          </a:xfrm>
          <a:prstGeom prst="rect">
            <a:avLst/>
          </a:prstGeom>
          <a:noFill/>
          <a:ln w="0">
            <a:noFill/>
          </a:ln>
        </p:spPr>
        <p:txBody>
          <a:bodyPr/>
          <a:lstStyle/>
          <a:p>
            <a:endParaRPr lang="en-US"/>
          </a:p>
        </p:txBody>
      </p:sp>
      <p:cxnSp>
        <p:nvCxnSpPr>
          <p:cNvPr id="161" name="Straight Arrow Connector 160"/>
          <p:cNvCxnSpPr>
            <a:cxnSpLocks/>
            <a:stCxn id="28" idx="3"/>
            <a:endCxn id="79" idx="1"/>
          </p:cNvCxnSpPr>
          <p:nvPr/>
        </p:nvCxnSpPr>
        <p:spPr>
          <a:xfrm flipV="1">
            <a:off x="8484195" y="5314951"/>
            <a:ext cx="559793" cy="9524"/>
          </a:xfrm>
          <a:prstGeom prst="straightConnector1">
            <a:avLst/>
          </a:prstGeom>
          <a:ln w="19050">
            <a:solidFill>
              <a:srgbClr val="3478B9"/>
            </a:solidFill>
            <a:prstDash val="solid"/>
            <a:tailEnd type="triangle" w="med" len="med"/>
          </a:ln>
        </p:spPr>
      </p:cxnSp>
      <p:sp>
        <p:nvSpPr>
          <p:cNvPr id="81" name="native-65">
            <a:extLst>
              <a:ext uri="{FF2B5EF4-FFF2-40B4-BE49-F238E27FC236}">
                <a16:creationId xmlns:a16="http://schemas.microsoft.com/office/drawing/2014/main" id="{D83AAE39-C08D-40DD-B2D8-D6A1E6F6D42C}"/>
              </a:ext>
            </a:extLst>
          </p:cNvPr>
          <p:cNvSpPr>
            <a:spLocks noGrp="1"/>
          </p:cNvSpPr>
          <p:nvPr/>
        </p:nvSpPr>
        <p:spPr>
          <a:xfrm>
            <a:off x="8534400" y="4924425"/>
            <a:ext cx="519113" cy="238125"/>
          </a:xfrm>
          <a:prstGeom prst="rect">
            <a:avLst/>
          </a:prstGeom>
          <a:solidFill>
            <a:srgbClr val="FFFFFF"/>
          </a:solidFill>
          <a:ln w="0">
            <a:noFill/>
          </a:ln>
        </p:spPr>
        <p:txBody>
          <a:bodyPr anchor="ctr">
            <a:noAutofit/>
          </a:bodyPr>
          <a:lstStyle/>
          <a:p>
            <a:pPr algn="ctr">
              <a:defRPr sz="1200" b="0">
                <a:solidFill>
                  <a:srgbClr val="5D6C79"/>
                </a:solidFill>
                <a:latin typeface="Arial"/>
                <a:ea typeface="Arial"/>
                <a:cs typeface="Arial"/>
              </a:defRPr>
            </a:pPr>
            <a:r>
              <a:rPr sz="1000" b="0" dirty="0">
                <a:solidFill>
                  <a:srgbClr val="5D6C79"/>
                </a:solidFill>
                <a:latin typeface="Arial"/>
                <a:ea typeface="Arial"/>
                <a:cs typeface="Arial"/>
              </a:rPr>
              <a:t>dump</a:t>
            </a:r>
          </a:p>
        </p:txBody>
      </p:sp>
    </p:spTree>
    <p:extLst>
      <p:ext uri="{BB962C8B-B14F-4D97-AF65-F5344CB8AC3E}">
        <p14:creationId xmlns:p14="http://schemas.microsoft.com/office/powerpoint/2010/main" val="1010697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native-66">
            <a:extLst>
              <a:ext uri="{FF2B5EF4-FFF2-40B4-BE49-F238E27FC236}">
                <a16:creationId xmlns:a16="http://schemas.microsoft.com/office/drawing/2014/main" id="{E3B385E4-CE8E-400A-A8AA-2987CFD37952}"/>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Admin login and resource search</a:t>
            </a:r>
          </a:p>
        </p:txBody>
      </p:sp>
      <p:sp>
        <p:nvSpPr>
          <p:cNvPr id="2" name="native-67">
            <a:extLst>
              <a:ext uri="{FF2B5EF4-FFF2-40B4-BE49-F238E27FC236}">
                <a16:creationId xmlns:a16="http://schemas.microsoft.com/office/drawing/2014/main" id="{B6F00716-D85E-4938-946C-E8D715397A1A}"/>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Sequence diagram of the browser, proxy, application and database</a:t>
            </a:r>
          </a:p>
        </p:txBody>
      </p:sp>
      <p:sp>
        <p:nvSpPr>
          <p:cNvPr id="3" name="native-68">
            <a:extLst>
              <a:ext uri="{FF2B5EF4-FFF2-40B4-BE49-F238E27FC236}">
                <a16:creationId xmlns:a16="http://schemas.microsoft.com/office/drawing/2014/main" id="{3C4257A1-D8AB-4543-87A1-217E4B30520E}"/>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69">
            <a:extLst>
              <a:ext uri="{FF2B5EF4-FFF2-40B4-BE49-F238E27FC236}">
                <a16:creationId xmlns:a16="http://schemas.microsoft.com/office/drawing/2014/main" id="{D62224C1-E81E-4304-B8EA-3760BFB26F2C}"/>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76" name="Straight Arrow Connector 75"/>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70">
            <a:extLst>
              <a:ext uri="{FF2B5EF4-FFF2-40B4-BE49-F238E27FC236}">
                <a16:creationId xmlns:a16="http://schemas.microsoft.com/office/drawing/2014/main" id="{4BDD565A-944C-41B2-9AE2-1E041718BC9A}"/>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Solid arrows: requests or calls. Dashed arrows: responses. nginx clears Origin before forwarding.</a:t>
            </a:r>
          </a:p>
        </p:txBody>
      </p:sp>
      <p:sp>
        <p:nvSpPr>
          <p:cNvPr id="7" name="native-71">
            <a:extLst>
              <a:ext uri="{FF2B5EF4-FFF2-40B4-BE49-F238E27FC236}">
                <a16:creationId xmlns:a16="http://schemas.microsoft.com/office/drawing/2014/main" id="{57455DA8-8A43-408B-849B-EB4FEDB2064B}"/>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08</a:t>
            </a:r>
          </a:p>
        </p:txBody>
      </p:sp>
      <p:sp>
        <p:nvSpPr>
          <p:cNvPr id="8" name="native-72">
            <a:extLst>
              <a:ext uri="{FF2B5EF4-FFF2-40B4-BE49-F238E27FC236}">
                <a16:creationId xmlns:a16="http://schemas.microsoft.com/office/drawing/2014/main" id="{D20D6667-6182-43D1-B19E-1F8D4DB004D5}"/>
              </a:ext>
            </a:extLst>
          </p:cNvPr>
          <p:cNvSpPr>
            <a:spLocks noGrp="1"/>
          </p:cNvSpPr>
          <p:nvPr/>
        </p:nvSpPr>
        <p:spPr>
          <a:xfrm>
            <a:off x="190500" y="1485900"/>
            <a:ext cx="2381250" cy="647700"/>
          </a:xfrm>
          <a:prstGeom prst="rect">
            <a:avLst/>
          </a:prstGeom>
          <a:solidFill>
            <a:srgbClr val="E2F2F1"/>
          </a:solidFill>
          <a:ln w="9525">
            <a:solidFill>
              <a:srgbClr val="B6C6D2"/>
            </a:solidFill>
          </a:ln>
        </p:spPr>
        <p:txBody>
          <a:bodyPr/>
          <a:lstStyle/>
          <a:p>
            <a:endParaRPr lang="en-US"/>
          </a:p>
        </p:txBody>
      </p:sp>
      <p:sp>
        <p:nvSpPr>
          <p:cNvPr id="9" name="native-73">
            <a:extLst>
              <a:ext uri="{FF2B5EF4-FFF2-40B4-BE49-F238E27FC236}">
                <a16:creationId xmlns:a16="http://schemas.microsoft.com/office/drawing/2014/main" id="{0F09E355-1F23-46A6-8784-AE2207056CD9}"/>
              </a:ext>
            </a:extLst>
          </p:cNvPr>
          <p:cNvSpPr>
            <a:spLocks noGrp="1"/>
          </p:cNvSpPr>
          <p:nvPr/>
        </p:nvSpPr>
        <p:spPr>
          <a:xfrm>
            <a:off x="32385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Browser</a:t>
            </a:r>
          </a:p>
        </p:txBody>
      </p:sp>
      <p:sp>
        <p:nvSpPr>
          <p:cNvPr id="10" name="native-74">
            <a:extLst>
              <a:ext uri="{FF2B5EF4-FFF2-40B4-BE49-F238E27FC236}">
                <a16:creationId xmlns:a16="http://schemas.microsoft.com/office/drawing/2014/main" id="{60D456EB-36C4-4FC0-B619-D3733CCC88B1}"/>
              </a:ext>
            </a:extLst>
          </p:cNvPr>
          <p:cNvSpPr>
            <a:spLocks noGrp="1"/>
          </p:cNvSpPr>
          <p:nvPr/>
        </p:nvSpPr>
        <p:spPr>
          <a:xfrm>
            <a:off x="32385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Admin SPA</a:t>
            </a:r>
          </a:p>
        </p:txBody>
      </p:sp>
      <p:sp>
        <p:nvSpPr>
          <p:cNvPr id="11" name="native-75">
            <a:extLst>
              <a:ext uri="{FF2B5EF4-FFF2-40B4-BE49-F238E27FC236}">
                <a16:creationId xmlns:a16="http://schemas.microsoft.com/office/drawing/2014/main" id="{50D05671-3D91-4752-8F45-7D898D47BC3E}"/>
              </a:ext>
            </a:extLst>
          </p:cNvPr>
          <p:cNvSpPr>
            <a:spLocks noGrp="1"/>
          </p:cNvSpPr>
          <p:nvPr/>
        </p:nvSpPr>
        <p:spPr>
          <a:xfrm>
            <a:off x="1376363" y="2128838"/>
            <a:ext cx="9525" cy="9525"/>
          </a:xfrm>
          <a:prstGeom prst="rect">
            <a:avLst/>
          </a:prstGeom>
          <a:noFill/>
          <a:ln w="0">
            <a:noFill/>
          </a:ln>
        </p:spPr>
        <p:txBody>
          <a:bodyPr/>
          <a:lstStyle/>
          <a:p>
            <a:endParaRPr lang="en-US"/>
          </a:p>
        </p:txBody>
      </p:sp>
      <p:sp>
        <p:nvSpPr>
          <p:cNvPr id="12" name="native-76">
            <a:extLst>
              <a:ext uri="{FF2B5EF4-FFF2-40B4-BE49-F238E27FC236}">
                <a16:creationId xmlns:a16="http://schemas.microsoft.com/office/drawing/2014/main" id="{6A1BA8B2-323A-4AB7-96CC-82EA9F9C264D}"/>
              </a:ext>
            </a:extLst>
          </p:cNvPr>
          <p:cNvSpPr>
            <a:spLocks noGrp="1"/>
          </p:cNvSpPr>
          <p:nvPr/>
        </p:nvSpPr>
        <p:spPr>
          <a:xfrm>
            <a:off x="1376363" y="5948363"/>
            <a:ext cx="9525" cy="9525"/>
          </a:xfrm>
          <a:prstGeom prst="rect">
            <a:avLst/>
          </a:prstGeom>
          <a:noFill/>
          <a:ln w="0">
            <a:noFill/>
          </a:ln>
        </p:spPr>
        <p:txBody>
          <a:bodyPr/>
          <a:lstStyle/>
          <a:p>
            <a:endParaRPr lang="en-US"/>
          </a:p>
        </p:txBody>
      </p:sp>
      <p:cxnSp>
        <p:nvCxnSpPr>
          <p:cNvPr id="84" name="Straight Arrow Connector 83"/>
          <p:cNvCxnSpPr>
            <a:stCxn id="11" idx="3"/>
            <a:endCxn id="12" idx="1"/>
          </p:cNvCxnSpPr>
          <p:nvPr/>
        </p:nvCxnSpPr>
        <p:spPr>
          <a:xfrm flipH="1">
            <a:off x="1376363" y="2133601"/>
            <a:ext cx="9525" cy="3819525"/>
          </a:xfrm>
          <a:prstGeom prst="straightConnector1">
            <a:avLst/>
          </a:prstGeom>
          <a:ln w="14288">
            <a:solidFill>
              <a:srgbClr val="B6C6D2"/>
            </a:solidFill>
            <a:prstDash val="dash"/>
          </a:ln>
        </p:spPr>
      </p:cxnSp>
      <p:sp>
        <p:nvSpPr>
          <p:cNvPr id="14" name="native-77">
            <a:extLst>
              <a:ext uri="{FF2B5EF4-FFF2-40B4-BE49-F238E27FC236}">
                <a16:creationId xmlns:a16="http://schemas.microsoft.com/office/drawing/2014/main" id="{9B3CBF64-7BC0-43BE-AFDE-F2506BDA43D0}"/>
              </a:ext>
            </a:extLst>
          </p:cNvPr>
          <p:cNvSpPr>
            <a:spLocks noGrp="1"/>
          </p:cNvSpPr>
          <p:nvPr/>
        </p:nvSpPr>
        <p:spPr>
          <a:xfrm>
            <a:off x="3333750" y="1485900"/>
            <a:ext cx="2381250" cy="647700"/>
          </a:xfrm>
          <a:prstGeom prst="rect">
            <a:avLst/>
          </a:prstGeom>
          <a:solidFill>
            <a:srgbClr val="E8EFF5"/>
          </a:solidFill>
          <a:ln w="9525">
            <a:solidFill>
              <a:srgbClr val="B6C6D2"/>
            </a:solidFill>
          </a:ln>
        </p:spPr>
        <p:txBody>
          <a:bodyPr/>
          <a:lstStyle/>
          <a:p>
            <a:endParaRPr lang="en-US"/>
          </a:p>
        </p:txBody>
      </p:sp>
      <p:sp>
        <p:nvSpPr>
          <p:cNvPr id="15" name="native-78">
            <a:extLst>
              <a:ext uri="{FF2B5EF4-FFF2-40B4-BE49-F238E27FC236}">
                <a16:creationId xmlns:a16="http://schemas.microsoft.com/office/drawing/2014/main" id="{CD92262F-C7F8-4117-8D03-5D578CFF7793}"/>
              </a:ext>
            </a:extLst>
          </p:cNvPr>
          <p:cNvSpPr>
            <a:spLocks noGrp="1"/>
          </p:cNvSpPr>
          <p:nvPr/>
        </p:nvSpPr>
        <p:spPr>
          <a:xfrm>
            <a:off x="346710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nginx</a:t>
            </a:r>
          </a:p>
        </p:txBody>
      </p:sp>
      <p:sp>
        <p:nvSpPr>
          <p:cNvPr id="16" name="native-79">
            <a:extLst>
              <a:ext uri="{FF2B5EF4-FFF2-40B4-BE49-F238E27FC236}">
                <a16:creationId xmlns:a16="http://schemas.microsoft.com/office/drawing/2014/main" id="{DB1F72C6-A418-4E37-89C0-4D2CE44F40E7}"/>
              </a:ext>
            </a:extLst>
          </p:cNvPr>
          <p:cNvSpPr>
            <a:spLocks noGrp="1"/>
          </p:cNvSpPr>
          <p:nvPr/>
        </p:nvSpPr>
        <p:spPr>
          <a:xfrm>
            <a:off x="346710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Admin reverse proxy</a:t>
            </a:r>
          </a:p>
        </p:txBody>
      </p:sp>
      <p:sp>
        <p:nvSpPr>
          <p:cNvPr id="17" name="native-80">
            <a:extLst>
              <a:ext uri="{FF2B5EF4-FFF2-40B4-BE49-F238E27FC236}">
                <a16:creationId xmlns:a16="http://schemas.microsoft.com/office/drawing/2014/main" id="{330C759E-B539-4DAA-825B-32D9619F0AA5}"/>
              </a:ext>
            </a:extLst>
          </p:cNvPr>
          <p:cNvSpPr>
            <a:spLocks noGrp="1"/>
          </p:cNvSpPr>
          <p:nvPr/>
        </p:nvSpPr>
        <p:spPr>
          <a:xfrm>
            <a:off x="4519613" y="2128838"/>
            <a:ext cx="9525" cy="9525"/>
          </a:xfrm>
          <a:prstGeom prst="rect">
            <a:avLst/>
          </a:prstGeom>
          <a:noFill/>
          <a:ln w="0">
            <a:noFill/>
          </a:ln>
        </p:spPr>
        <p:txBody>
          <a:bodyPr/>
          <a:lstStyle/>
          <a:p>
            <a:endParaRPr lang="en-US"/>
          </a:p>
        </p:txBody>
      </p:sp>
      <p:sp>
        <p:nvSpPr>
          <p:cNvPr id="18" name="native-81">
            <a:extLst>
              <a:ext uri="{FF2B5EF4-FFF2-40B4-BE49-F238E27FC236}">
                <a16:creationId xmlns:a16="http://schemas.microsoft.com/office/drawing/2014/main" id="{76EAFF94-4B26-4676-B569-6564204C3F8C}"/>
              </a:ext>
            </a:extLst>
          </p:cNvPr>
          <p:cNvSpPr>
            <a:spLocks noGrp="1"/>
          </p:cNvSpPr>
          <p:nvPr/>
        </p:nvSpPr>
        <p:spPr>
          <a:xfrm>
            <a:off x="4519613" y="5948363"/>
            <a:ext cx="9525" cy="9525"/>
          </a:xfrm>
          <a:prstGeom prst="rect">
            <a:avLst/>
          </a:prstGeom>
          <a:noFill/>
          <a:ln w="0">
            <a:noFill/>
          </a:ln>
        </p:spPr>
        <p:txBody>
          <a:bodyPr/>
          <a:lstStyle/>
          <a:p>
            <a:endParaRPr lang="en-US"/>
          </a:p>
        </p:txBody>
      </p:sp>
      <p:cxnSp>
        <p:nvCxnSpPr>
          <p:cNvPr id="90" name="Straight Arrow Connector 89"/>
          <p:cNvCxnSpPr>
            <a:stCxn id="17" idx="3"/>
            <a:endCxn id="18" idx="1"/>
          </p:cNvCxnSpPr>
          <p:nvPr/>
        </p:nvCxnSpPr>
        <p:spPr>
          <a:xfrm flipH="1">
            <a:off x="4519613" y="2133601"/>
            <a:ext cx="9525" cy="3819525"/>
          </a:xfrm>
          <a:prstGeom prst="straightConnector1">
            <a:avLst/>
          </a:prstGeom>
          <a:ln w="14288">
            <a:solidFill>
              <a:srgbClr val="B6C6D2"/>
            </a:solidFill>
            <a:prstDash val="dash"/>
          </a:ln>
        </p:spPr>
      </p:cxnSp>
      <p:sp>
        <p:nvSpPr>
          <p:cNvPr id="20" name="native-82">
            <a:extLst>
              <a:ext uri="{FF2B5EF4-FFF2-40B4-BE49-F238E27FC236}">
                <a16:creationId xmlns:a16="http://schemas.microsoft.com/office/drawing/2014/main" id="{786F83B5-0283-473E-8A72-9509F2A6CD40}"/>
              </a:ext>
            </a:extLst>
          </p:cNvPr>
          <p:cNvSpPr>
            <a:spLocks noGrp="1"/>
          </p:cNvSpPr>
          <p:nvPr/>
        </p:nvSpPr>
        <p:spPr>
          <a:xfrm>
            <a:off x="6477000" y="1485900"/>
            <a:ext cx="2381250" cy="647700"/>
          </a:xfrm>
          <a:prstGeom prst="rect">
            <a:avLst/>
          </a:prstGeom>
          <a:solidFill>
            <a:srgbClr val="E8EFF5"/>
          </a:solidFill>
          <a:ln w="9525">
            <a:solidFill>
              <a:srgbClr val="B6C6D2"/>
            </a:solidFill>
          </a:ln>
        </p:spPr>
        <p:txBody>
          <a:bodyPr/>
          <a:lstStyle/>
          <a:p>
            <a:endParaRPr lang="en-US"/>
          </a:p>
        </p:txBody>
      </p:sp>
      <p:sp>
        <p:nvSpPr>
          <p:cNvPr id="21" name="native-83">
            <a:extLst>
              <a:ext uri="{FF2B5EF4-FFF2-40B4-BE49-F238E27FC236}">
                <a16:creationId xmlns:a16="http://schemas.microsoft.com/office/drawing/2014/main" id="{3F27D6D9-6342-477B-898A-028B4678FB7C}"/>
              </a:ext>
            </a:extLst>
          </p:cNvPr>
          <p:cNvSpPr>
            <a:spLocks noGrp="1"/>
          </p:cNvSpPr>
          <p:nvPr/>
        </p:nvSpPr>
        <p:spPr>
          <a:xfrm>
            <a:off x="661035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Spring Boot</a:t>
            </a:r>
          </a:p>
        </p:txBody>
      </p:sp>
      <p:sp>
        <p:nvSpPr>
          <p:cNvPr id="22" name="native-84">
            <a:extLst>
              <a:ext uri="{FF2B5EF4-FFF2-40B4-BE49-F238E27FC236}">
                <a16:creationId xmlns:a16="http://schemas.microsoft.com/office/drawing/2014/main" id="{84974446-13A5-4880-A73A-8FEE895BBB6A}"/>
              </a:ext>
            </a:extLst>
          </p:cNvPr>
          <p:cNvSpPr>
            <a:spLocks noGrp="1"/>
          </p:cNvSpPr>
          <p:nvPr/>
        </p:nvSpPr>
        <p:spPr>
          <a:xfrm>
            <a:off x="661035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Auth + HAPI</a:t>
            </a:r>
          </a:p>
        </p:txBody>
      </p:sp>
      <p:sp>
        <p:nvSpPr>
          <p:cNvPr id="23" name="native-85">
            <a:extLst>
              <a:ext uri="{FF2B5EF4-FFF2-40B4-BE49-F238E27FC236}">
                <a16:creationId xmlns:a16="http://schemas.microsoft.com/office/drawing/2014/main" id="{B7ACCC6C-40D2-4E41-A0FB-11862C968662}"/>
              </a:ext>
            </a:extLst>
          </p:cNvPr>
          <p:cNvSpPr>
            <a:spLocks noGrp="1"/>
          </p:cNvSpPr>
          <p:nvPr/>
        </p:nvSpPr>
        <p:spPr>
          <a:xfrm>
            <a:off x="7662863" y="2128838"/>
            <a:ext cx="9525" cy="9525"/>
          </a:xfrm>
          <a:prstGeom prst="rect">
            <a:avLst/>
          </a:prstGeom>
          <a:noFill/>
          <a:ln w="0">
            <a:noFill/>
          </a:ln>
        </p:spPr>
        <p:txBody>
          <a:bodyPr/>
          <a:lstStyle/>
          <a:p>
            <a:endParaRPr lang="en-US"/>
          </a:p>
        </p:txBody>
      </p:sp>
      <p:sp>
        <p:nvSpPr>
          <p:cNvPr id="24" name="native-86">
            <a:extLst>
              <a:ext uri="{FF2B5EF4-FFF2-40B4-BE49-F238E27FC236}">
                <a16:creationId xmlns:a16="http://schemas.microsoft.com/office/drawing/2014/main" id="{C3F56CEE-EAA9-43EA-9A83-A28E5A7DDE88}"/>
              </a:ext>
            </a:extLst>
          </p:cNvPr>
          <p:cNvSpPr>
            <a:spLocks noGrp="1"/>
          </p:cNvSpPr>
          <p:nvPr/>
        </p:nvSpPr>
        <p:spPr>
          <a:xfrm>
            <a:off x="7662863" y="5948363"/>
            <a:ext cx="9525" cy="9525"/>
          </a:xfrm>
          <a:prstGeom prst="rect">
            <a:avLst/>
          </a:prstGeom>
          <a:noFill/>
          <a:ln w="0">
            <a:noFill/>
          </a:ln>
        </p:spPr>
        <p:txBody>
          <a:bodyPr/>
          <a:lstStyle/>
          <a:p>
            <a:endParaRPr lang="en-US"/>
          </a:p>
        </p:txBody>
      </p:sp>
      <p:cxnSp>
        <p:nvCxnSpPr>
          <p:cNvPr id="96" name="Straight Arrow Connector 95"/>
          <p:cNvCxnSpPr>
            <a:stCxn id="23" idx="3"/>
            <a:endCxn id="24" idx="1"/>
          </p:cNvCxnSpPr>
          <p:nvPr/>
        </p:nvCxnSpPr>
        <p:spPr>
          <a:xfrm flipH="1">
            <a:off x="7662863" y="2133601"/>
            <a:ext cx="9525" cy="3819525"/>
          </a:xfrm>
          <a:prstGeom prst="straightConnector1">
            <a:avLst/>
          </a:prstGeom>
          <a:ln w="14288">
            <a:solidFill>
              <a:srgbClr val="B6C6D2"/>
            </a:solidFill>
            <a:prstDash val="dash"/>
          </a:ln>
        </p:spPr>
      </p:cxnSp>
      <p:sp>
        <p:nvSpPr>
          <p:cNvPr id="26" name="native-87">
            <a:extLst>
              <a:ext uri="{FF2B5EF4-FFF2-40B4-BE49-F238E27FC236}">
                <a16:creationId xmlns:a16="http://schemas.microsoft.com/office/drawing/2014/main" id="{50EB8A4F-5BF8-492C-92CB-FD7E5DD33268}"/>
              </a:ext>
            </a:extLst>
          </p:cNvPr>
          <p:cNvSpPr>
            <a:spLocks noGrp="1"/>
          </p:cNvSpPr>
          <p:nvPr/>
        </p:nvSpPr>
        <p:spPr>
          <a:xfrm>
            <a:off x="9620250" y="1485900"/>
            <a:ext cx="2381250" cy="647700"/>
          </a:xfrm>
          <a:prstGeom prst="rect">
            <a:avLst/>
          </a:prstGeom>
          <a:solidFill>
            <a:srgbClr val="E8EFF5"/>
          </a:solidFill>
          <a:ln w="9525">
            <a:solidFill>
              <a:srgbClr val="B6C6D2"/>
            </a:solidFill>
          </a:ln>
        </p:spPr>
        <p:txBody>
          <a:bodyPr/>
          <a:lstStyle/>
          <a:p>
            <a:endParaRPr lang="en-US"/>
          </a:p>
        </p:txBody>
      </p:sp>
      <p:sp>
        <p:nvSpPr>
          <p:cNvPr id="27" name="native-88">
            <a:extLst>
              <a:ext uri="{FF2B5EF4-FFF2-40B4-BE49-F238E27FC236}">
                <a16:creationId xmlns:a16="http://schemas.microsoft.com/office/drawing/2014/main" id="{7FD7C6A7-695F-4727-985B-418007D06BFE}"/>
              </a:ext>
            </a:extLst>
          </p:cNvPr>
          <p:cNvSpPr>
            <a:spLocks noGrp="1"/>
          </p:cNvSpPr>
          <p:nvPr/>
        </p:nvSpPr>
        <p:spPr>
          <a:xfrm>
            <a:off x="975360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MongoDB</a:t>
            </a:r>
          </a:p>
        </p:txBody>
      </p:sp>
      <p:sp>
        <p:nvSpPr>
          <p:cNvPr id="28" name="native-89">
            <a:extLst>
              <a:ext uri="{FF2B5EF4-FFF2-40B4-BE49-F238E27FC236}">
                <a16:creationId xmlns:a16="http://schemas.microsoft.com/office/drawing/2014/main" id="{15CC8A7C-F5E0-434E-AF0C-0377C98C20AF}"/>
              </a:ext>
            </a:extLst>
          </p:cNvPr>
          <p:cNvSpPr>
            <a:spLocks noGrp="1"/>
          </p:cNvSpPr>
          <p:nvPr/>
        </p:nvSpPr>
        <p:spPr>
          <a:xfrm>
            <a:off x="975360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users + fhir_patient</a:t>
            </a:r>
          </a:p>
        </p:txBody>
      </p:sp>
      <p:sp>
        <p:nvSpPr>
          <p:cNvPr id="29" name="native-90">
            <a:extLst>
              <a:ext uri="{FF2B5EF4-FFF2-40B4-BE49-F238E27FC236}">
                <a16:creationId xmlns:a16="http://schemas.microsoft.com/office/drawing/2014/main" id="{102F5A90-4C29-401B-9FD9-A183EEB04AC4}"/>
              </a:ext>
            </a:extLst>
          </p:cNvPr>
          <p:cNvSpPr>
            <a:spLocks noGrp="1"/>
          </p:cNvSpPr>
          <p:nvPr/>
        </p:nvSpPr>
        <p:spPr>
          <a:xfrm>
            <a:off x="10806113" y="2128838"/>
            <a:ext cx="9525" cy="9525"/>
          </a:xfrm>
          <a:prstGeom prst="rect">
            <a:avLst/>
          </a:prstGeom>
          <a:noFill/>
          <a:ln w="0">
            <a:noFill/>
          </a:ln>
        </p:spPr>
        <p:txBody>
          <a:bodyPr/>
          <a:lstStyle/>
          <a:p>
            <a:endParaRPr lang="en-US"/>
          </a:p>
        </p:txBody>
      </p:sp>
      <p:sp>
        <p:nvSpPr>
          <p:cNvPr id="30" name="native-91">
            <a:extLst>
              <a:ext uri="{FF2B5EF4-FFF2-40B4-BE49-F238E27FC236}">
                <a16:creationId xmlns:a16="http://schemas.microsoft.com/office/drawing/2014/main" id="{5BFF07E6-25DB-448C-8D63-B257F60A3D0D}"/>
              </a:ext>
            </a:extLst>
          </p:cNvPr>
          <p:cNvSpPr>
            <a:spLocks noGrp="1"/>
          </p:cNvSpPr>
          <p:nvPr/>
        </p:nvSpPr>
        <p:spPr>
          <a:xfrm>
            <a:off x="10806113" y="5948363"/>
            <a:ext cx="9525" cy="9525"/>
          </a:xfrm>
          <a:prstGeom prst="rect">
            <a:avLst/>
          </a:prstGeom>
          <a:noFill/>
          <a:ln w="0">
            <a:noFill/>
          </a:ln>
        </p:spPr>
        <p:txBody>
          <a:bodyPr/>
          <a:lstStyle/>
          <a:p>
            <a:endParaRPr lang="en-US"/>
          </a:p>
        </p:txBody>
      </p:sp>
      <p:cxnSp>
        <p:nvCxnSpPr>
          <p:cNvPr id="102" name="Straight Arrow Connector 101"/>
          <p:cNvCxnSpPr>
            <a:stCxn id="29" idx="3"/>
            <a:endCxn id="30" idx="1"/>
          </p:cNvCxnSpPr>
          <p:nvPr/>
        </p:nvCxnSpPr>
        <p:spPr>
          <a:xfrm flipH="1">
            <a:off x="10806113" y="2133601"/>
            <a:ext cx="9525" cy="3819525"/>
          </a:xfrm>
          <a:prstGeom prst="straightConnector1">
            <a:avLst/>
          </a:prstGeom>
          <a:ln w="14288">
            <a:solidFill>
              <a:srgbClr val="B6C6D2"/>
            </a:solidFill>
            <a:prstDash val="dash"/>
          </a:ln>
        </p:spPr>
      </p:cxnSp>
      <p:sp>
        <p:nvSpPr>
          <p:cNvPr id="32" name="native-92">
            <a:extLst>
              <a:ext uri="{FF2B5EF4-FFF2-40B4-BE49-F238E27FC236}">
                <a16:creationId xmlns:a16="http://schemas.microsoft.com/office/drawing/2014/main" id="{CF09105D-AC44-45A2-994B-2E2CDEFB6452}"/>
              </a:ext>
            </a:extLst>
          </p:cNvPr>
          <p:cNvSpPr>
            <a:spLocks noGrp="1"/>
          </p:cNvSpPr>
          <p:nvPr/>
        </p:nvSpPr>
        <p:spPr>
          <a:xfrm>
            <a:off x="1376363" y="2538413"/>
            <a:ext cx="9525" cy="9525"/>
          </a:xfrm>
          <a:prstGeom prst="rect">
            <a:avLst/>
          </a:prstGeom>
          <a:noFill/>
          <a:ln w="0">
            <a:noFill/>
          </a:ln>
        </p:spPr>
        <p:txBody>
          <a:bodyPr/>
          <a:lstStyle/>
          <a:p>
            <a:endParaRPr lang="en-US"/>
          </a:p>
        </p:txBody>
      </p:sp>
      <p:sp>
        <p:nvSpPr>
          <p:cNvPr id="33" name="native-93">
            <a:extLst>
              <a:ext uri="{FF2B5EF4-FFF2-40B4-BE49-F238E27FC236}">
                <a16:creationId xmlns:a16="http://schemas.microsoft.com/office/drawing/2014/main" id="{41CA659C-D33D-458F-B3A7-F431853B7A85}"/>
              </a:ext>
            </a:extLst>
          </p:cNvPr>
          <p:cNvSpPr>
            <a:spLocks noGrp="1"/>
          </p:cNvSpPr>
          <p:nvPr/>
        </p:nvSpPr>
        <p:spPr>
          <a:xfrm>
            <a:off x="4519613" y="2538413"/>
            <a:ext cx="9525" cy="9525"/>
          </a:xfrm>
          <a:prstGeom prst="rect">
            <a:avLst/>
          </a:prstGeom>
          <a:noFill/>
          <a:ln w="0">
            <a:noFill/>
          </a:ln>
        </p:spPr>
        <p:txBody>
          <a:bodyPr/>
          <a:lstStyle/>
          <a:p>
            <a:endParaRPr lang="en-US"/>
          </a:p>
        </p:txBody>
      </p:sp>
      <p:cxnSp>
        <p:nvCxnSpPr>
          <p:cNvPr id="105" name="Straight Arrow Connector 104"/>
          <p:cNvCxnSpPr>
            <a:stCxn id="32" idx="3"/>
            <a:endCxn id="33" idx="1"/>
          </p:cNvCxnSpPr>
          <p:nvPr/>
        </p:nvCxnSpPr>
        <p:spPr>
          <a:xfrm>
            <a:off x="1385888" y="2543176"/>
            <a:ext cx="3133725" cy="0"/>
          </a:xfrm>
          <a:prstGeom prst="straightConnector1">
            <a:avLst/>
          </a:prstGeom>
          <a:ln w="19050">
            <a:solidFill>
              <a:srgbClr val="0F8B8D"/>
            </a:solidFill>
            <a:prstDash val="solid"/>
            <a:tailEnd type="triangle" w="med" len="med"/>
          </a:ln>
        </p:spPr>
      </p:cxnSp>
      <p:sp>
        <p:nvSpPr>
          <p:cNvPr id="35" name="native-94">
            <a:extLst>
              <a:ext uri="{FF2B5EF4-FFF2-40B4-BE49-F238E27FC236}">
                <a16:creationId xmlns:a16="http://schemas.microsoft.com/office/drawing/2014/main" id="{5FD6704E-0C7A-4380-937B-B6CBD9DAFCFB}"/>
              </a:ext>
            </a:extLst>
          </p:cNvPr>
          <p:cNvSpPr>
            <a:spLocks noGrp="1"/>
          </p:cNvSpPr>
          <p:nvPr/>
        </p:nvSpPr>
        <p:spPr>
          <a:xfrm>
            <a:off x="1476375" y="227647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POST /api/auth/login</a:t>
            </a:r>
          </a:p>
        </p:txBody>
      </p:sp>
      <p:sp>
        <p:nvSpPr>
          <p:cNvPr id="36" name="native-95">
            <a:extLst>
              <a:ext uri="{FF2B5EF4-FFF2-40B4-BE49-F238E27FC236}">
                <a16:creationId xmlns:a16="http://schemas.microsoft.com/office/drawing/2014/main" id="{C84AE416-EEF7-454F-A2F2-F4A64B5EED95}"/>
              </a:ext>
            </a:extLst>
          </p:cNvPr>
          <p:cNvSpPr>
            <a:spLocks noGrp="1"/>
          </p:cNvSpPr>
          <p:nvPr/>
        </p:nvSpPr>
        <p:spPr>
          <a:xfrm>
            <a:off x="4519613" y="2862263"/>
            <a:ext cx="9525" cy="9525"/>
          </a:xfrm>
          <a:prstGeom prst="rect">
            <a:avLst/>
          </a:prstGeom>
          <a:noFill/>
          <a:ln w="0">
            <a:noFill/>
          </a:ln>
        </p:spPr>
        <p:txBody>
          <a:bodyPr/>
          <a:lstStyle/>
          <a:p>
            <a:endParaRPr lang="en-US"/>
          </a:p>
        </p:txBody>
      </p:sp>
      <p:sp>
        <p:nvSpPr>
          <p:cNvPr id="37" name="native-96">
            <a:extLst>
              <a:ext uri="{FF2B5EF4-FFF2-40B4-BE49-F238E27FC236}">
                <a16:creationId xmlns:a16="http://schemas.microsoft.com/office/drawing/2014/main" id="{C903D44E-7601-43E8-8480-797AD64D92A7}"/>
              </a:ext>
            </a:extLst>
          </p:cNvPr>
          <p:cNvSpPr>
            <a:spLocks noGrp="1"/>
          </p:cNvSpPr>
          <p:nvPr/>
        </p:nvSpPr>
        <p:spPr>
          <a:xfrm>
            <a:off x="7662863" y="2862263"/>
            <a:ext cx="9525" cy="9525"/>
          </a:xfrm>
          <a:prstGeom prst="rect">
            <a:avLst/>
          </a:prstGeom>
          <a:noFill/>
          <a:ln w="0">
            <a:noFill/>
          </a:ln>
        </p:spPr>
        <p:txBody>
          <a:bodyPr/>
          <a:lstStyle/>
          <a:p>
            <a:endParaRPr lang="en-US"/>
          </a:p>
        </p:txBody>
      </p:sp>
      <p:cxnSp>
        <p:nvCxnSpPr>
          <p:cNvPr id="109" name="Straight Arrow Connector 108"/>
          <p:cNvCxnSpPr>
            <a:stCxn id="36" idx="3"/>
            <a:endCxn id="37" idx="1"/>
          </p:cNvCxnSpPr>
          <p:nvPr/>
        </p:nvCxnSpPr>
        <p:spPr>
          <a:xfrm>
            <a:off x="4529138" y="2867026"/>
            <a:ext cx="3133725" cy="0"/>
          </a:xfrm>
          <a:prstGeom prst="straightConnector1">
            <a:avLst/>
          </a:prstGeom>
          <a:ln w="19050">
            <a:solidFill>
              <a:srgbClr val="0F8B8D"/>
            </a:solidFill>
            <a:prstDash val="solid"/>
            <a:tailEnd type="triangle" w="med" len="med"/>
          </a:ln>
        </p:spPr>
      </p:cxnSp>
      <p:sp>
        <p:nvSpPr>
          <p:cNvPr id="39" name="native-97">
            <a:extLst>
              <a:ext uri="{FF2B5EF4-FFF2-40B4-BE49-F238E27FC236}">
                <a16:creationId xmlns:a16="http://schemas.microsoft.com/office/drawing/2014/main" id="{78F43FFF-38C1-48FE-8263-3AE080663308}"/>
              </a:ext>
            </a:extLst>
          </p:cNvPr>
          <p:cNvSpPr>
            <a:spLocks noGrp="1"/>
          </p:cNvSpPr>
          <p:nvPr/>
        </p:nvSpPr>
        <p:spPr>
          <a:xfrm>
            <a:off x="4619625" y="260032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Forward login, Origin cleared</a:t>
            </a:r>
          </a:p>
        </p:txBody>
      </p:sp>
      <p:sp>
        <p:nvSpPr>
          <p:cNvPr id="40" name="native-98">
            <a:extLst>
              <a:ext uri="{FF2B5EF4-FFF2-40B4-BE49-F238E27FC236}">
                <a16:creationId xmlns:a16="http://schemas.microsoft.com/office/drawing/2014/main" id="{087978F7-393E-4A3E-8AE9-64B60ECFFDC7}"/>
              </a:ext>
            </a:extLst>
          </p:cNvPr>
          <p:cNvSpPr>
            <a:spLocks noGrp="1"/>
          </p:cNvSpPr>
          <p:nvPr/>
        </p:nvSpPr>
        <p:spPr>
          <a:xfrm>
            <a:off x="7662863" y="3186113"/>
            <a:ext cx="9525" cy="9525"/>
          </a:xfrm>
          <a:prstGeom prst="rect">
            <a:avLst/>
          </a:prstGeom>
          <a:noFill/>
          <a:ln w="0">
            <a:noFill/>
          </a:ln>
        </p:spPr>
        <p:txBody>
          <a:bodyPr/>
          <a:lstStyle/>
          <a:p>
            <a:endParaRPr lang="en-US"/>
          </a:p>
        </p:txBody>
      </p:sp>
      <p:sp>
        <p:nvSpPr>
          <p:cNvPr id="41" name="native-99">
            <a:extLst>
              <a:ext uri="{FF2B5EF4-FFF2-40B4-BE49-F238E27FC236}">
                <a16:creationId xmlns:a16="http://schemas.microsoft.com/office/drawing/2014/main" id="{664BBB57-1116-4881-93E4-C2FA2DBD455B}"/>
              </a:ext>
            </a:extLst>
          </p:cNvPr>
          <p:cNvSpPr>
            <a:spLocks noGrp="1"/>
          </p:cNvSpPr>
          <p:nvPr/>
        </p:nvSpPr>
        <p:spPr>
          <a:xfrm>
            <a:off x="10806113" y="3186113"/>
            <a:ext cx="9525" cy="9525"/>
          </a:xfrm>
          <a:prstGeom prst="rect">
            <a:avLst/>
          </a:prstGeom>
          <a:noFill/>
          <a:ln w="0">
            <a:noFill/>
          </a:ln>
        </p:spPr>
        <p:txBody>
          <a:bodyPr/>
          <a:lstStyle/>
          <a:p>
            <a:endParaRPr lang="en-US"/>
          </a:p>
        </p:txBody>
      </p:sp>
      <p:cxnSp>
        <p:nvCxnSpPr>
          <p:cNvPr id="113" name="Straight Arrow Connector 112"/>
          <p:cNvCxnSpPr>
            <a:stCxn id="40" idx="3"/>
            <a:endCxn id="41" idx="1"/>
          </p:cNvCxnSpPr>
          <p:nvPr/>
        </p:nvCxnSpPr>
        <p:spPr>
          <a:xfrm>
            <a:off x="7672388" y="3190876"/>
            <a:ext cx="3133725" cy="0"/>
          </a:xfrm>
          <a:prstGeom prst="straightConnector1">
            <a:avLst/>
          </a:prstGeom>
          <a:ln w="19050">
            <a:solidFill>
              <a:srgbClr val="0F8B8D"/>
            </a:solidFill>
            <a:prstDash val="solid"/>
            <a:tailEnd type="triangle" w="med" len="med"/>
          </a:ln>
        </p:spPr>
      </p:cxnSp>
      <p:sp>
        <p:nvSpPr>
          <p:cNvPr id="43" name="native-100">
            <a:extLst>
              <a:ext uri="{FF2B5EF4-FFF2-40B4-BE49-F238E27FC236}">
                <a16:creationId xmlns:a16="http://schemas.microsoft.com/office/drawing/2014/main" id="{27AF4266-246C-4E28-BE9C-09C3A4647B52}"/>
              </a:ext>
            </a:extLst>
          </p:cNvPr>
          <p:cNvSpPr>
            <a:spLocks noGrp="1"/>
          </p:cNvSpPr>
          <p:nvPr/>
        </p:nvSpPr>
        <p:spPr>
          <a:xfrm>
            <a:off x="7762875" y="292417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Find user by username</a:t>
            </a:r>
          </a:p>
        </p:txBody>
      </p:sp>
      <p:sp>
        <p:nvSpPr>
          <p:cNvPr id="44" name="native-101">
            <a:extLst>
              <a:ext uri="{FF2B5EF4-FFF2-40B4-BE49-F238E27FC236}">
                <a16:creationId xmlns:a16="http://schemas.microsoft.com/office/drawing/2014/main" id="{0FFF6AEF-3441-4879-8EE6-61FE824AFCAA}"/>
              </a:ext>
            </a:extLst>
          </p:cNvPr>
          <p:cNvSpPr>
            <a:spLocks noGrp="1"/>
          </p:cNvSpPr>
          <p:nvPr/>
        </p:nvSpPr>
        <p:spPr>
          <a:xfrm>
            <a:off x="10806113" y="3509963"/>
            <a:ext cx="9525" cy="9525"/>
          </a:xfrm>
          <a:prstGeom prst="rect">
            <a:avLst/>
          </a:prstGeom>
          <a:noFill/>
          <a:ln w="0">
            <a:noFill/>
          </a:ln>
        </p:spPr>
        <p:txBody>
          <a:bodyPr/>
          <a:lstStyle/>
          <a:p>
            <a:endParaRPr lang="en-US"/>
          </a:p>
        </p:txBody>
      </p:sp>
      <p:sp>
        <p:nvSpPr>
          <p:cNvPr id="45" name="native-102">
            <a:extLst>
              <a:ext uri="{FF2B5EF4-FFF2-40B4-BE49-F238E27FC236}">
                <a16:creationId xmlns:a16="http://schemas.microsoft.com/office/drawing/2014/main" id="{82CFD837-C0AF-4C80-8E43-220DD09D19A1}"/>
              </a:ext>
            </a:extLst>
          </p:cNvPr>
          <p:cNvSpPr>
            <a:spLocks noGrp="1"/>
          </p:cNvSpPr>
          <p:nvPr/>
        </p:nvSpPr>
        <p:spPr>
          <a:xfrm>
            <a:off x="7662863" y="3509963"/>
            <a:ext cx="9525" cy="9525"/>
          </a:xfrm>
          <a:prstGeom prst="rect">
            <a:avLst/>
          </a:prstGeom>
          <a:noFill/>
          <a:ln w="0">
            <a:noFill/>
          </a:ln>
        </p:spPr>
        <p:txBody>
          <a:bodyPr/>
          <a:lstStyle/>
          <a:p>
            <a:endParaRPr lang="en-US"/>
          </a:p>
        </p:txBody>
      </p:sp>
      <p:cxnSp>
        <p:nvCxnSpPr>
          <p:cNvPr id="117" name="Straight Arrow Connector 116"/>
          <p:cNvCxnSpPr>
            <a:stCxn id="44" idx="3"/>
            <a:endCxn id="45" idx="1"/>
          </p:cNvCxnSpPr>
          <p:nvPr/>
        </p:nvCxnSpPr>
        <p:spPr>
          <a:xfrm flipH="1">
            <a:off x="7662863" y="3514726"/>
            <a:ext cx="3152775" cy="0"/>
          </a:xfrm>
          <a:prstGeom prst="straightConnector1">
            <a:avLst/>
          </a:prstGeom>
          <a:ln w="19050">
            <a:solidFill>
              <a:srgbClr val="3478B9"/>
            </a:solidFill>
            <a:prstDash val="dash"/>
            <a:tailEnd type="triangle" w="med" len="med"/>
          </a:ln>
        </p:spPr>
      </p:cxnSp>
      <p:sp>
        <p:nvSpPr>
          <p:cNvPr id="47" name="native-103">
            <a:extLst>
              <a:ext uri="{FF2B5EF4-FFF2-40B4-BE49-F238E27FC236}">
                <a16:creationId xmlns:a16="http://schemas.microsoft.com/office/drawing/2014/main" id="{F58C770F-BB42-4D88-82AA-788AFDE63890}"/>
              </a:ext>
            </a:extLst>
          </p:cNvPr>
          <p:cNvSpPr>
            <a:spLocks noGrp="1"/>
          </p:cNvSpPr>
          <p:nvPr/>
        </p:nvSpPr>
        <p:spPr>
          <a:xfrm>
            <a:off x="7762875" y="3248025"/>
            <a:ext cx="295275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User with BCrypt hash</a:t>
            </a:r>
          </a:p>
        </p:txBody>
      </p:sp>
      <p:sp>
        <p:nvSpPr>
          <p:cNvPr id="48" name="native-104">
            <a:extLst>
              <a:ext uri="{FF2B5EF4-FFF2-40B4-BE49-F238E27FC236}">
                <a16:creationId xmlns:a16="http://schemas.microsoft.com/office/drawing/2014/main" id="{606CDD1F-B93A-47BC-B316-607F29390AC9}"/>
              </a:ext>
            </a:extLst>
          </p:cNvPr>
          <p:cNvSpPr>
            <a:spLocks noGrp="1"/>
          </p:cNvSpPr>
          <p:nvPr/>
        </p:nvSpPr>
        <p:spPr>
          <a:xfrm>
            <a:off x="7662863" y="3833813"/>
            <a:ext cx="9525" cy="9525"/>
          </a:xfrm>
          <a:prstGeom prst="rect">
            <a:avLst/>
          </a:prstGeom>
          <a:noFill/>
          <a:ln w="0">
            <a:noFill/>
          </a:ln>
        </p:spPr>
        <p:txBody>
          <a:bodyPr/>
          <a:lstStyle/>
          <a:p>
            <a:endParaRPr lang="en-US"/>
          </a:p>
        </p:txBody>
      </p:sp>
      <p:sp>
        <p:nvSpPr>
          <p:cNvPr id="49" name="native-105">
            <a:extLst>
              <a:ext uri="{FF2B5EF4-FFF2-40B4-BE49-F238E27FC236}">
                <a16:creationId xmlns:a16="http://schemas.microsoft.com/office/drawing/2014/main" id="{364187DB-08BA-43D5-831E-78656B7F0B35}"/>
              </a:ext>
            </a:extLst>
          </p:cNvPr>
          <p:cNvSpPr>
            <a:spLocks noGrp="1"/>
          </p:cNvSpPr>
          <p:nvPr/>
        </p:nvSpPr>
        <p:spPr>
          <a:xfrm>
            <a:off x="1376363" y="3833813"/>
            <a:ext cx="9525" cy="9525"/>
          </a:xfrm>
          <a:prstGeom prst="rect">
            <a:avLst/>
          </a:prstGeom>
          <a:noFill/>
          <a:ln w="0">
            <a:noFill/>
          </a:ln>
        </p:spPr>
        <p:txBody>
          <a:bodyPr/>
          <a:lstStyle/>
          <a:p>
            <a:endParaRPr lang="en-US"/>
          </a:p>
        </p:txBody>
      </p:sp>
      <p:cxnSp>
        <p:nvCxnSpPr>
          <p:cNvPr id="121" name="Straight Arrow Connector 120"/>
          <p:cNvCxnSpPr>
            <a:stCxn id="48" idx="3"/>
            <a:endCxn id="49" idx="1"/>
          </p:cNvCxnSpPr>
          <p:nvPr/>
        </p:nvCxnSpPr>
        <p:spPr>
          <a:xfrm flipH="1">
            <a:off x="1376363" y="3838576"/>
            <a:ext cx="6296025" cy="0"/>
          </a:xfrm>
          <a:prstGeom prst="straightConnector1">
            <a:avLst/>
          </a:prstGeom>
          <a:ln w="19050">
            <a:solidFill>
              <a:srgbClr val="3478B9"/>
            </a:solidFill>
            <a:prstDash val="dash"/>
            <a:tailEnd type="triangle" w="med" len="med"/>
          </a:ln>
        </p:spPr>
      </p:cxnSp>
      <p:sp>
        <p:nvSpPr>
          <p:cNvPr id="51" name="native-106">
            <a:extLst>
              <a:ext uri="{FF2B5EF4-FFF2-40B4-BE49-F238E27FC236}">
                <a16:creationId xmlns:a16="http://schemas.microsoft.com/office/drawing/2014/main" id="{ABF34AE7-5DDA-42E4-A2FA-797C080165EF}"/>
              </a:ext>
            </a:extLst>
          </p:cNvPr>
          <p:cNvSpPr>
            <a:spLocks noGrp="1"/>
          </p:cNvSpPr>
          <p:nvPr/>
        </p:nvSpPr>
        <p:spPr>
          <a:xfrm>
            <a:off x="1476375" y="3571875"/>
            <a:ext cx="609600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Verify password, return JWT</a:t>
            </a:r>
          </a:p>
        </p:txBody>
      </p:sp>
      <p:sp>
        <p:nvSpPr>
          <p:cNvPr id="52" name="native-107">
            <a:extLst>
              <a:ext uri="{FF2B5EF4-FFF2-40B4-BE49-F238E27FC236}">
                <a16:creationId xmlns:a16="http://schemas.microsoft.com/office/drawing/2014/main" id="{B73A66DC-8497-428A-AFDF-32C39544EE0F}"/>
              </a:ext>
            </a:extLst>
          </p:cNvPr>
          <p:cNvSpPr>
            <a:spLocks noGrp="1"/>
          </p:cNvSpPr>
          <p:nvPr/>
        </p:nvSpPr>
        <p:spPr>
          <a:xfrm>
            <a:off x="1376363" y="4157663"/>
            <a:ext cx="9525" cy="9525"/>
          </a:xfrm>
          <a:prstGeom prst="rect">
            <a:avLst/>
          </a:prstGeom>
          <a:noFill/>
          <a:ln w="0">
            <a:noFill/>
          </a:ln>
        </p:spPr>
        <p:txBody>
          <a:bodyPr/>
          <a:lstStyle/>
          <a:p>
            <a:endParaRPr lang="en-US"/>
          </a:p>
        </p:txBody>
      </p:sp>
      <p:sp>
        <p:nvSpPr>
          <p:cNvPr id="53" name="native-108">
            <a:extLst>
              <a:ext uri="{FF2B5EF4-FFF2-40B4-BE49-F238E27FC236}">
                <a16:creationId xmlns:a16="http://schemas.microsoft.com/office/drawing/2014/main" id="{D6BDC125-14F8-46E3-89EF-88B9C4D6D342}"/>
              </a:ext>
            </a:extLst>
          </p:cNvPr>
          <p:cNvSpPr>
            <a:spLocks noGrp="1"/>
          </p:cNvSpPr>
          <p:nvPr/>
        </p:nvSpPr>
        <p:spPr>
          <a:xfrm>
            <a:off x="4519613" y="4157663"/>
            <a:ext cx="9525" cy="9525"/>
          </a:xfrm>
          <a:prstGeom prst="rect">
            <a:avLst/>
          </a:prstGeom>
          <a:noFill/>
          <a:ln w="0">
            <a:noFill/>
          </a:ln>
        </p:spPr>
        <p:txBody>
          <a:bodyPr/>
          <a:lstStyle/>
          <a:p>
            <a:endParaRPr lang="en-US"/>
          </a:p>
        </p:txBody>
      </p:sp>
      <p:cxnSp>
        <p:nvCxnSpPr>
          <p:cNvPr id="125" name="Straight Arrow Connector 124"/>
          <p:cNvCxnSpPr>
            <a:stCxn id="52" idx="3"/>
            <a:endCxn id="53" idx="1"/>
          </p:cNvCxnSpPr>
          <p:nvPr/>
        </p:nvCxnSpPr>
        <p:spPr>
          <a:xfrm>
            <a:off x="1385888" y="4162426"/>
            <a:ext cx="3133725" cy="0"/>
          </a:xfrm>
          <a:prstGeom prst="straightConnector1">
            <a:avLst/>
          </a:prstGeom>
          <a:ln w="19050">
            <a:solidFill>
              <a:srgbClr val="0F8B8D"/>
            </a:solidFill>
            <a:prstDash val="solid"/>
            <a:tailEnd type="triangle" w="med" len="med"/>
          </a:ln>
        </p:spPr>
      </p:cxnSp>
      <p:sp>
        <p:nvSpPr>
          <p:cNvPr id="55" name="native-109">
            <a:extLst>
              <a:ext uri="{FF2B5EF4-FFF2-40B4-BE49-F238E27FC236}">
                <a16:creationId xmlns:a16="http://schemas.microsoft.com/office/drawing/2014/main" id="{223E65F6-1E07-4CDB-9908-D0BA252BCB82}"/>
              </a:ext>
            </a:extLst>
          </p:cNvPr>
          <p:cNvSpPr>
            <a:spLocks noGrp="1"/>
          </p:cNvSpPr>
          <p:nvPr/>
        </p:nvSpPr>
        <p:spPr>
          <a:xfrm>
            <a:off x="1476375" y="389572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GET /fhir/Patient?name=Smith</a:t>
            </a:r>
          </a:p>
        </p:txBody>
      </p:sp>
      <p:sp>
        <p:nvSpPr>
          <p:cNvPr id="56" name="native-110">
            <a:extLst>
              <a:ext uri="{FF2B5EF4-FFF2-40B4-BE49-F238E27FC236}">
                <a16:creationId xmlns:a16="http://schemas.microsoft.com/office/drawing/2014/main" id="{086A0A25-A960-46C2-8E43-EDD7153FAF7C}"/>
              </a:ext>
            </a:extLst>
          </p:cNvPr>
          <p:cNvSpPr>
            <a:spLocks noGrp="1"/>
          </p:cNvSpPr>
          <p:nvPr/>
        </p:nvSpPr>
        <p:spPr>
          <a:xfrm>
            <a:off x="4519613" y="4481513"/>
            <a:ext cx="9525" cy="9525"/>
          </a:xfrm>
          <a:prstGeom prst="rect">
            <a:avLst/>
          </a:prstGeom>
          <a:noFill/>
          <a:ln w="0">
            <a:noFill/>
          </a:ln>
        </p:spPr>
        <p:txBody>
          <a:bodyPr/>
          <a:lstStyle/>
          <a:p>
            <a:endParaRPr lang="en-US"/>
          </a:p>
        </p:txBody>
      </p:sp>
      <p:sp>
        <p:nvSpPr>
          <p:cNvPr id="57" name="native-111">
            <a:extLst>
              <a:ext uri="{FF2B5EF4-FFF2-40B4-BE49-F238E27FC236}">
                <a16:creationId xmlns:a16="http://schemas.microsoft.com/office/drawing/2014/main" id="{FCC6AA88-24F6-4D77-95A9-B7B5C919F17A}"/>
              </a:ext>
            </a:extLst>
          </p:cNvPr>
          <p:cNvSpPr>
            <a:spLocks noGrp="1"/>
          </p:cNvSpPr>
          <p:nvPr/>
        </p:nvSpPr>
        <p:spPr>
          <a:xfrm>
            <a:off x="7662863" y="4481513"/>
            <a:ext cx="9525" cy="9525"/>
          </a:xfrm>
          <a:prstGeom prst="rect">
            <a:avLst/>
          </a:prstGeom>
          <a:noFill/>
          <a:ln w="0">
            <a:noFill/>
          </a:ln>
        </p:spPr>
        <p:txBody>
          <a:bodyPr/>
          <a:lstStyle/>
          <a:p>
            <a:endParaRPr lang="en-US"/>
          </a:p>
        </p:txBody>
      </p:sp>
      <p:cxnSp>
        <p:nvCxnSpPr>
          <p:cNvPr id="129" name="Straight Arrow Connector 128"/>
          <p:cNvCxnSpPr>
            <a:stCxn id="56" idx="3"/>
            <a:endCxn id="57" idx="1"/>
          </p:cNvCxnSpPr>
          <p:nvPr/>
        </p:nvCxnSpPr>
        <p:spPr>
          <a:xfrm>
            <a:off x="4529138" y="4486276"/>
            <a:ext cx="3133725" cy="0"/>
          </a:xfrm>
          <a:prstGeom prst="straightConnector1">
            <a:avLst/>
          </a:prstGeom>
          <a:ln w="19050">
            <a:solidFill>
              <a:srgbClr val="0F8B8D"/>
            </a:solidFill>
            <a:prstDash val="solid"/>
            <a:tailEnd type="triangle" w="med" len="med"/>
          </a:ln>
        </p:spPr>
      </p:cxnSp>
      <p:sp>
        <p:nvSpPr>
          <p:cNvPr id="59" name="native-112">
            <a:extLst>
              <a:ext uri="{FF2B5EF4-FFF2-40B4-BE49-F238E27FC236}">
                <a16:creationId xmlns:a16="http://schemas.microsoft.com/office/drawing/2014/main" id="{2BD686C9-83EF-4C60-82F3-396190D71B5F}"/>
              </a:ext>
            </a:extLst>
          </p:cNvPr>
          <p:cNvSpPr>
            <a:spLocks noGrp="1"/>
          </p:cNvSpPr>
          <p:nvPr/>
        </p:nvSpPr>
        <p:spPr>
          <a:xfrm>
            <a:off x="4619625" y="421957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Forward FHIR request</a:t>
            </a:r>
          </a:p>
        </p:txBody>
      </p:sp>
      <p:sp>
        <p:nvSpPr>
          <p:cNvPr id="60" name="native-113">
            <a:extLst>
              <a:ext uri="{FF2B5EF4-FFF2-40B4-BE49-F238E27FC236}">
                <a16:creationId xmlns:a16="http://schemas.microsoft.com/office/drawing/2014/main" id="{6FC9C237-F7CC-42F3-8E75-0EC3416DEA47}"/>
              </a:ext>
            </a:extLst>
          </p:cNvPr>
          <p:cNvSpPr>
            <a:spLocks noGrp="1"/>
          </p:cNvSpPr>
          <p:nvPr/>
        </p:nvSpPr>
        <p:spPr>
          <a:xfrm>
            <a:off x="7662863" y="4805363"/>
            <a:ext cx="9525" cy="9525"/>
          </a:xfrm>
          <a:prstGeom prst="rect">
            <a:avLst/>
          </a:prstGeom>
          <a:noFill/>
          <a:ln w="0">
            <a:noFill/>
          </a:ln>
        </p:spPr>
        <p:txBody>
          <a:bodyPr/>
          <a:lstStyle/>
          <a:p>
            <a:endParaRPr lang="en-US"/>
          </a:p>
        </p:txBody>
      </p:sp>
      <p:sp>
        <p:nvSpPr>
          <p:cNvPr id="61" name="native-114">
            <a:extLst>
              <a:ext uri="{FF2B5EF4-FFF2-40B4-BE49-F238E27FC236}">
                <a16:creationId xmlns:a16="http://schemas.microsoft.com/office/drawing/2014/main" id="{2147D351-0D89-4E27-92A6-0254B42B9F80}"/>
              </a:ext>
            </a:extLst>
          </p:cNvPr>
          <p:cNvSpPr>
            <a:spLocks noGrp="1"/>
          </p:cNvSpPr>
          <p:nvPr/>
        </p:nvSpPr>
        <p:spPr>
          <a:xfrm>
            <a:off x="10806113" y="4805363"/>
            <a:ext cx="9525" cy="9525"/>
          </a:xfrm>
          <a:prstGeom prst="rect">
            <a:avLst/>
          </a:prstGeom>
          <a:noFill/>
          <a:ln w="0">
            <a:noFill/>
          </a:ln>
        </p:spPr>
        <p:txBody>
          <a:bodyPr/>
          <a:lstStyle/>
          <a:p>
            <a:endParaRPr lang="en-US"/>
          </a:p>
        </p:txBody>
      </p:sp>
      <p:cxnSp>
        <p:nvCxnSpPr>
          <p:cNvPr id="133" name="Straight Arrow Connector 132"/>
          <p:cNvCxnSpPr>
            <a:stCxn id="60" idx="3"/>
            <a:endCxn id="61" idx="1"/>
          </p:cNvCxnSpPr>
          <p:nvPr/>
        </p:nvCxnSpPr>
        <p:spPr>
          <a:xfrm>
            <a:off x="7672388" y="4810126"/>
            <a:ext cx="3133725" cy="0"/>
          </a:xfrm>
          <a:prstGeom prst="straightConnector1">
            <a:avLst/>
          </a:prstGeom>
          <a:ln w="19050">
            <a:solidFill>
              <a:srgbClr val="0F8B8D"/>
            </a:solidFill>
            <a:prstDash val="solid"/>
            <a:tailEnd type="triangle" w="med" len="med"/>
          </a:ln>
        </p:spPr>
      </p:cxnSp>
      <p:sp>
        <p:nvSpPr>
          <p:cNvPr id="63" name="native-115">
            <a:extLst>
              <a:ext uri="{FF2B5EF4-FFF2-40B4-BE49-F238E27FC236}">
                <a16:creationId xmlns:a16="http://schemas.microsoft.com/office/drawing/2014/main" id="{D60EE660-232C-46AE-8A30-D4C73C133690}"/>
              </a:ext>
            </a:extLst>
          </p:cNvPr>
          <p:cNvSpPr>
            <a:spLocks noGrp="1"/>
          </p:cNvSpPr>
          <p:nvPr/>
        </p:nvSpPr>
        <p:spPr>
          <a:xfrm>
            <a:off x="7762875" y="454342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Query fhir_patient</a:t>
            </a:r>
          </a:p>
        </p:txBody>
      </p:sp>
      <p:sp>
        <p:nvSpPr>
          <p:cNvPr id="64" name="native-116">
            <a:extLst>
              <a:ext uri="{FF2B5EF4-FFF2-40B4-BE49-F238E27FC236}">
                <a16:creationId xmlns:a16="http://schemas.microsoft.com/office/drawing/2014/main" id="{96420C8A-3AE1-4B50-9EF7-39799672C9E9}"/>
              </a:ext>
            </a:extLst>
          </p:cNvPr>
          <p:cNvSpPr>
            <a:spLocks noGrp="1"/>
          </p:cNvSpPr>
          <p:nvPr/>
        </p:nvSpPr>
        <p:spPr>
          <a:xfrm>
            <a:off x="10806113" y="5129213"/>
            <a:ext cx="9525" cy="9525"/>
          </a:xfrm>
          <a:prstGeom prst="rect">
            <a:avLst/>
          </a:prstGeom>
          <a:noFill/>
          <a:ln w="0">
            <a:noFill/>
          </a:ln>
        </p:spPr>
        <p:txBody>
          <a:bodyPr/>
          <a:lstStyle/>
          <a:p>
            <a:endParaRPr lang="en-US"/>
          </a:p>
        </p:txBody>
      </p:sp>
      <p:sp>
        <p:nvSpPr>
          <p:cNvPr id="65" name="native-117">
            <a:extLst>
              <a:ext uri="{FF2B5EF4-FFF2-40B4-BE49-F238E27FC236}">
                <a16:creationId xmlns:a16="http://schemas.microsoft.com/office/drawing/2014/main" id="{366603C8-3CAC-4F1D-BFF8-02E2D56FA422}"/>
              </a:ext>
            </a:extLst>
          </p:cNvPr>
          <p:cNvSpPr>
            <a:spLocks noGrp="1"/>
          </p:cNvSpPr>
          <p:nvPr/>
        </p:nvSpPr>
        <p:spPr>
          <a:xfrm>
            <a:off x="7662863" y="5129213"/>
            <a:ext cx="9525" cy="9525"/>
          </a:xfrm>
          <a:prstGeom prst="rect">
            <a:avLst/>
          </a:prstGeom>
          <a:noFill/>
          <a:ln w="0">
            <a:noFill/>
          </a:ln>
        </p:spPr>
        <p:txBody>
          <a:bodyPr/>
          <a:lstStyle/>
          <a:p>
            <a:endParaRPr lang="en-US"/>
          </a:p>
        </p:txBody>
      </p:sp>
      <p:cxnSp>
        <p:nvCxnSpPr>
          <p:cNvPr id="137" name="Straight Arrow Connector 136"/>
          <p:cNvCxnSpPr>
            <a:stCxn id="64" idx="3"/>
            <a:endCxn id="65" idx="1"/>
          </p:cNvCxnSpPr>
          <p:nvPr/>
        </p:nvCxnSpPr>
        <p:spPr>
          <a:xfrm flipH="1">
            <a:off x="7662863" y="5133976"/>
            <a:ext cx="3152775" cy="0"/>
          </a:xfrm>
          <a:prstGeom prst="straightConnector1">
            <a:avLst/>
          </a:prstGeom>
          <a:ln w="19050">
            <a:solidFill>
              <a:srgbClr val="3478B9"/>
            </a:solidFill>
            <a:prstDash val="dash"/>
            <a:tailEnd type="triangle" w="med" len="med"/>
          </a:ln>
        </p:spPr>
      </p:cxnSp>
      <p:sp>
        <p:nvSpPr>
          <p:cNvPr id="67" name="native-118">
            <a:extLst>
              <a:ext uri="{FF2B5EF4-FFF2-40B4-BE49-F238E27FC236}">
                <a16:creationId xmlns:a16="http://schemas.microsoft.com/office/drawing/2014/main" id="{5ADE14AD-1D48-48D0-8467-6D541BC90B9B}"/>
              </a:ext>
            </a:extLst>
          </p:cNvPr>
          <p:cNvSpPr>
            <a:spLocks noGrp="1"/>
          </p:cNvSpPr>
          <p:nvPr/>
        </p:nvSpPr>
        <p:spPr>
          <a:xfrm>
            <a:off x="7762875" y="4867275"/>
            <a:ext cx="295275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Matching documents</a:t>
            </a:r>
          </a:p>
        </p:txBody>
      </p:sp>
      <p:sp>
        <p:nvSpPr>
          <p:cNvPr id="68" name="native-119">
            <a:extLst>
              <a:ext uri="{FF2B5EF4-FFF2-40B4-BE49-F238E27FC236}">
                <a16:creationId xmlns:a16="http://schemas.microsoft.com/office/drawing/2014/main" id="{4002BB72-7966-4924-80E3-AEE74FC8DA5A}"/>
              </a:ext>
            </a:extLst>
          </p:cNvPr>
          <p:cNvSpPr>
            <a:spLocks noGrp="1"/>
          </p:cNvSpPr>
          <p:nvPr/>
        </p:nvSpPr>
        <p:spPr>
          <a:xfrm>
            <a:off x="7662863" y="5453063"/>
            <a:ext cx="9525" cy="9525"/>
          </a:xfrm>
          <a:prstGeom prst="rect">
            <a:avLst/>
          </a:prstGeom>
          <a:noFill/>
          <a:ln w="0">
            <a:noFill/>
          </a:ln>
        </p:spPr>
        <p:txBody>
          <a:bodyPr/>
          <a:lstStyle/>
          <a:p>
            <a:endParaRPr lang="en-US"/>
          </a:p>
        </p:txBody>
      </p:sp>
      <p:sp>
        <p:nvSpPr>
          <p:cNvPr id="69" name="native-120">
            <a:extLst>
              <a:ext uri="{FF2B5EF4-FFF2-40B4-BE49-F238E27FC236}">
                <a16:creationId xmlns:a16="http://schemas.microsoft.com/office/drawing/2014/main" id="{ECE4E586-C284-4334-853B-20F8995AC70F}"/>
              </a:ext>
            </a:extLst>
          </p:cNvPr>
          <p:cNvSpPr>
            <a:spLocks noGrp="1"/>
          </p:cNvSpPr>
          <p:nvPr/>
        </p:nvSpPr>
        <p:spPr>
          <a:xfrm>
            <a:off x="1376363" y="5453063"/>
            <a:ext cx="9525" cy="9525"/>
          </a:xfrm>
          <a:prstGeom prst="rect">
            <a:avLst/>
          </a:prstGeom>
          <a:noFill/>
          <a:ln w="0">
            <a:noFill/>
          </a:ln>
        </p:spPr>
        <p:txBody>
          <a:bodyPr/>
          <a:lstStyle/>
          <a:p>
            <a:endParaRPr lang="en-US"/>
          </a:p>
        </p:txBody>
      </p:sp>
      <p:cxnSp>
        <p:nvCxnSpPr>
          <p:cNvPr id="141" name="Straight Arrow Connector 140"/>
          <p:cNvCxnSpPr>
            <a:stCxn id="68" idx="3"/>
            <a:endCxn id="69" idx="1"/>
          </p:cNvCxnSpPr>
          <p:nvPr/>
        </p:nvCxnSpPr>
        <p:spPr>
          <a:xfrm flipH="1">
            <a:off x="1376363" y="5457826"/>
            <a:ext cx="6296025" cy="0"/>
          </a:xfrm>
          <a:prstGeom prst="straightConnector1">
            <a:avLst/>
          </a:prstGeom>
          <a:ln w="19050">
            <a:solidFill>
              <a:srgbClr val="3478B9"/>
            </a:solidFill>
            <a:prstDash val="dash"/>
            <a:tailEnd type="triangle" w="med" len="med"/>
          </a:ln>
        </p:spPr>
      </p:cxnSp>
      <p:sp>
        <p:nvSpPr>
          <p:cNvPr id="71" name="native-121">
            <a:extLst>
              <a:ext uri="{FF2B5EF4-FFF2-40B4-BE49-F238E27FC236}">
                <a16:creationId xmlns:a16="http://schemas.microsoft.com/office/drawing/2014/main" id="{8BB151C9-BC24-424A-B196-C01EF5F6806E}"/>
              </a:ext>
            </a:extLst>
          </p:cNvPr>
          <p:cNvSpPr>
            <a:spLocks noGrp="1"/>
          </p:cNvSpPr>
          <p:nvPr/>
        </p:nvSpPr>
        <p:spPr>
          <a:xfrm>
            <a:off x="1476375" y="5191125"/>
            <a:ext cx="609600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FHIR searchset Bundle</a:t>
            </a:r>
          </a:p>
        </p:txBody>
      </p:sp>
    </p:spTree>
    <p:extLst>
      <p:ext uri="{BB962C8B-B14F-4D97-AF65-F5344CB8AC3E}">
        <p14:creationId xmlns:p14="http://schemas.microsoft.com/office/powerpoint/2010/main" val="1510661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native-122">
            <a:extLst>
              <a:ext uri="{FF2B5EF4-FFF2-40B4-BE49-F238E27FC236}">
                <a16:creationId xmlns:a16="http://schemas.microsoft.com/office/drawing/2014/main" id="{8A2DF0CF-BD9D-4010-8D76-8DFF16392BF7}"/>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FHIR resource creation</a:t>
            </a:r>
          </a:p>
        </p:txBody>
      </p:sp>
      <p:sp>
        <p:nvSpPr>
          <p:cNvPr id="2" name="native-123">
            <a:extLst>
              <a:ext uri="{FF2B5EF4-FFF2-40B4-BE49-F238E27FC236}">
                <a16:creationId xmlns:a16="http://schemas.microsoft.com/office/drawing/2014/main" id="{288AD79F-98A6-4142-9589-3D5B266EF3F4}"/>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Programmatic flow for each claims demo step</a:t>
            </a:r>
          </a:p>
        </p:txBody>
      </p:sp>
      <p:sp>
        <p:nvSpPr>
          <p:cNvPr id="3" name="native-124">
            <a:extLst>
              <a:ext uri="{FF2B5EF4-FFF2-40B4-BE49-F238E27FC236}">
                <a16:creationId xmlns:a16="http://schemas.microsoft.com/office/drawing/2014/main" id="{EC9F3D17-CCCD-4D4A-A6D4-146389EB8E10}"/>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125">
            <a:extLst>
              <a:ext uri="{FF2B5EF4-FFF2-40B4-BE49-F238E27FC236}">
                <a16:creationId xmlns:a16="http://schemas.microsoft.com/office/drawing/2014/main" id="{90C52C81-B7BB-49E2-AC76-0B780B7D8615}"/>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61" name="Straight Arrow Connector 60"/>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126">
            <a:extLst>
              <a:ext uri="{FF2B5EF4-FFF2-40B4-BE49-F238E27FC236}">
                <a16:creationId xmlns:a16="http://schemas.microsoft.com/office/drawing/2014/main" id="{F2E5DABC-596D-4817-A8B8-CA68925CC877}"/>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Each successful POST returns a server-assigned UUID. The client reuses that ID in subsequent references.</a:t>
            </a:r>
          </a:p>
        </p:txBody>
      </p:sp>
      <p:sp>
        <p:nvSpPr>
          <p:cNvPr id="7" name="native-127">
            <a:extLst>
              <a:ext uri="{FF2B5EF4-FFF2-40B4-BE49-F238E27FC236}">
                <a16:creationId xmlns:a16="http://schemas.microsoft.com/office/drawing/2014/main" id="{C6DAC36B-159D-422C-9B73-A57B2E02E8FA}"/>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09</a:t>
            </a:r>
          </a:p>
        </p:txBody>
      </p:sp>
      <p:sp>
        <p:nvSpPr>
          <p:cNvPr id="8" name="native-128">
            <a:extLst>
              <a:ext uri="{FF2B5EF4-FFF2-40B4-BE49-F238E27FC236}">
                <a16:creationId xmlns:a16="http://schemas.microsoft.com/office/drawing/2014/main" id="{521E7C30-9CB1-4FEA-BD32-332A0564AE18}"/>
              </a:ext>
            </a:extLst>
          </p:cNvPr>
          <p:cNvSpPr>
            <a:spLocks noGrp="1"/>
          </p:cNvSpPr>
          <p:nvPr/>
        </p:nvSpPr>
        <p:spPr>
          <a:xfrm>
            <a:off x="190500" y="1485900"/>
            <a:ext cx="2381250" cy="647700"/>
          </a:xfrm>
          <a:prstGeom prst="rect">
            <a:avLst/>
          </a:prstGeom>
          <a:solidFill>
            <a:srgbClr val="E2F2F1"/>
          </a:solidFill>
          <a:ln w="9525">
            <a:solidFill>
              <a:srgbClr val="B6C6D2"/>
            </a:solidFill>
          </a:ln>
        </p:spPr>
        <p:txBody>
          <a:bodyPr/>
          <a:lstStyle/>
          <a:p>
            <a:endParaRPr lang="en-US"/>
          </a:p>
        </p:txBody>
      </p:sp>
      <p:sp>
        <p:nvSpPr>
          <p:cNvPr id="9" name="native-129">
            <a:extLst>
              <a:ext uri="{FF2B5EF4-FFF2-40B4-BE49-F238E27FC236}">
                <a16:creationId xmlns:a16="http://schemas.microsoft.com/office/drawing/2014/main" id="{89DDE741-9624-4867-937D-C4B8125A3CA3}"/>
              </a:ext>
            </a:extLst>
          </p:cNvPr>
          <p:cNvSpPr>
            <a:spLocks noGrp="1"/>
          </p:cNvSpPr>
          <p:nvPr/>
        </p:nvSpPr>
        <p:spPr>
          <a:xfrm>
            <a:off x="32385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Demo client</a:t>
            </a:r>
          </a:p>
        </p:txBody>
      </p:sp>
      <p:sp>
        <p:nvSpPr>
          <p:cNvPr id="10" name="native-130">
            <a:extLst>
              <a:ext uri="{FF2B5EF4-FFF2-40B4-BE49-F238E27FC236}">
                <a16:creationId xmlns:a16="http://schemas.microsoft.com/office/drawing/2014/main" id="{0B81FAF6-C0B6-417E-A6A9-0F426A2EFA5C}"/>
              </a:ext>
            </a:extLst>
          </p:cNvPr>
          <p:cNvSpPr>
            <a:spLocks noGrp="1"/>
          </p:cNvSpPr>
          <p:nvPr/>
        </p:nvSpPr>
        <p:spPr>
          <a:xfrm>
            <a:off x="32385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Browser SPA</a:t>
            </a:r>
          </a:p>
        </p:txBody>
      </p:sp>
      <p:sp>
        <p:nvSpPr>
          <p:cNvPr id="11" name="native-131">
            <a:extLst>
              <a:ext uri="{FF2B5EF4-FFF2-40B4-BE49-F238E27FC236}">
                <a16:creationId xmlns:a16="http://schemas.microsoft.com/office/drawing/2014/main" id="{5842DEE9-DE47-4B50-8AB5-93F0B7119F8C}"/>
              </a:ext>
            </a:extLst>
          </p:cNvPr>
          <p:cNvSpPr>
            <a:spLocks noGrp="1"/>
          </p:cNvSpPr>
          <p:nvPr/>
        </p:nvSpPr>
        <p:spPr>
          <a:xfrm>
            <a:off x="1376363" y="2128838"/>
            <a:ext cx="9525" cy="9525"/>
          </a:xfrm>
          <a:prstGeom prst="rect">
            <a:avLst/>
          </a:prstGeom>
          <a:noFill/>
          <a:ln w="0">
            <a:noFill/>
          </a:ln>
        </p:spPr>
        <p:txBody>
          <a:bodyPr/>
          <a:lstStyle/>
          <a:p>
            <a:endParaRPr lang="en-US"/>
          </a:p>
        </p:txBody>
      </p:sp>
      <p:sp>
        <p:nvSpPr>
          <p:cNvPr id="12" name="native-132">
            <a:extLst>
              <a:ext uri="{FF2B5EF4-FFF2-40B4-BE49-F238E27FC236}">
                <a16:creationId xmlns:a16="http://schemas.microsoft.com/office/drawing/2014/main" id="{E8D37223-E992-4BB5-9892-F126311478C7}"/>
              </a:ext>
            </a:extLst>
          </p:cNvPr>
          <p:cNvSpPr>
            <a:spLocks noGrp="1"/>
          </p:cNvSpPr>
          <p:nvPr/>
        </p:nvSpPr>
        <p:spPr>
          <a:xfrm>
            <a:off x="1376363" y="5948363"/>
            <a:ext cx="9525" cy="9525"/>
          </a:xfrm>
          <a:prstGeom prst="rect">
            <a:avLst/>
          </a:prstGeom>
          <a:noFill/>
          <a:ln w="0">
            <a:noFill/>
          </a:ln>
        </p:spPr>
        <p:txBody>
          <a:bodyPr/>
          <a:lstStyle/>
          <a:p>
            <a:endParaRPr lang="en-US"/>
          </a:p>
        </p:txBody>
      </p:sp>
      <p:cxnSp>
        <p:nvCxnSpPr>
          <p:cNvPr id="69" name="Straight Arrow Connector 68"/>
          <p:cNvCxnSpPr>
            <a:stCxn id="11" idx="3"/>
            <a:endCxn id="12" idx="1"/>
          </p:cNvCxnSpPr>
          <p:nvPr/>
        </p:nvCxnSpPr>
        <p:spPr>
          <a:xfrm flipH="1">
            <a:off x="1376363" y="2133601"/>
            <a:ext cx="9525" cy="3819525"/>
          </a:xfrm>
          <a:prstGeom prst="straightConnector1">
            <a:avLst/>
          </a:prstGeom>
          <a:ln w="14288">
            <a:solidFill>
              <a:srgbClr val="B6C6D2"/>
            </a:solidFill>
            <a:prstDash val="dash"/>
          </a:ln>
        </p:spPr>
      </p:cxnSp>
      <p:sp>
        <p:nvSpPr>
          <p:cNvPr id="14" name="native-133">
            <a:extLst>
              <a:ext uri="{FF2B5EF4-FFF2-40B4-BE49-F238E27FC236}">
                <a16:creationId xmlns:a16="http://schemas.microsoft.com/office/drawing/2014/main" id="{7CD09A48-E64E-4DCA-BB02-2964D7DB1A31}"/>
              </a:ext>
            </a:extLst>
          </p:cNvPr>
          <p:cNvSpPr>
            <a:spLocks noGrp="1"/>
          </p:cNvSpPr>
          <p:nvPr/>
        </p:nvSpPr>
        <p:spPr>
          <a:xfrm>
            <a:off x="3333750" y="1485900"/>
            <a:ext cx="2381250" cy="647700"/>
          </a:xfrm>
          <a:prstGeom prst="rect">
            <a:avLst/>
          </a:prstGeom>
          <a:solidFill>
            <a:srgbClr val="E8EFF5"/>
          </a:solidFill>
          <a:ln w="9525">
            <a:solidFill>
              <a:srgbClr val="B6C6D2"/>
            </a:solidFill>
          </a:ln>
        </p:spPr>
        <p:txBody>
          <a:bodyPr/>
          <a:lstStyle/>
          <a:p>
            <a:endParaRPr lang="en-US"/>
          </a:p>
        </p:txBody>
      </p:sp>
      <p:sp>
        <p:nvSpPr>
          <p:cNvPr id="15" name="native-134">
            <a:extLst>
              <a:ext uri="{FF2B5EF4-FFF2-40B4-BE49-F238E27FC236}">
                <a16:creationId xmlns:a16="http://schemas.microsoft.com/office/drawing/2014/main" id="{34B23222-C588-4613-AD50-FF941E47A39E}"/>
              </a:ext>
            </a:extLst>
          </p:cNvPr>
          <p:cNvSpPr>
            <a:spLocks noGrp="1"/>
          </p:cNvSpPr>
          <p:nvPr/>
        </p:nvSpPr>
        <p:spPr>
          <a:xfrm>
            <a:off x="346710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nginx</a:t>
            </a:r>
          </a:p>
        </p:txBody>
      </p:sp>
      <p:sp>
        <p:nvSpPr>
          <p:cNvPr id="16" name="native-135">
            <a:extLst>
              <a:ext uri="{FF2B5EF4-FFF2-40B4-BE49-F238E27FC236}">
                <a16:creationId xmlns:a16="http://schemas.microsoft.com/office/drawing/2014/main" id="{F75AEE84-9EAB-4031-90A9-08C42895FB47}"/>
              </a:ext>
            </a:extLst>
          </p:cNvPr>
          <p:cNvSpPr>
            <a:spLocks noGrp="1"/>
          </p:cNvSpPr>
          <p:nvPr/>
        </p:nvSpPr>
        <p:spPr>
          <a:xfrm>
            <a:off x="346710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Demo reverse proxy</a:t>
            </a:r>
          </a:p>
        </p:txBody>
      </p:sp>
      <p:sp>
        <p:nvSpPr>
          <p:cNvPr id="17" name="native-136">
            <a:extLst>
              <a:ext uri="{FF2B5EF4-FFF2-40B4-BE49-F238E27FC236}">
                <a16:creationId xmlns:a16="http://schemas.microsoft.com/office/drawing/2014/main" id="{CB446125-65C2-4BCF-A997-EDD97AEFD42F}"/>
              </a:ext>
            </a:extLst>
          </p:cNvPr>
          <p:cNvSpPr>
            <a:spLocks noGrp="1"/>
          </p:cNvSpPr>
          <p:nvPr/>
        </p:nvSpPr>
        <p:spPr>
          <a:xfrm>
            <a:off x="4519613" y="2128838"/>
            <a:ext cx="9525" cy="9525"/>
          </a:xfrm>
          <a:prstGeom prst="rect">
            <a:avLst/>
          </a:prstGeom>
          <a:noFill/>
          <a:ln w="0">
            <a:noFill/>
          </a:ln>
        </p:spPr>
        <p:txBody>
          <a:bodyPr/>
          <a:lstStyle/>
          <a:p>
            <a:endParaRPr lang="en-US"/>
          </a:p>
        </p:txBody>
      </p:sp>
      <p:sp>
        <p:nvSpPr>
          <p:cNvPr id="18" name="native-137">
            <a:extLst>
              <a:ext uri="{FF2B5EF4-FFF2-40B4-BE49-F238E27FC236}">
                <a16:creationId xmlns:a16="http://schemas.microsoft.com/office/drawing/2014/main" id="{341FAC99-D7B5-4C28-BC5C-2520E841A3F2}"/>
              </a:ext>
            </a:extLst>
          </p:cNvPr>
          <p:cNvSpPr>
            <a:spLocks noGrp="1"/>
          </p:cNvSpPr>
          <p:nvPr/>
        </p:nvSpPr>
        <p:spPr>
          <a:xfrm>
            <a:off x="4519613" y="5948363"/>
            <a:ext cx="9525" cy="9525"/>
          </a:xfrm>
          <a:prstGeom prst="rect">
            <a:avLst/>
          </a:prstGeom>
          <a:noFill/>
          <a:ln w="0">
            <a:noFill/>
          </a:ln>
        </p:spPr>
        <p:txBody>
          <a:bodyPr/>
          <a:lstStyle/>
          <a:p>
            <a:endParaRPr lang="en-US"/>
          </a:p>
        </p:txBody>
      </p:sp>
      <p:cxnSp>
        <p:nvCxnSpPr>
          <p:cNvPr id="75" name="Straight Arrow Connector 74"/>
          <p:cNvCxnSpPr>
            <a:stCxn id="17" idx="3"/>
            <a:endCxn id="18" idx="1"/>
          </p:cNvCxnSpPr>
          <p:nvPr/>
        </p:nvCxnSpPr>
        <p:spPr>
          <a:xfrm flipH="1">
            <a:off x="4519613" y="2133601"/>
            <a:ext cx="9525" cy="3819525"/>
          </a:xfrm>
          <a:prstGeom prst="straightConnector1">
            <a:avLst/>
          </a:prstGeom>
          <a:ln w="14288">
            <a:solidFill>
              <a:srgbClr val="B6C6D2"/>
            </a:solidFill>
            <a:prstDash val="dash"/>
          </a:ln>
        </p:spPr>
      </p:cxnSp>
      <p:sp>
        <p:nvSpPr>
          <p:cNvPr id="20" name="native-138">
            <a:extLst>
              <a:ext uri="{FF2B5EF4-FFF2-40B4-BE49-F238E27FC236}">
                <a16:creationId xmlns:a16="http://schemas.microsoft.com/office/drawing/2014/main" id="{25A1875B-104B-4CF0-8B97-555D427CFAED}"/>
              </a:ext>
            </a:extLst>
          </p:cNvPr>
          <p:cNvSpPr>
            <a:spLocks noGrp="1"/>
          </p:cNvSpPr>
          <p:nvPr/>
        </p:nvSpPr>
        <p:spPr>
          <a:xfrm>
            <a:off x="6477000" y="1485900"/>
            <a:ext cx="2381250" cy="647700"/>
          </a:xfrm>
          <a:prstGeom prst="rect">
            <a:avLst/>
          </a:prstGeom>
          <a:solidFill>
            <a:srgbClr val="E8EFF5"/>
          </a:solidFill>
          <a:ln w="9525">
            <a:solidFill>
              <a:srgbClr val="B6C6D2"/>
            </a:solidFill>
          </a:ln>
        </p:spPr>
        <p:txBody>
          <a:bodyPr/>
          <a:lstStyle/>
          <a:p>
            <a:endParaRPr lang="en-US"/>
          </a:p>
        </p:txBody>
      </p:sp>
      <p:sp>
        <p:nvSpPr>
          <p:cNvPr id="21" name="native-139">
            <a:extLst>
              <a:ext uri="{FF2B5EF4-FFF2-40B4-BE49-F238E27FC236}">
                <a16:creationId xmlns:a16="http://schemas.microsoft.com/office/drawing/2014/main" id="{DF240624-CE87-4B46-A849-D6AD95B62CC2}"/>
              </a:ext>
            </a:extLst>
          </p:cNvPr>
          <p:cNvSpPr>
            <a:spLocks noGrp="1"/>
          </p:cNvSpPr>
          <p:nvPr/>
        </p:nvSpPr>
        <p:spPr>
          <a:xfrm>
            <a:off x="661035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FHIR provider</a:t>
            </a:r>
          </a:p>
        </p:txBody>
      </p:sp>
      <p:sp>
        <p:nvSpPr>
          <p:cNvPr id="22" name="native-140">
            <a:extLst>
              <a:ext uri="{FF2B5EF4-FFF2-40B4-BE49-F238E27FC236}">
                <a16:creationId xmlns:a16="http://schemas.microsoft.com/office/drawing/2014/main" id="{AE69AB36-CC7F-4531-BE3B-F0C9695B67F5}"/>
              </a:ext>
            </a:extLst>
          </p:cNvPr>
          <p:cNvSpPr>
            <a:spLocks noGrp="1"/>
          </p:cNvSpPr>
          <p:nvPr/>
        </p:nvSpPr>
        <p:spPr>
          <a:xfrm>
            <a:off x="661035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HAPI Plain Server</a:t>
            </a:r>
          </a:p>
        </p:txBody>
      </p:sp>
      <p:sp>
        <p:nvSpPr>
          <p:cNvPr id="23" name="native-141">
            <a:extLst>
              <a:ext uri="{FF2B5EF4-FFF2-40B4-BE49-F238E27FC236}">
                <a16:creationId xmlns:a16="http://schemas.microsoft.com/office/drawing/2014/main" id="{60A48DF4-58A1-4B57-8408-423D87055B83}"/>
              </a:ext>
            </a:extLst>
          </p:cNvPr>
          <p:cNvSpPr>
            <a:spLocks noGrp="1"/>
          </p:cNvSpPr>
          <p:nvPr/>
        </p:nvSpPr>
        <p:spPr>
          <a:xfrm>
            <a:off x="7662863" y="2128838"/>
            <a:ext cx="9525" cy="9525"/>
          </a:xfrm>
          <a:prstGeom prst="rect">
            <a:avLst/>
          </a:prstGeom>
          <a:noFill/>
          <a:ln w="0">
            <a:noFill/>
          </a:ln>
        </p:spPr>
        <p:txBody>
          <a:bodyPr/>
          <a:lstStyle/>
          <a:p>
            <a:endParaRPr lang="en-US"/>
          </a:p>
        </p:txBody>
      </p:sp>
      <p:sp>
        <p:nvSpPr>
          <p:cNvPr id="24" name="native-142">
            <a:extLst>
              <a:ext uri="{FF2B5EF4-FFF2-40B4-BE49-F238E27FC236}">
                <a16:creationId xmlns:a16="http://schemas.microsoft.com/office/drawing/2014/main" id="{24ABB1BA-96D4-4F34-BB6D-CE3F8E6AFC9E}"/>
              </a:ext>
            </a:extLst>
          </p:cNvPr>
          <p:cNvSpPr>
            <a:spLocks noGrp="1"/>
          </p:cNvSpPr>
          <p:nvPr/>
        </p:nvSpPr>
        <p:spPr>
          <a:xfrm>
            <a:off x="7662863" y="5948363"/>
            <a:ext cx="9525" cy="9525"/>
          </a:xfrm>
          <a:prstGeom prst="rect">
            <a:avLst/>
          </a:prstGeom>
          <a:noFill/>
          <a:ln w="0">
            <a:noFill/>
          </a:ln>
        </p:spPr>
        <p:txBody>
          <a:bodyPr/>
          <a:lstStyle/>
          <a:p>
            <a:endParaRPr lang="en-US"/>
          </a:p>
        </p:txBody>
      </p:sp>
      <p:cxnSp>
        <p:nvCxnSpPr>
          <p:cNvPr id="81" name="Straight Arrow Connector 80"/>
          <p:cNvCxnSpPr>
            <a:stCxn id="23" idx="3"/>
            <a:endCxn id="24" idx="1"/>
          </p:cNvCxnSpPr>
          <p:nvPr/>
        </p:nvCxnSpPr>
        <p:spPr>
          <a:xfrm flipH="1">
            <a:off x="7662863" y="2133601"/>
            <a:ext cx="9525" cy="3819525"/>
          </a:xfrm>
          <a:prstGeom prst="straightConnector1">
            <a:avLst/>
          </a:prstGeom>
          <a:ln w="14288">
            <a:solidFill>
              <a:srgbClr val="B6C6D2"/>
            </a:solidFill>
            <a:prstDash val="dash"/>
          </a:ln>
        </p:spPr>
      </p:cxnSp>
      <p:sp>
        <p:nvSpPr>
          <p:cNvPr id="26" name="native-143">
            <a:extLst>
              <a:ext uri="{FF2B5EF4-FFF2-40B4-BE49-F238E27FC236}">
                <a16:creationId xmlns:a16="http://schemas.microsoft.com/office/drawing/2014/main" id="{DF1B6AB1-570C-4D89-B5EA-6492B51D8481}"/>
              </a:ext>
            </a:extLst>
          </p:cNvPr>
          <p:cNvSpPr>
            <a:spLocks noGrp="1"/>
          </p:cNvSpPr>
          <p:nvPr/>
        </p:nvSpPr>
        <p:spPr>
          <a:xfrm>
            <a:off x="9620250" y="1485900"/>
            <a:ext cx="2381250" cy="647700"/>
          </a:xfrm>
          <a:prstGeom prst="rect">
            <a:avLst/>
          </a:prstGeom>
          <a:solidFill>
            <a:srgbClr val="E8EFF5"/>
          </a:solidFill>
          <a:ln w="9525">
            <a:solidFill>
              <a:srgbClr val="B6C6D2"/>
            </a:solidFill>
          </a:ln>
        </p:spPr>
        <p:txBody>
          <a:bodyPr/>
          <a:lstStyle/>
          <a:p>
            <a:endParaRPr lang="en-US"/>
          </a:p>
        </p:txBody>
      </p:sp>
      <p:sp>
        <p:nvSpPr>
          <p:cNvPr id="27" name="native-144">
            <a:extLst>
              <a:ext uri="{FF2B5EF4-FFF2-40B4-BE49-F238E27FC236}">
                <a16:creationId xmlns:a16="http://schemas.microsoft.com/office/drawing/2014/main" id="{C65549C8-2786-4FA1-BC74-48EFDB92E69D}"/>
              </a:ext>
            </a:extLst>
          </p:cNvPr>
          <p:cNvSpPr>
            <a:spLocks noGrp="1"/>
          </p:cNvSpPr>
          <p:nvPr/>
        </p:nvSpPr>
        <p:spPr>
          <a:xfrm>
            <a:off x="975360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MongoDB</a:t>
            </a:r>
          </a:p>
        </p:txBody>
      </p:sp>
      <p:sp>
        <p:nvSpPr>
          <p:cNvPr id="28" name="native-145">
            <a:extLst>
              <a:ext uri="{FF2B5EF4-FFF2-40B4-BE49-F238E27FC236}">
                <a16:creationId xmlns:a16="http://schemas.microsoft.com/office/drawing/2014/main" id="{A97D53C5-7736-4B55-B415-5870A49967A4}"/>
              </a:ext>
            </a:extLst>
          </p:cNvPr>
          <p:cNvSpPr>
            <a:spLocks noGrp="1"/>
          </p:cNvSpPr>
          <p:nvPr/>
        </p:nvSpPr>
        <p:spPr>
          <a:xfrm>
            <a:off x="975360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fhir_{resourceType}</a:t>
            </a:r>
          </a:p>
        </p:txBody>
      </p:sp>
      <p:sp>
        <p:nvSpPr>
          <p:cNvPr id="29" name="native-146">
            <a:extLst>
              <a:ext uri="{FF2B5EF4-FFF2-40B4-BE49-F238E27FC236}">
                <a16:creationId xmlns:a16="http://schemas.microsoft.com/office/drawing/2014/main" id="{A37D202C-BF7E-4094-85EE-2CB5E3455CD5}"/>
              </a:ext>
            </a:extLst>
          </p:cNvPr>
          <p:cNvSpPr>
            <a:spLocks noGrp="1"/>
          </p:cNvSpPr>
          <p:nvPr/>
        </p:nvSpPr>
        <p:spPr>
          <a:xfrm>
            <a:off x="10806113" y="2128838"/>
            <a:ext cx="9525" cy="9525"/>
          </a:xfrm>
          <a:prstGeom prst="rect">
            <a:avLst/>
          </a:prstGeom>
          <a:noFill/>
          <a:ln w="0">
            <a:noFill/>
          </a:ln>
        </p:spPr>
        <p:txBody>
          <a:bodyPr/>
          <a:lstStyle/>
          <a:p>
            <a:endParaRPr lang="en-US"/>
          </a:p>
        </p:txBody>
      </p:sp>
      <p:sp>
        <p:nvSpPr>
          <p:cNvPr id="30" name="native-147">
            <a:extLst>
              <a:ext uri="{FF2B5EF4-FFF2-40B4-BE49-F238E27FC236}">
                <a16:creationId xmlns:a16="http://schemas.microsoft.com/office/drawing/2014/main" id="{88AC5B02-75F1-4626-88C8-73EA3C9AED82}"/>
              </a:ext>
            </a:extLst>
          </p:cNvPr>
          <p:cNvSpPr>
            <a:spLocks noGrp="1"/>
          </p:cNvSpPr>
          <p:nvPr/>
        </p:nvSpPr>
        <p:spPr>
          <a:xfrm>
            <a:off x="10806113" y="5948363"/>
            <a:ext cx="9525" cy="9525"/>
          </a:xfrm>
          <a:prstGeom prst="rect">
            <a:avLst/>
          </a:prstGeom>
          <a:noFill/>
          <a:ln w="0">
            <a:noFill/>
          </a:ln>
        </p:spPr>
        <p:txBody>
          <a:bodyPr/>
          <a:lstStyle/>
          <a:p>
            <a:endParaRPr lang="en-US"/>
          </a:p>
        </p:txBody>
      </p:sp>
      <p:cxnSp>
        <p:nvCxnSpPr>
          <p:cNvPr id="87" name="Straight Arrow Connector 86"/>
          <p:cNvCxnSpPr>
            <a:stCxn id="29" idx="3"/>
            <a:endCxn id="30" idx="1"/>
          </p:cNvCxnSpPr>
          <p:nvPr/>
        </p:nvCxnSpPr>
        <p:spPr>
          <a:xfrm flipH="1">
            <a:off x="10806113" y="2133601"/>
            <a:ext cx="9525" cy="3819525"/>
          </a:xfrm>
          <a:prstGeom prst="straightConnector1">
            <a:avLst/>
          </a:prstGeom>
          <a:ln w="14288">
            <a:solidFill>
              <a:srgbClr val="B6C6D2"/>
            </a:solidFill>
            <a:prstDash val="dash"/>
          </a:ln>
        </p:spPr>
      </p:cxnSp>
      <p:sp>
        <p:nvSpPr>
          <p:cNvPr id="32" name="native-148">
            <a:extLst>
              <a:ext uri="{FF2B5EF4-FFF2-40B4-BE49-F238E27FC236}">
                <a16:creationId xmlns:a16="http://schemas.microsoft.com/office/drawing/2014/main" id="{7720D6A3-1364-4508-8250-665A1565C08E}"/>
              </a:ext>
            </a:extLst>
          </p:cNvPr>
          <p:cNvSpPr>
            <a:spLocks noGrp="1"/>
          </p:cNvSpPr>
          <p:nvPr/>
        </p:nvSpPr>
        <p:spPr>
          <a:xfrm>
            <a:off x="1376363" y="2538413"/>
            <a:ext cx="9525" cy="9525"/>
          </a:xfrm>
          <a:prstGeom prst="rect">
            <a:avLst/>
          </a:prstGeom>
          <a:noFill/>
          <a:ln w="0">
            <a:noFill/>
          </a:ln>
        </p:spPr>
        <p:txBody>
          <a:bodyPr/>
          <a:lstStyle/>
          <a:p>
            <a:endParaRPr lang="en-US"/>
          </a:p>
        </p:txBody>
      </p:sp>
      <p:sp>
        <p:nvSpPr>
          <p:cNvPr id="33" name="native-149">
            <a:extLst>
              <a:ext uri="{FF2B5EF4-FFF2-40B4-BE49-F238E27FC236}">
                <a16:creationId xmlns:a16="http://schemas.microsoft.com/office/drawing/2014/main" id="{5DDED268-E38B-4F04-876C-45E37AFBB994}"/>
              </a:ext>
            </a:extLst>
          </p:cNvPr>
          <p:cNvSpPr>
            <a:spLocks noGrp="1"/>
          </p:cNvSpPr>
          <p:nvPr/>
        </p:nvSpPr>
        <p:spPr>
          <a:xfrm>
            <a:off x="4519613" y="2538413"/>
            <a:ext cx="9525" cy="9525"/>
          </a:xfrm>
          <a:prstGeom prst="rect">
            <a:avLst/>
          </a:prstGeom>
          <a:noFill/>
          <a:ln w="0">
            <a:noFill/>
          </a:ln>
        </p:spPr>
        <p:txBody>
          <a:bodyPr/>
          <a:lstStyle/>
          <a:p>
            <a:endParaRPr lang="en-US"/>
          </a:p>
        </p:txBody>
      </p:sp>
      <p:cxnSp>
        <p:nvCxnSpPr>
          <p:cNvPr id="90" name="Straight Arrow Connector 89"/>
          <p:cNvCxnSpPr>
            <a:stCxn id="32" idx="3"/>
            <a:endCxn id="33" idx="1"/>
          </p:cNvCxnSpPr>
          <p:nvPr/>
        </p:nvCxnSpPr>
        <p:spPr>
          <a:xfrm>
            <a:off x="1385888" y="2543176"/>
            <a:ext cx="3133725" cy="0"/>
          </a:xfrm>
          <a:prstGeom prst="straightConnector1">
            <a:avLst/>
          </a:prstGeom>
          <a:ln w="19050">
            <a:solidFill>
              <a:srgbClr val="0F8B8D"/>
            </a:solidFill>
            <a:prstDash val="solid"/>
            <a:tailEnd type="triangle" w="med" len="med"/>
          </a:ln>
        </p:spPr>
      </p:cxnSp>
      <p:sp>
        <p:nvSpPr>
          <p:cNvPr id="35" name="native-150">
            <a:extLst>
              <a:ext uri="{FF2B5EF4-FFF2-40B4-BE49-F238E27FC236}">
                <a16:creationId xmlns:a16="http://schemas.microsoft.com/office/drawing/2014/main" id="{B0FEB2D1-B919-4132-AB52-1AE5D2098DF8}"/>
              </a:ext>
            </a:extLst>
          </p:cNvPr>
          <p:cNvSpPr>
            <a:spLocks noGrp="1"/>
          </p:cNvSpPr>
          <p:nvPr/>
        </p:nvSpPr>
        <p:spPr>
          <a:xfrm>
            <a:off x="1476375" y="227647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POST /fhir/{ResourceType}</a:t>
            </a:r>
          </a:p>
        </p:txBody>
      </p:sp>
      <p:sp>
        <p:nvSpPr>
          <p:cNvPr id="36" name="native-151">
            <a:extLst>
              <a:ext uri="{FF2B5EF4-FFF2-40B4-BE49-F238E27FC236}">
                <a16:creationId xmlns:a16="http://schemas.microsoft.com/office/drawing/2014/main" id="{AF80A823-DD28-4C40-A877-C028D5DF5676}"/>
              </a:ext>
            </a:extLst>
          </p:cNvPr>
          <p:cNvSpPr>
            <a:spLocks noGrp="1"/>
          </p:cNvSpPr>
          <p:nvPr/>
        </p:nvSpPr>
        <p:spPr>
          <a:xfrm>
            <a:off x="4519613" y="3033713"/>
            <a:ext cx="9525" cy="9525"/>
          </a:xfrm>
          <a:prstGeom prst="rect">
            <a:avLst/>
          </a:prstGeom>
          <a:noFill/>
          <a:ln w="0">
            <a:noFill/>
          </a:ln>
        </p:spPr>
        <p:txBody>
          <a:bodyPr/>
          <a:lstStyle/>
          <a:p>
            <a:endParaRPr lang="en-US"/>
          </a:p>
        </p:txBody>
      </p:sp>
      <p:sp>
        <p:nvSpPr>
          <p:cNvPr id="37" name="native-152">
            <a:extLst>
              <a:ext uri="{FF2B5EF4-FFF2-40B4-BE49-F238E27FC236}">
                <a16:creationId xmlns:a16="http://schemas.microsoft.com/office/drawing/2014/main" id="{2620E4EF-578D-44D1-829B-B8632D6FDBF7}"/>
              </a:ext>
            </a:extLst>
          </p:cNvPr>
          <p:cNvSpPr>
            <a:spLocks noGrp="1"/>
          </p:cNvSpPr>
          <p:nvPr/>
        </p:nvSpPr>
        <p:spPr>
          <a:xfrm>
            <a:off x="7662863" y="3033713"/>
            <a:ext cx="9525" cy="9525"/>
          </a:xfrm>
          <a:prstGeom prst="rect">
            <a:avLst/>
          </a:prstGeom>
          <a:noFill/>
          <a:ln w="0">
            <a:noFill/>
          </a:ln>
        </p:spPr>
        <p:txBody>
          <a:bodyPr/>
          <a:lstStyle/>
          <a:p>
            <a:endParaRPr lang="en-US"/>
          </a:p>
        </p:txBody>
      </p:sp>
      <p:cxnSp>
        <p:nvCxnSpPr>
          <p:cNvPr id="94" name="Straight Arrow Connector 93"/>
          <p:cNvCxnSpPr>
            <a:stCxn id="36" idx="3"/>
            <a:endCxn id="37" idx="1"/>
          </p:cNvCxnSpPr>
          <p:nvPr/>
        </p:nvCxnSpPr>
        <p:spPr>
          <a:xfrm>
            <a:off x="4529138" y="3038476"/>
            <a:ext cx="3133725" cy="0"/>
          </a:xfrm>
          <a:prstGeom prst="straightConnector1">
            <a:avLst/>
          </a:prstGeom>
          <a:ln w="19050">
            <a:solidFill>
              <a:srgbClr val="0F8B8D"/>
            </a:solidFill>
            <a:prstDash val="solid"/>
            <a:tailEnd type="triangle" w="med" len="med"/>
          </a:ln>
        </p:spPr>
      </p:cxnSp>
      <p:sp>
        <p:nvSpPr>
          <p:cNvPr id="39" name="native-153">
            <a:extLst>
              <a:ext uri="{FF2B5EF4-FFF2-40B4-BE49-F238E27FC236}">
                <a16:creationId xmlns:a16="http://schemas.microsoft.com/office/drawing/2014/main" id="{9234E23F-6261-4BAB-B698-17D32B4ED6CE}"/>
              </a:ext>
            </a:extLst>
          </p:cNvPr>
          <p:cNvSpPr>
            <a:spLocks noGrp="1"/>
          </p:cNvSpPr>
          <p:nvPr/>
        </p:nvSpPr>
        <p:spPr>
          <a:xfrm>
            <a:off x="4619625" y="277177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Forward JSON, Origin cleared</a:t>
            </a:r>
          </a:p>
        </p:txBody>
      </p:sp>
      <p:sp>
        <p:nvSpPr>
          <p:cNvPr id="40" name="native-154">
            <a:extLst>
              <a:ext uri="{FF2B5EF4-FFF2-40B4-BE49-F238E27FC236}">
                <a16:creationId xmlns:a16="http://schemas.microsoft.com/office/drawing/2014/main" id="{A79839BE-3010-4E6E-9475-7D0E8C8B5EFF}"/>
              </a:ext>
            </a:extLst>
          </p:cNvPr>
          <p:cNvSpPr>
            <a:spLocks noGrp="1"/>
          </p:cNvSpPr>
          <p:nvPr/>
        </p:nvSpPr>
        <p:spPr>
          <a:xfrm>
            <a:off x="7662863" y="3529013"/>
            <a:ext cx="9525" cy="9525"/>
          </a:xfrm>
          <a:prstGeom prst="rect">
            <a:avLst/>
          </a:prstGeom>
          <a:noFill/>
          <a:ln w="0">
            <a:noFill/>
          </a:ln>
        </p:spPr>
        <p:txBody>
          <a:bodyPr/>
          <a:lstStyle/>
          <a:p>
            <a:endParaRPr lang="en-US"/>
          </a:p>
        </p:txBody>
      </p:sp>
      <p:sp>
        <p:nvSpPr>
          <p:cNvPr id="41" name="native-155">
            <a:extLst>
              <a:ext uri="{FF2B5EF4-FFF2-40B4-BE49-F238E27FC236}">
                <a16:creationId xmlns:a16="http://schemas.microsoft.com/office/drawing/2014/main" id="{210B103B-8347-49A7-B4C9-AB40A8E98F07}"/>
              </a:ext>
            </a:extLst>
          </p:cNvPr>
          <p:cNvSpPr>
            <a:spLocks noGrp="1"/>
          </p:cNvSpPr>
          <p:nvPr/>
        </p:nvSpPr>
        <p:spPr>
          <a:xfrm>
            <a:off x="10806113" y="3529013"/>
            <a:ext cx="9525" cy="9525"/>
          </a:xfrm>
          <a:prstGeom prst="rect">
            <a:avLst/>
          </a:prstGeom>
          <a:noFill/>
          <a:ln w="0">
            <a:noFill/>
          </a:ln>
        </p:spPr>
        <p:txBody>
          <a:bodyPr/>
          <a:lstStyle/>
          <a:p>
            <a:endParaRPr lang="en-US"/>
          </a:p>
        </p:txBody>
      </p:sp>
      <p:cxnSp>
        <p:nvCxnSpPr>
          <p:cNvPr id="98" name="Straight Arrow Connector 97"/>
          <p:cNvCxnSpPr>
            <a:stCxn id="40" idx="3"/>
            <a:endCxn id="41" idx="1"/>
          </p:cNvCxnSpPr>
          <p:nvPr/>
        </p:nvCxnSpPr>
        <p:spPr>
          <a:xfrm>
            <a:off x="7672388" y="3533776"/>
            <a:ext cx="3133725" cy="0"/>
          </a:xfrm>
          <a:prstGeom prst="straightConnector1">
            <a:avLst/>
          </a:prstGeom>
          <a:ln w="19050">
            <a:solidFill>
              <a:srgbClr val="0F8B8D"/>
            </a:solidFill>
            <a:prstDash val="solid"/>
            <a:tailEnd type="triangle" w="med" len="med"/>
          </a:ln>
        </p:spPr>
      </p:cxnSp>
      <p:sp>
        <p:nvSpPr>
          <p:cNvPr id="43" name="native-156">
            <a:extLst>
              <a:ext uri="{FF2B5EF4-FFF2-40B4-BE49-F238E27FC236}">
                <a16:creationId xmlns:a16="http://schemas.microsoft.com/office/drawing/2014/main" id="{4388AC11-F610-4CD1-8A3A-38E7AA3C2C71}"/>
              </a:ext>
            </a:extLst>
          </p:cNvPr>
          <p:cNvSpPr>
            <a:spLocks noGrp="1"/>
          </p:cNvSpPr>
          <p:nvPr/>
        </p:nvSpPr>
        <p:spPr>
          <a:xfrm>
            <a:off x="7762875" y="326707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Persist resource with UUID</a:t>
            </a:r>
          </a:p>
        </p:txBody>
      </p:sp>
      <p:sp>
        <p:nvSpPr>
          <p:cNvPr id="44" name="native-157">
            <a:extLst>
              <a:ext uri="{FF2B5EF4-FFF2-40B4-BE49-F238E27FC236}">
                <a16:creationId xmlns:a16="http://schemas.microsoft.com/office/drawing/2014/main" id="{FEB29860-D788-49FD-8A22-80062F125669}"/>
              </a:ext>
            </a:extLst>
          </p:cNvPr>
          <p:cNvSpPr>
            <a:spLocks noGrp="1"/>
          </p:cNvSpPr>
          <p:nvPr/>
        </p:nvSpPr>
        <p:spPr>
          <a:xfrm>
            <a:off x="10806113" y="4024313"/>
            <a:ext cx="9525" cy="9525"/>
          </a:xfrm>
          <a:prstGeom prst="rect">
            <a:avLst/>
          </a:prstGeom>
          <a:noFill/>
          <a:ln w="0">
            <a:noFill/>
          </a:ln>
        </p:spPr>
        <p:txBody>
          <a:bodyPr/>
          <a:lstStyle/>
          <a:p>
            <a:endParaRPr lang="en-US"/>
          </a:p>
        </p:txBody>
      </p:sp>
      <p:sp>
        <p:nvSpPr>
          <p:cNvPr id="45" name="native-158">
            <a:extLst>
              <a:ext uri="{FF2B5EF4-FFF2-40B4-BE49-F238E27FC236}">
                <a16:creationId xmlns:a16="http://schemas.microsoft.com/office/drawing/2014/main" id="{0065E802-57F5-43FF-9ABF-BB49B909436F}"/>
              </a:ext>
            </a:extLst>
          </p:cNvPr>
          <p:cNvSpPr>
            <a:spLocks noGrp="1"/>
          </p:cNvSpPr>
          <p:nvPr/>
        </p:nvSpPr>
        <p:spPr>
          <a:xfrm>
            <a:off x="7662863" y="4024313"/>
            <a:ext cx="9525" cy="9525"/>
          </a:xfrm>
          <a:prstGeom prst="rect">
            <a:avLst/>
          </a:prstGeom>
          <a:noFill/>
          <a:ln w="0">
            <a:noFill/>
          </a:ln>
        </p:spPr>
        <p:txBody>
          <a:bodyPr/>
          <a:lstStyle/>
          <a:p>
            <a:endParaRPr lang="en-US"/>
          </a:p>
        </p:txBody>
      </p:sp>
      <p:cxnSp>
        <p:nvCxnSpPr>
          <p:cNvPr id="102" name="Straight Arrow Connector 101"/>
          <p:cNvCxnSpPr>
            <a:stCxn id="44" idx="3"/>
            <a:endCxn id="45" idx="1"/>
          </p:cNvCxnSpPr>
          <p:nvPr/>
        </p:nvCxnSpPr>
        <p:spPr>
          <a:xfrm flipH="1">
            <a:off x="7662863" y="4029076"/>
            <a:ext cx="3152775" cy="0"/>
          </a:xfrm>
          <a:prstGeom prst="straightConnector1">
            <a:avLst/>
          </a:prstGeom>
          <a:ln w="19050">
            <a:solidFill>
              <a:srgbClr val="3478B9"/>
            </a:solidFill>
            <a:prstDash val="dash"/>
            <a:tailEnd type="triangle" w="med" len="med"/>
          </a:ln>
        </p:spPr>
      </p:cxnSp>
      <p:sp>
        <p:nvSpPr>
          <p:cNvPr id="47" name="native-159">
            <a:extLst>
              <a:ext uri="{FF2B5EF4-FFF2-40B4-BE49-F238E27FC236}">
                <a16:creationId xmlns:a16="http://schemas.microsoft.com/office/drawing/2014/main" id="{66A6AB24-F256-49AA-9505-4D100C5A6D37}"/>
              </a:ext>
            </a:extLst>
          </p:cNvPr>
          <p:cNvSpPr>
            <a:spLocks noGrp="1"/>
          </p:cNvSpPr>
          <p:nvPr/>
        </p:nvSpPr>
        <p:spPr>
          <a:xfrm>
            <a:off x="7762875" y="3762375"/>
            <a:ext cx="295275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Stored resource</a:t>
            </a:r>
          </a:p>
        </p:txBody>
      </p:sp>
      <p:sp>
        <p:nvSpPr>
          <p:cNvPr id="48" name="native-160">
            <a:extLst>
              <a:ext uri="{FF2B5EF4-FFF2-40B4-BE49-F238E27FC236}">
                <a16:creationId xmlns:a16="http://schemas.microsoft.com/office/drawing/2014/main" id="{8F5406F2-4B3B-48D2-ABCB-F202174B77DB}"/>
              </a:ext>
            </a:extLst>
          </p:cNvPr>
          <p:cNvSpPr>
            <a:spLocks noGrp="1"/>
          </p:cNvSpPr>
          <p:nvPr/>
        </p:nvSpPr>
        <p:spPr>
          <a:xfrm>
            <a:off x="7662863" y="4519613"/>
            <a:ext cx="9525" cy="9525"/>
          </a:xfrm>
          <a:prstGeom prst="rect">
            <a:avLst/>
          </a:prstGeom>
          <a:noFill/>
          <a:ln w="0">
            <a:noFill/>
          </a:ln>
        </p:spPr>
        <p:txBody>
          <a:bodyPr/>
          <a:lstStyle/>
          <a:p>
            <a:endParaRPr lang="en-US"/>
          </a:p>
        </p:txBody>
      </p:sp>
      <p:sp>
        <p:nvSpPr>
          <p:cNvPr id="49" name="native-161">
            <a:extLst>
              <a:ext uri="{FF2B5EF4-FFF2-40B4-BE49-F238E27FC236}">
                <a16:creationId xmlns:a16="http://schemas.microsoft.com/office/drawing/2014/main" id="{D68F6FFE-315E-4F6F-8FC7-62978F68889E}"/>
              </a:ext>
            </a:extLst>
          </p:cNvPr>
          <p:cNvSpPr>
            <a:spLocks noGrp="1"/>
          </p:cNvSpPr>
          <p:nvPr/>
        </p:nvSpPr>
        <p:spPr>
          <a:xfrm>
            <a:off x="4519613" y="4519613"/>
            <a:ext cx="9525" cy="9525"/>
          </a:xfrm>
          <a:prstGeom prst="rect">
            <a:avLst/>
          </a:prstGeom>
          <a:noFill/>
          <a:ln w="0">
            <a:noFill/>
          </a:ln>
        </p:spPr>
        <p:txBody>
          <a:bodyPr/>
          <a:lstStyle/>
          <a:p>
            <a:endParaRPr lang="en-US"/>
          </a:p>
        </p:txBody>
      </p:sp>
      <p:cxnSp>
        <p:nvCxnSpPr>
          <p:cNvPr id="106" name="Straight Arrow Connector 105"/>
          <p:cNvCxnSpPr>
            <a:stCxn id="48" idx="3"/>
            <a:endCxn id="49" idx="1"/>
          </p:cNvCxnSpPr>
          <p:nvPr/>
        </p:nvCxnSpPr>
        <p:spPr>
          <a:xfrm flipH="1">
            <a:off x="4519613" y="4524376"/>
            <a:ext cx="3152775" cy="0"/>
          </a:xfrm>
          <a:prstGeom prst="straightConnector1">
            <a:avLst/>
          </a:prstGeom>
          <a:ln w="19050">
            <a:solidFill>
              <a:srgbClr val="3478B9"/>
            </a:solidFill>
            <a:prstDash val="dash"/>
            <a:tailEnd type="triangle" w="med" len="med"/>
          </a:ln>
        </p:spPr>
      </p:cxnSp>
      <p:sp>
        <p:nvSpPr>
          <p:cNvPr id="51" name="native-162">
            <a:extLst>
              <a:ext uri="{FF2B5EF4-FFF2-40B4-BE49-F238E27FC236}">
                <a16:creationId xmlns:a16="http://schemas.microsoft.com/office/drawing/2014/main" id="{D266A078-7FBB-40DE-8284-65FE2F0F2A0D}"/>
              </a:ext>
            </a:extLst>
          </p:cNvPr>
          <p:cNvSpPr>
            <a:spLocks noGrp="1"/>
          </p:cNvSpPr>
          <p:nvPr/>
        </p:nvSpPr>
        <p:spPr>
          <a:xfrm>
            <a:off x="4619625" y="4257675"/>
            <a:ext cx="295275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Created resource with id</a:t>
            </a:r>
          </a:p>
        </p:txBody>
      </p:sp>
      <p:sp>
        <p:nvSpPr>
          <p:cNvPr id="52" name="native-163">
            <a:extLst>
              <a:ext uri="{FF2B5EF4-FFF2-40B4-BE49-F238E27FC236}">
                <a16:creationId xmlns:a16="http://schemas.microsoft.com/office/drawing/2014/main" id="{75A7B057-E031-4483-A369-14A35DF1373F}"/>
              </a:ext>
            </a:extLst>
          </p:cNvPr>
          <p:cNvSpPr>
            <a:spLocks noGrp="1"/>
          </p:cNvSpPr>
          <p:nvPr/>
        </p:nvSpPr>
        <p:spPr>
          <a:xfrm>
            <a:off x="4519613" y="5014913"/>
            <a:ext cx="9525" cy="9525"/>
          </a:xfrm>
          <a:prstGeom prst="rect">
            <a:avLst/>
          </a:prstGeom>
          <a:noFill/>
          <a:ln w="0">
            <a:noFill/>
          </a:ln>
        </p:spPr>
        <p:txBody>
          <a:bodyPr/>
          <a:lstStyle/>
          <a:p>
            <a:endParaRPr lang="en-US"/>
          </a:p>
        </p:txBody>
      </p:sp>
      <p:sp>
        <p:nvSpPr>
          <p:cNvPr id="53" name="native-164">
            <a:extLst>
              <a:ext uri="{FF2B5EF4-FFF2-40B4-BE49-F238E27FC236}">
                <a16:creationId xmlns:a16="http://schemas.microsoft.com/office/drawing/2014/main" id="{8F5866F8-4435-4AC0-8E9A-FFEABCE39870}"/>
              </a:ext>
            </a:extLst>
          </p:cNvPr>
          <p:cNvSpPr>
            <a:spLocks noGrp="1"/>
          </p:cNvSpPr>
          <p:nvPr/>
        </p:nvSpPr>
        <p:spPr>
          <a:xfrm>
            <a:off x="1376363" y="5014913"/>
            <a:ext cx="9525" cy="9525"/>
          </a:xfrm>
          <a:prstGeom prst="rect">
            <a:avLst/>
          </a:prstGeom>
          <a:noFill/>
          <a:ln w="0">
            <a:noFill/>
          </a:ln>
        </p:spPr>
        <p:txBody>
          <a:bodyPr/>
          <a:lstStyle/>
          <a:p>
            <a:endParaRPr lang="en-US"/>
          </a:p>
        </p:txBody>
      </p:sp>
      <p:cxnSp>
        <p:nvCxnSpPr>
          <p:cNvPr id="110" name="Straight Arrow Connector 109"/>
          <p:cNvCxnSpPr>
            <a:stCxn id="52" idx="3"/>
            <a:endCxn id="53" idx="1"/>
          </p:cNvCxnSpPr>
          <p:nvPr/>
        </p:nvCxnSpPr>
        <p:spPr>
          <a:xfrm flipH="1">
            <a:off x="1376363" y="5019676"/>
            <a:ext cx="3152775" cy="0"/>
          </a:xfrm>
          <a:prstGeom prst="straightConnector1">
            <a:avLst/>
          </a:prstGeom>
          <a:ln w="19050">
            <a:solidFill>
              <a:srgbClr val="3478B9"/>
            </a:solidFill>
            <a:prstDash val="dash"/>
            <a:tailEnd type="triangle" w="med" len="med"/>
          </a:ln>
        </p:spPr>
      </p:cxnSp>
      <p:sp>
        <p:nvSpPr>
          <p:cNvPr id="55" name="native-165">
            <a:extLst>
              <a:ext uri="{FF2B5EF4-FFF2-40B4-BE49-F238E27FC236}">
                <a16:creationId xmlns:a16="http://schemas.microsoft.com/office/drawing/2014/main" id="{94858A25-D8B0-465B-9768-7496FB08A0FA}"/>
              </a:ext>
            </a:extLst>
          </p:cNvPr>
          <p:cNvSpPr>
            <a:spLocks noGrp="1"/>
          </p:cNvSpPr>
          <p:nvPr/>
        </p:nvSpPr>
        <p:spPr>
          <a:xfrm>
            <a:off x="1476375" y="4752975"/>
            <a:ext cx="295275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FHIR JSON response</a:t>
            </a:r>
          </a:p>
        </p:txBody>
      </p:sp>
      <p:sp>
        <p:nvSpPr>
          <p:cNvPr id="56" name="native-166">
            <a:extLst>
              <a:ext uri="{FF2B5EF4-FFF2-40B4-BE49-F238E27FC236}">
                <a16:creationId xmlns:a16="http://schemas.microsoft.com/office/drawing/2014/main" id="{4EE467A4-6796-47A3-B6FC-E05B45A4D191}"/>
              </a:ext>
            </a:extLst>
          </p:cNvPr>
          <p:cNvSpPr>
            <a:spLocks noGrp="1"/>
          </p:cNvSpPr>
          <p:nvPr/>
        </p:nvSpPr>
        <p:spPr>
          <a:xfrm>
            <a:off x="571500" y="5810250"/>
            <a:ext cx="11049000" cy="304800"/>
          </a:xfrm>
          <a:prstGeom prst="rect">
            <a:avLst/>
          </a:prstGeom>
          <a:noFill/>
          <a:ln w="0">
            <a:noFill/>
          </a:ln>
        </p:spPr>
        <p:txBody>
          <a:bodyPr anchor="ctr">
            <a:noAutofit/>
          </a:bodyPr>
          <a:lstStyle/>
          <a:p>
            <a:pPr algn="l">
              <a:defRPr sz="1350" b="0">
                <a:solidFill>
                  <a:srgbClr val="5D6C79"/>
                </a:solidFill>
                <a:latin typeface="Arial"/>
                <a:ea typeface="Arial"/>
                <a:cs typeface="Arial"/>
              </a:defRPr>
            </a:pPr>
            <a:r>
              <a:rPr sz="1350" b="0">
                <a:solidFill>
                  <a:srgbClr val="5D6C79"/>
                </a:solidFill>
                <a:latin typeface="Arial"/>
                <a:ea typeface="Arial"/>
                <a:cs typeface="Arial"/>
              </a:rPr>
              <a:t>Repeated for Patient, Encounter, Condition, Claim and ExplanationOfBenefit.</a:t>
            </a:r>
          </a:p>
        </p:txBody>
      </p:sp>
    </p:spTree>
    <p:extLst>
      <p:ext uri="{BB962C8B-B14F-4D97-AF65-F5344CB8AC3E}">
        <p14:creationId xmlns:p14="http://schemas.microsoft.com/office/powerpoint/2010/main" val="990732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MongoDB Collection Model</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Overview of application infrastructure and FHIR resource collections</a:t>
            </a:r>
            <a:endParaRPr lang="en-US" dirty="0"/>
          </a:p>
        </p:txBody>
      </p:sp>
      <p:sp>
        <p:nvSpPr>
          <p:cNvPr id="4" name="Shape 2"/>
          <p:cNvSpPr/>
          <p:nvPr/>
        </p:nvSpPr>
        <p:spPr>
          <a:xfrm>
            <a:off x="476250" y="1743075"/>
            <a:ext cx="11239500" cy="4638675"/>
          </a:xfrm>
          <a:prstGeom prst="roundRect">
            <a:avLst>
              <a:gd name="adj" fmla="val 1971"/>
            </a:avLst>
          </a:prstGeom>
          <a:solidFill>
            <a:srgbClr val="000000">
              <a:alpha val="0"/>
            </a:srgbClr>
          </a:solidFill>
          <a:ln>
            <a:miter lim="800000"/>
          </a:ln>
        </p:spPr>
        <p:txBody>
          <a:bodyPr/>
          <a:lstStyle/>
          <a:p>
            <a:endParaRPr lang="en-US"/>
          </a:p>
        </p:txBody>
      </p:sp>
      <p:pic>
        <p:nvPicPr>
          <p:cNvPr id="5" name="Image 0" descr="-3bf4fbde.png"/>
          <p:cNvPicPr>
            <a:picLocks noChangeAspect="1"/>
          </p:cNvPicPr>
          <p:nvPr/>
        </p:nvPicPr>
        <p:blipFill>
          <a:blip r:embed="rId3"/>
          <a:stretch>
            <a:fillRect/>
          </a:stretch>
        </p:blipFill>
        <p:spPr>
          <a:xfrm>
            <a:off x="476250" y="1743075"/>
            <a:ext cx="11249025" cy="4648200"/>
          </a:xfrm>
          <a:prstGeom prst="rect">
            <a:avLst/>
          </a:prstGeom>
        </p:spPr>
      </p:pic>
      <p:pic>
        <p:nvPicPr>
          <p:cNvPr id="6" name="Image 1" descr="-5caa58de.png"/>
          <p:cNvPicPr>
            <a:picLocks noChangeAspect="1"/>
          </p:cNvPicPr>
          <p:nvPr/>
        </p:nvPicPr>
        <p:blipFill>
          <a:blip r:embed="rId4"/>
          <a:stretch>
            <a:fillRect/>
          </a:stretch>
        </p:blipFill>
        <p:spPr>
          <a:xfrm>
            <a:off x="476250" y="1743075"/>
            <a:ext cx="11239500" cy="4638675"/>
          </a:xfrm>
          <a:prstGeom prst="rect">
            <a:avLst/>
          </a:prstGeom>
        </p:spPr>
      </p:pic>
      <p:sp>
        <p:nvSpPr>
          <p:cNvPr id="7" name="Text 3"/>
          <p:cNvSpPr/>
          <p:nvPr/>
        </p:nvSpPr>
        <p:spPr>
          <a:xfrm>
            <a:off x="476250" y="1743075"/>
            <a:ext cx="3190604" cy="662668"/>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Category</a:t>
            </a:r>
            <a:endParaRPr lang="en-US" dirty="0"/>
          </a:p>
        </p:txBody>
      </p:sp>
      <p:sp>
        <p:nvSpPr>
          <p:cNvPr id="8" name="Text 4"/>
          <p:cNvSpPr/>
          <p:nvPr/>
        </p:nvSpPr>
        <p:spPr>
          <a:xfrm>
            <a:off x="3666854" y="1743075"/>
            <a:ext cx="3496110" cy="662668"/>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Collection Name</a:t>
            </a:r>
            <a:endParaRPr lang="en-US" dirty="0"/>
          </a:p>
        </p:txBody>
      </p:sp>
      <p:sp>
        <p:nvSpPr>
          <p:cNvPr id="9" name="Text 5"/>
          <p:cNvSpPr/>
          <p:nvPr/>
        </p:nvSpPr>
        <p:spPr>
          <a:xfrm>
            <a:off x="7162963" y="1743075"/>
            <a:ext cx="4552787" cy="662668"/>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Description</a:t>
            </a:r>
            <a:endParaRPr lang="en-US" dirty="0"/>
          </a:p>
        </p:txBody>
      </p:sp>
      <p:sp>
        <p:nvSpPr>
          <p:cNvPr id="10" name="Text 6"/>
          <p:cNvSpPr/>
          <p:nvPr/>
        </p:nvSpPr>
        <p:spPr>
          <a:xfrm>
            <a:off x="476250" y="2405743"/>
            <a:ext cx="3190604"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Application &amp; Security</a:t>
            </a:r>
            <a:endParaRPr lang="en-US" dirty="0"/>
          </a:p>
        </p:txBody>
      </p:sp>
      <p:sp>
        <p:nvSpPr>
          <p:cNvPr id="11" name="Text 7"/>
          <p:cNvSpPr/>
          <p:nvPr/>
        </p:nvSpPr>
        <p:spPr>
          <a:xfrm>
            <a:off x="3666854" y="2405743"/>
            <a:ext cx="3496110"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users</a:t>
            </a:r>
            <a:endParaRPr lang="en-US" dirty="0"/>
          </a:p>
        </p:txBody>
      </p:sp>
      <p:sp>
        <p:nvSpPr>
          <p:cNvPr id="12" name="Text 8"/>
          <p:cNvSpPr/>
          <p:nvPr/>
        </p:nvSpPr>
        <p:spPr>
          <a:xfrm>
            <a:off x="7162963" y="2405743"/>
            <a:ext cx="4552787"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Platform accounts, BCrypt passwords, roles, and status flags.</a:t>
            </a:r>
            <a:endParaRPr lang="en-US" dirty="0"/>
          </a:p>
        </p:txBody>
      </p:sp>
      <p:sp>
        <p:nvSpPr>
          <p:cNvPr id="13" name="Text 9"/>
          <p:cNvSpPr/>
          <p:nvPr/>
        </p:nvSpPr>
        <p:spPr>
          <a:xfrm>
            <a:off x="476250" y="2902744"/>
            <a:ext cx="3190604"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Application &amp; Security</a:t>
            </a:r>
            <a:endParaRPr lang="en-US" dirty="0"/>
          </a:p>
        </p:txBody>
      </p:sp>
      <p:sp>
        <p:nvSpPr>
          <p:cNvPr id="14" name="Text 10"/>
          <p:cNvSpPr/>
          <p:nvPr/>
        </p:nvSpPr>
        <p:spPr>
          <a:xfrm>
            <a:off x="3666854" y="2902744"/>
            <a:ext cx="3496110"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synthea_jobs</a:t>
            </a:r>
            <a:endParaRPr lang="en-US" dirty="0"/>
          </a:p>
        </p:txBody>
      </p:sp>
      <p:sp>
        <p:nvSpPr>
          <p:cNvPr id="15" name="Text 11"/>
          <p:cNvSpPr/>
          <p:nvPr/>
        </p:nvSpPr>
        <p:spPr>
          <a:xfrm>
            <a:off x="7162963" y="2902744"/>
            <a:ext cx="4552787"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Tracks status, progress, and import counts for generation tasks.</a:t>
            </a:r>
            <a:endParaRPr lang="en-US" dirty="0"/>
          </a:p>
        </p:txBody>
      </p:sp>
      <p:sp>
        <p:nvSpPr>
          <p:cNvPr id="16" name="Text 12"/>
          <p:cNvSpPr/>
          <p:nvPr/>
        </p:nvSpPr>
        <p:spPr>
          <a:xfrm>
            <a:off x="476250" y="3399745"/>
            <a:ext cx="3190604"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 Resources</a:t>
            </a:r>
            <a:endParaRPr lang="en-US" dirty="0"/>
          </a:p>
        </p:txBody>
      </p:sp>
      <p:sp>
        <p:nvSpPr>
          <p:cNvPr id="17" name="Text 13"/>
          <p:cNvSpPr/>
          <p:nvPr/>
        </p:nvSpPr>
        <p:spPr>
          <a:xfrm>
            <a:off x="3666854" y="3399745"/>
            <a:ext cx="3496110"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fhir_patient</a:t>
            </a:r>
            <a:endParaRPr lang="en-US" dirty="0"/>
          </a:p>
        </p:txBody>
      </p:sp>
      <p:sp>
        <p:nvSpPr>
          <p:cNvPr id="18" name="Text 14"/>
          <p:cNvSpPr/>
          <p:nvPr/>
        </p:nvSpPr>
        <p:spPr>
          <a:xfrm>
            <a:off x="7162963" y="3399745"/>
            <a:ext cx="4552787"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Demographic and clinical identity data.</a:t>
            </a:r>
            <a:endParaRPr lang="en-US" dirty="0"/>
          </a:p>
        </p:txBody>
      </p:sp>
      <p:sp>
        <p:nvSpPr>
          <p:cNvPr id="19" name="Text 15"/>
          <p:cNvSpPr/>
          <p:nvPr/>
        </p:nvSpPr>
        <p:spPr>
          <a:xfrm>
            <a:off x="476250" y="3896746"/>
            <a:ext cx="3190604"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 Resources</a:t>
            </a:r>
            <a:endParaRPr lang="en-US" dirty="0"/>
          </a:p>
        </p:txBody>
      </p:sp>
      <p:sp>
        <p:nvSpPr>
          <p:cNvPr id="20" name="Text 16"/>
          <p:cNvSpPr/>
          <p:nvPr/>
        </p:nvSpPr>
        <p:spPr>
          <a:xfrm>
            <a:off x="3666854" y="3896746"/>
            <a:ext cx="3496110"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fhir_encounter</a:t>
            </a:r>
            <a:endParaRPr lang="en-US" dirty="0"/>
          </a:p>
        </p:txBody>
      </p:sp>
      <p:sp>
        <p:nvSpPr>
          <p:cNvPr id="21" name="Text 17"/>
          <p:cNvSpPr/>
          <p:nvPr/>
        </p:nvSpPr>
        <p:spPr>
          <a:xfrm>
            <a:off x="7162963" y="3896746"/>
            <a:ext cx="4552787"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Records of patient healthcare interactions.</a:t>
            </a:r>
            <a:endParaRPr lang="en-US" dirty="0"/>
          </a:p>
        </p:txBody>
      </p:sp>
      <p:sp>
        <p:nvSpPr>
          <p:cNvPr id="22" name="Text 18"/>
          <p:cNvSpPr/>
          <p:nvPr/>
        </p:nvSpPr>
        <p:spPr>
          <a:xfrm>
            <a:off x="476250" y="4393746"/>
            <a:ext cx="3190604"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 Resources</a:t>
            </a:r>
            <a:endParaRPr lang="en-US" dirty="0"/>
          </a:p>
        </p:txBody>
      </p:sp>
      <p:sp>
        <p:nvSpPr>
          <p:cNvPr id="23" name="Text 19"/>
          <p:cNvSpPr/>
          <p:nvPr/>
        </p:nvSpPr>
        <p:spPr>
          <a:xfrm>
            <a:off x="3666854" y="4393746"/>
            <a:ext cx="3496110"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fhir_condition</a:t>
            </a:r>
            <a:endParaRPr lang="en-US" dirty="0"/>
          </a:p>
        </p:txBody>
      </p:sp>
      <p:sp>
        <p:nvSpPr>
          <p:cNvPr id="24" name="Text 20"/>
          <p:cNvSpPr/>
          <p:nvPr/>
        </p:nvSpPr>
        <p:spPr>
          <a:xfrm>
            <a:off x="7162963" y="4393746"/>
            <a:ext cx="4552787"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Diagnoses and clinical problems.</a:t>
            </a:r>
            <a:endParaRPr lang="en-US" dirty="0"/>
          </a:p>
        </p:txBody>
      </p:sp>
      <p:sp>
        <p:nvSpPr>
          <p:cNvPr id="25" name="Text 21"/>
          <p:cNvSpPr/>
          <p:nvPr/>
        </p:nvSpPr>
        <p:spPr>
          <a:xfrm>
            <a:off x="476250" y="4890747"/>
            <a:ext cx="3190604"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 Resources</a:t>
            </a:r>
            <a:endParaRPr lang="en-US" dirty="0"/>
          </a:p>
        </p:txBody>
      </p:sp>
      <p:sp>
        <p:nvSpPr>
          <p:cNvPr id="26" name="Text 22"/>
          <p:cNvSpPr/>
          <p:nvPr/>
        </p:nvSpPr>
        <p:spPr>
          <a:xfrm>
            <a:off x="3666854" y="4890747"/>
            <a:ext cx="3496110"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fhir_claim</a:t>
            </a:r>
            <a:endParaRPr lang="en-US" dirty="0"/>
          </a:p>
        </p:txBody>
      </p:sp>
      <p:sp>
        <p:nvSpPr>
          <p:cNvPr id="27" name="Text 23"/>
          <p:cNvSpPr/>
          <p:nvPr/>
        </p:nvSpPr>
        <p:spPr>
          <a:xfrm>
            <a:off x="7162963" y="4890747"/>
            <a:ext cx="4552787"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Healthcare billing and service requests.</a:t>
            </a:r>
            <a:endParaRPr lang="en-US" dirty="0"/>
          </a:p>
        </p:txBody>
      </p:sp>
      <p:sp>
        <p:nvSpPr>
          <p:cNvPr id="28" name="Text 24"/>
          <p:cNvSpPr/>
          <p:nvPr/>
        </p:nvSpPr>
        <p:spPr>
          <a:xfrm>
            <a:off x="476250" y="5387748"/>
            <a:ext cx="3190604"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 Resources</a:t>
            </a:r>
            <a:endParaRPr lang="en-US" dirty="0"/>
          </a:p>
        </p:txBody>
      </p:sp>
      <p:sp>
        <p:nvSpPr>
          <p:cNvPr id="29" name="Text 25"/>
          <p:cNvSpPr/>
          <p:nvPr/>
        </p:nvSpPr>
        <p:spPr>
          <a:xfrm>
            <a:off x="3666854" y="5387748"/>
            <a:ext cx="3496110"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fhir_explanationofbenefit</a:t>
            </a:r>
            <a:endParaRPr lang="en-US" dirty="0"/>
          </a:p>
        </p:txBody>
      </p:sp>
      <p:sp>
        <p:nvSpPr>
          <p:cNvPr id="30" name="Text 26"/>
          <p:cNvSpPr/>
          <p:nvPr/>
        </p:nvSpPr>
        <p:spPr>
          <a:xfrm>
            <a:off x="7162963" y="5387748"/>
            <a:ext cx="4552787"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Adjudication details and coverage information.</a:t>
            </a:r>
            <a:endParaRPr lang="en-US" dirty="0"/>
          </a:p>
        </p:txBody>
      </p:sp>
      <p:sp>
        <p:nvSpPr>
          <p:cNvPr id="31" name="Text 27"/>
          <p:cNvSpPr/>
          <p:nvPr/>
        </p:nvSpPr>
        <p:spPr>
          <a:xfrm>
            <a:off x="476250" y="5884749"/>
            <a:ext cx="3190604"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 Resources</a:t>
            </a:r>
            <a:endParaRPr lang="en-US" dirty="0"/>
          </a:p>
        </p:txBody>
      </p:sp>
      <p:sp>
        <p:nvSpPr>
          <p:cNvPr id="32" name="Text 28"/>
          <p:cNvSpPr/>
          <p:nvPr/>
        </p:nvSpPr>
        <p:spPr>
          <a:xfrm>
            <a:off x="3666854" y="5884749"/>
            <a:ext cx="3496110"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fhir_*</a:t>
            </a:r>
            <a:endParaRPr lang="en-US" dirty="0"/>
          </a:p>
        </p:txBody>
      </p:sp>
      <p:sp>
        <p:nvSpPr>
          <p:cNvPr id="33" name="Text 29"/>
          <p:cNvSpPr/>
          <p:nvPr/>
        </p:nvSpPr>
        <p:spPr>
          <a:xfrm>
            <a:off x="7162963" y="5884749"/>
            <a:ext cx="4552787" cy="49700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Namespace for all additional supported resource types.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native-167">
            <a:extLst>
              <a:ext uri="{FF2B5EF4-FFF2-40B4-BE49-F238E27FC236}">
                <a16:creationId xmlns:a16="http://schemas.microsoft.com/office/drawing/2014/main" id="{CFD32531-EB05-4378-AB52-9C2F268B56A0}"/>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Clinical resource reference ERD</a:t>
            </a:r>
          </a:p>
        </p:txBody>
      </p:sp>
      <p:sp>
        <p:nvSpPr>
          <p:cNvPr id="2" name="native-168">
            <a:extLst>
              <a:ext uri="{FF2B5EF4-FFF2-40B4-BE49-F238E27FC236}">
                <a16:creationId xmlns:a16="http://schemas.microsoft.com/office/drawing/2014/main" id="{981123D5-C0BA-42FA-ACD9-8940282B6DDF}"/>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FHIR R4 references connecting the clinical context for billing</a:t>
            </a:r>
          </a:p>
        </p:txBody>
      </p:sp>
      <p:sp>
        <p:nvSpPr>
          <p:cNvPr id="3" name="native-169">
            <a:extLst>
              <a:ext uri="{FF2B5EF4-FFF2-40B4-BE49-F238E27FC236}">
                <a16:creationId xmlns:a16="http://schemas.microsoft.com/office/drawing/2014/main" id="{56A0BA87-2A0A-4F77-8E2E-3DF3E1550B7C}"/>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170">
            <a:extLst>
              <a:ext uri="{FF2B5EF4-FFF2-40B4-BE49-F238E27FC236}">
                <a16:creationId xmlns:a16="http://schemas.microsoft.com/office/drawing/2014/main" id="{A95EAFC1-8A64-4848-A429-E6E7CB97B2D0}"/>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55" name="Straight Arrow Connector 54"/>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171">
            <a:extLst>
              <a:ext uri="{FF2B5EF4-FFF2-40B4-BE49-F238E27FC236}">
                <a16:creationId xmlns:a16="http://schemas.microsoft.com/office/drawing/2014/main" id="{C5CA0B32-D7FC-4E6C-81F7-3FC031975D76}"/>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Arrows follow Reference fields. Multiplicity belongs to the source element. Patient target shown for this platform.</a:t>
            </a:r>
          </a:p>
        </p:txBody>
      </p:sp>
      <p:sp>
        <p:nvSpPr>
          <p:cNvPr id="7" name="native-172">
            <a:extLst>
              <a:ext uri="{FF2B5EF4-FFF2-40B4-BE49-F238E27FC236}">
                <a16:creationId xmlns:a16="http://schemas.microsoft.com/office/drawing/2014/main" id="{579DFC6E-5506-4827-A67E-A7C87718ED8C}"/>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11</a:t>
            </a:r>
          </a:p>
        </p:txBody>
      </p:sp>
      <p:sp>
        <p:nvSpPr>
          <p:cNvPr id="8" name="native-173">
            <a:extLst>
              <a:ext uri="{FF2B5EF4-FFF2-40B4-BE49-F238E27FC236}">
                <a16:creationId xmlns:a16="http://schemas.microsoft.com/office/drawing/2014/main" id="{ED059783-2EF0-4E54-B703-A78179333A38}"/>
              </a:ext>
            </a:extLst>
          </p:cNvPr>
          <p:cNvSpPr>
            <a:spLocks noGrp="1"/>
          </p:cNvSpPr>
          <p:nvPr/>
        </p:nvSpPr>
        <p:spPr>
          <a:xfrm>
            <a:off x="666750" y="1857375"/>
            <a:ext cx="2952750" cy="1333500"/>
          </a:xfrm>
          <a:prstGeom prst="rect">
            <a:avLst/>
          </a:prstGeom>
          <a:solidFill>
            <a:srgbClr val="FFFFFF"/>
          </a:solidFill>
          <a:ln w="14288">
            <a:solidFill>
              <a:srgbClr val="B6C6D2"/>
            </a:solidFill>
          </a:ln>
        </p:spPr>
        <p:txBody>
          <a:bodyPr/>
          <a:lstStyle/>
          <a:p>
            <a:endParaRPr lang="en-US"/>
          </a:p>
        </p:txBody>
      </p:sp>
      <p:sp>
        <p:nvSpPr>
          <p:cNvPr id="9" name="native-174">
            <a:extLst>
              <a:ext uri="{FF2B5EF4-FFF2-40B4-BE49-F238E27FC236}">
                <a16:creationId xmlns:a16="http://schemas.microsoft.com/office/drawing/2014/main" id="{E9FB2A27-F62A-41F1-89C5-64DA4E3DFCEF}"/>
              </a:ext>
            </a:extLst>
          </p:cNvPr>
          <p:cNvSpPr>
            <a:spLocks noGrp="1"/>
          </p:cNvSpPr>
          <p:nvPr/>
        </p:nvSpPr>
        <p:spPr>
          <a:xfrm>
            <a:off x="666750" y="1857375"/>
            <a:ext cx="2952750" cy="400050"/>
          </a:xfrm>
          <a:prstGeom prst="rect">
            <a:avLst/>
          </a:prstGeom>
          <a:solidFill>
            <a:srgbClr val="10243A"/>
          </a:solidFill>
          <a:ln w="0">
            <a:noFill/>
          </a:ln>
        </p:spPr>
        <p:txBody>
          <a:bodyPr/>
          <a:lstStyle/>
          <a:p>
            <a:endParaRPr lang="en-US"/>
          </a:p>
        </p:txBody>
      </p:sp>
      <p:sp>
        <p:nvSpPr>
          <p:cNvPr id="10" name="native-175">
            <a:extLst>
              <a:ext uri="{FF2B5EF4-FFF2-40B4-BE49-F238E27FC236}">
                <a16:creationId xmlns:a16="http://schemas.microsoft.com/office/drawing/2014/main" id="{5B186926-BCD2-43E2-8BA5-C2DA0EFE2045}"/>
              </a:ext>
            </a:extLst>
          </p:cNvPr>
          <p:cNvSpPr>
            <a:spLocks noGrp="1"/>
          </p:cNvSpPr>
          <p:nvPr/>
        </p:nvSpPr>
        <p:spPr>
          <a:xfrm>
            <a:off x="762000" y="1885950"/>
            <a:ext cx="2762250" cy="342900"/>
          </a:xfrm>
          <a:prstGeom prst="rect">
            <a:avLst/>
          </a:prstGeom>
          <a:noFill/>
          <a:ln w="0">
            <a:noFill/>
          </a:ln>
        </p:spPr>
        <p:txBody>
          <a:bodyPr anchor="ctr">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Condition</a:t>
            </a:r>
          </a:p>
        </p:txBody>
      </p:sp>
      <p:sp>
        <p:nvSpPr>
          <p:cNvPr id="11" name="native-176">
            <a:extLst>
              <a:ext uri="{FF2B5EF4-FFF2-40B4-BE49-F238E27FC236}">
                <a16:creationId xmlns:a16="http://schemas.microsoft.com/office/drawing/2014/main" id="{4198D959-FDF9-4F88-AC97-C9FC0EFA1BB5}"/>
              </a:ext>
            </a:extLst>
          </p:cNvPr>
          <p:cNvSpPr>
            <a:spLocks noGrp="1"/>
          </p:cNvSpPr>
          <p:nvPr/>
        </p:nvSpPr>
        <p:spPr>
          <a:xfrm>
            <a:off x="781050" y="2305050"/>
            <a:ext cx="2724150" cy="285750"/>
          </a:xfrm>
          <a:prstGeom prst="rect">
            <a:avLst/>
          </a:prstGeom>
          <a:noFill/>
          <a:ln w="0">
            <a:noFill/>
          </a:ln>
        </p:spPr>
        <p:txBody>
          <a:bodyPr anchor="ctr">
            <a:noAutofit/>
          </a:bodyPr>
          <a:lstStyle/>
          <a:p>
            <a:pPr algn="l">
              <a:defRPr sz="1350" b="0">
                <a:solidFill>
                  <a:srgbClr val="0F8B8D"/>
                </a:solidFill>
                <a:latin typeface="Arial"/>
                <a:ea typeface="Arial"/>
                <a:cs typeface="Arial"/>
              </a:defRPr>
            </a:pPr>
            <a:r>
              <a:rPr sz="1350" b="0">
                <a:solidFill>
                  <a:srgbClr val="0F8B8D"/>
                </a:solidFill>
                <a:latin typeface="Arial"/>
                <a:ea typeface="Arial"/>
                <a:cs typeface="Arial"/>
              </a:rPr>
              <a:t>/fhir/Condition/{id}</a:t>
            </a:r>
          </a:p>
        </p:txBody>
      </p:sp>
      <p:sp>
        <p:nvSpPr>
          <p:cNvPr id="12" name="native-177">
            <a:extLst>
              <a:ext uri="{FF2B5EF4-FFF2-40B4-BE49-F238E27FC236}">
                <a16:creationId xmlns:a16="http://schemas.microsoft.com/office/drawing/2014/main" id="{DB838235-36CB-4163-94B6-99704A093B31}"/>
              </a:ext>
            </a:extLst>
          </p:cNvPr>
          <p:cNvSpPr>
            <a:spLocks noGrp="1"/>
          </p:cNvSpPr>
          <p:nvPr/>
        </p:nvSpPr>
        <p:spPr>
          <a:xfrm>
            <a:off x="781050" y="2619375"/>
            <a:ext cx="2724150" cy="5334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id, code, clinicalStatus</a:t>
            </a:r>
          </a:p>
        </p:txBody>
      </p:sp>
      <p:sp>
        <p:nvSpPr>
          <p:cNvPr id="13" name="native-178">
            <a:extLst>
              <a:ext uri="{FF2B5EF4-FFF2-40B4-BE49-F238E27FC236}">
                <a16:creationId xmlns:a16="http://schemas.microsoft.com/office/drawing/2014/main" id="{3DC4C815-2893-48E3-84BC-89BF779FD5A6}"/>
              </a:ext>
            </a:extLst>
          </p:cNvPr>
          <p:cNvSpPr>
            <a:spLocks noGrp="1"/>
          </p:cNvSpPr>
          <p:nvPr/>
        </p:nvSpPr>
        <p:spPr>
          <a:xfrm>
            <a:off x="8001000" y="1857375"/>
            <a:ext cx="3524250" cy="1333500"/>
          </a:xfrm>
          <a:prstGeom prst="rect">
            <a:avLst/>
          </a:prstGeom>
          <a:solidFill>
            <a:srgbClr val="FFFFFF"/>
          </a:solidFill>
          <a:ln w="14288">
            <a:solidFill>
              <a:srgbClr val="B6C6D2"/>
            </a:solidFill>
          </a:ln>
        </p:spPr>
        <p:txBody>
          <a:bodyPr/>
          <a:lstStyle/>
          <a:p>
            <a:endParaRPr lang="en-US"/>
          </a:p>
        </p:txBody>
      </p:sp>
      <p:sp>
        <p:nvSpPr>
          <p:cNvPr id="14" name="native-179">
            <a:extLst>
              <a:ext uri="{FF2B5EF4-FFF2-40B4-BE49-F238E27FC236}">
                <a16:creationId xmlns:a16="http://schemas.microsoft.com/office/drawing/2014/main" id="{0667F908-78E4-44C1-8F0A-D3C70643FDF4}"/>
              </a:ext>
            </a:extLst>
          </p:cNvPr>
          <p:cNvSpPr>
            <a:spLocks noGrp="1"/>
          </p:cNvSpPr>
          <p:nvPr/>
        </p:nvSpPr>
        <p:spPr>
          <a:xfrm>
            <a:off x="8001000" y="1857375"/>
            <a:ext cx="3524250" cy="400050"/>
          </a:xfrm>
          <a:prstGeom prst="rect">
            <a:avLst/>
          </a:prstGeom>
          <a:solidFill>
            <a:srgbClr val="10243A"/>
          </a:solidFill>
          <a:ln w="0">
            <a:noFill/>
          </a:ln>
        </p:spPr>
        <p:txBody>
          <a:bodyPr/>
          <a:lstStyle/>
          <a:p>
            <a:endParaRPr lang="en-US"/>
          </a:p>
        </p:txBody>
      </p:sp>
      <p:sp>
        <p:nvSpPr>
          <p:cNvPr id="15" name="native-180">
            <a:extLst>
              <a:ext uri="{FF2B5EF4-FFF2-40B4-BE49-F238E27FC236}">
                <a16:creationId xmlns:a16="http://schemas.microsoft.com/office/drawing/2014/main" id="{E36CFEF2-7C1D-4CB3-9470-0C09F28710D8}"/>
              </a:ext>
            </a:extLst>
          </p:cNvPr>
          <p:cNvSpPr>
            <a:spLocks noGrp="1"/>
          </p:cNvSpPr>
          <p:nvPr/>
        </p:nvSpPr>
        <p:spPr>
          <a:xfrm>
            <a:off x="8096250" y="1885950"/>
            <a:ext cx="3333750" cy="342900"/>
          </a:xfrm>
          <a:prstGeom prst="rect">
            <a:avLst/>
          </a:prstGeom>
          <a:noFill/>
          <a:ln w="0">
            <a:noFill/>
          </a:ln>
        </p:spPr>
        <p:txBody>
          <a:bodyPr anchor="ctr">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Encounter</a:t>
            </a:r>
          </a:p>
        </p:txBody>
      </p:sp>
      <p:sp>
        <p:nvSpPr>
          <p:cNvPr id="16" name="native-181">
            <a:extLst>
              <a:ext uri="{FF2B5EF4-FFF2-40B4-BE49-F238E27FC236}">
                <a16:creationId xmlns:a16="http://schemas.microsoft.com/office/drawing/2014/main" id="{27864AAC-15E0-46F2-B464-661DE31BBA83}"/>
              </a:ext>
            </a:extLst>
          </p:cNvPr>
          <p:cNvSpPr>
            <a:spLocks noGrp="1"/>
          </p:cNvSpPr>
          <p:nvPr/>
        </p:nvSpPr>
        <p:spPr>
          <a:xfrm>
            <a:off x="8115300" y="2305050"/>
            <a:ext cx="3295650" cy="285750"/>
          </a:xfrm>
          <a:prstGeom prst="rect">
            <a:avLst/>
          </a:prstGeom>
          <a:noFill/>
          <a:ln w="0">
            <a:noFill/>
          </a:ln>
        </p:spPr>
        <p:txBody>
          <a:bodyPr anchor="ctr">
            <a:noAutofit/>
          </a:bodyPr>
          <a:lstStyle/>
          <a:p>
            <a:pPr algn="l">
              <a:defRPr sz="1350" b="0">
                <a:solidFill>
                  <a:srgbClr val="0F8B8D"/>
                </a:solidFill>
                <a:latin typeface="Arial"/>
                <a:ea typeface="Arial"/>
                <a:cs typeface="Arial"/>
              </a:defRPr>
            </a:pPr>
            <a:r>
              <a:rPr sz="1350" b="0">
                <a:solidFill>
                  <a:srgbClr val="0F8B8D"/>
                </a:solidFill>
                <a:latin typeface="Arial"/>
                <a:ea typeface="Arial"/>
                <a:cs typeface="Arial"/>
              </a:rPr>
              <a:t>/fhir/Encounter/{id}</a:t>
            </a:r>
          </a:p>
        </p:txBody>
      </p:sp>
      <p:sp>
        <p:nvSpPr>
          <p:cNvPr id="17" name="native-182">
            <a:extLst>
              <a:ext uri="{FF2B5EF4-FFF2-40B4-BE49-F238E27FC236}">
                <a16:creationId xmlns:a16="http://schemas.microsoft.com/office/drawing/2014/main" id="{34A1BBFB-8EB9-4BC7-A5B4-9C9C4EDACE1E}"/>
              </a:ext>
            </a:extLst>
          </p:cNvPr>
          <p:cNvSpPr>
            <a:spLocks noGrp="1"/>
          </p:cNvSpPr>
          <p:nvPr/>
        </p:nvSpPr>
        <p:spPr>
          <a:xfrm>
            <a:off x="8115300" y="2619375"/>
            <a:ext cx="3295650" cy="5334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id, status, class, period</a:t>
            </a:r>
          </a:p>
        </p:txBody>
      </p:sp>
      <p:sp>
        <p:nvSpPr>
          <p:cNvPr id="18" name="native-183">
            <a:extLst>
              <a:ext uri="{FF2B5EF4-FFF2-40B4-BE49-F238E27FC236}">
                <a16:creationId xmlns:a16="http://schemas.microsoft.com/office/drawing/2014/main" id="{CF0B26E5-45EE-422B-BF04-07634D0298C7}"/>
              </a:ext>
            </a:extLst>
          </p:cNvPr>
          <p:cNvSpPr>
            <a:spLocks noGrp="1"/>
          </p:cNvSpPr>
          <p:nvPr/>
        </p:nvSpPr>
        <p:spPr>
          <a:xfrm>
            <a:off x="666750" y="4629150"/>
            <a:ext cx="2952750" cy="1143000"/>
          </a:xfrm>
          <a:prstGeom prst="rect">
            <a:avLst/>
          </a:prstGeom>
          <a:solidFill>
            <a:srgbClr val="FFFFFF"/>
          </a:solidFill>
          <a:ln w="14288">
            <a:solidFill>
              <a:srgbClr val="B6C6D2"/>
            </a:solidFill>
          </a:ln>
        </p:spPr>
        <p:txBody>
          <a:bodyPr/>
          <a:lstStyle/>
          <a:p>
            <a:endParaRPr lang="en-US"/>
          </a:p>
        </p:txBody>
      </p:sp>
      <p:sp>
        <p:nvSpPr>
          <p:cNvPr id="19" name="native-184">
            <a:extLst>
              <a:ext uri="{FF2B5EF4-FFF2-40B4-BE49-F238E27FC236}">
                <a16:creationId xmlns:a16="http://schemas.microsoft.com/office/drawing/2014/main" id="{8D6C6C49-BBD0-40D9-A586-6614792F2C92}"/>
              </a:ext>
            </a:extLst>
          </p:cNvPr>
          <p:cNvSpPr>
            <a:spLocks noGrp="1"/>
          </p:cNvSpPr>
          <p:nvPr/>
        </p:nvSpPr>
        <p:spPr>
          <a:xfrm>
            <a:off x="666750" y="4629150"/>
            <a:ext cx="2952750" cy="400050"/>
          </a:xfrm>
          <a:prstGeom prst="rect">
            <a:avLst/>
          </a:prstGeom>
          <a:solidFill>
            <a:srgbClr val="10243A"/>
          </a:solidFill>
          <a:ln w="0">
            <a:noFill/>
          </a:ln>
        </p:spPr>
        <p:txBody>
          <a:bodyPr/>
          <a:lstStyle/>
          <a:p>
            <a:endParaRPr lang="en-US"/>
          </a:p>
        </p:txBody>
      </p:sp>
      <p:sp>
        <p:nvSpPr>
          <p:cNvPr id="20" name="native-185">
            <a:extLst>
              <a:ext uri="{FF2B5EF4-FFF2-40B4-BE49-F238E27FC236}">
                <a16:creationId xmlns:a16="http://schemas.microsoft.com/office/drawing/2014/main" id="{E5A959E0-86AE-467F-8BE8-23407B121F76}"/>
              </a:ext>
            </a:extLst>
          </p:cNvPr>
          <p:cNvSpPr>
            <a:spLocks noGrp="1"/>
          </p:cNvSpPr>
          <p:nvPr/>
        </p:nvSpPr>
        <p:spPr>
          <a:xfrm>
            <a:off x="762000" y="4657725"/>
            <a:ext cx="2762250" cy="342900"/>
          </a:xfrm>
          <a:prstGeom prst="rect">
            <a:avLst/>
          </a:prstGeom>
          <a:noFill/>
          <a:ln w="0">
            <a:noFill/>
          </a:ln>
        </p:spPr>
        <p:txBody>
          <a:bodyPr anchor="ctr">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Patient</a:t>
            </a:r>
          </a:p>
        </p:txBody>
      </p:sp>
      <p:sp>
        <p:nvSpPr>
          <p:cNvPr id="21" name="native-186">
            <a:extLst>
              <a:ext uri="{FF2B5EF4-FFF2-40B4-BE49-F238E27FC236}">
                <a16:creationId xmlns:a16="http://schemas.microsoft.com/office/drawing/2014/main" id="{E04DF4A3-FCFC-44EF-B9F0-C90C24864FB4}"/>
              </a:ext>
            </a:extLst>
          </p:cNvPr>
          <p:cNvSpPr>
            <a:spLocks noGrp="1"/>
          </p:cNvSpPr>
          <p:nvPr/>
        </p:nvSpPr>
        <p:spPr>
          <a:xfrm>
            <a:off x="781050" y="5076825"/>
            <a:ext cx="2724150" cy="285750"/>
          </a:xfrm>
          <a:prstGeom prst="rect">
            <a:avLst/>
          </a:prstGeom>
          <a:noFill/>
          <a:ln w="0">
            <a:noFill/>
          </a:ln>
        </p:spPr>
        <p:txBody>
          <a:bodyPr anchor="ctr">
            <a:noAutofit/>
          </a:bodyPr>
          <a:lstStyle/>
          <a:p>
            <a:pPr algn="l">
              <a:defRPr sz="1350" b="0">
                <a:solidFill>
                  <a:srgbClr val="0F8B8D"/>
                </a:solidFill>
                <a:latin typeface="Arial"/>
                <a:ea typeface="Arial"/>
                <a:cs typeface="Arial"/>
              </a:defRPr>
            </a:pPr>
            <a:r>
              <a:rPr sz="1350" b="0">
                <a:solidFill>
                  <a:srgbClr val="0F8B8D"/>
                </a:solidFill>
                <a:latin typeface="Arial"/>
                <a:ea typeface="Arial"/>
                <a:cs typeface="Arial"/>
              </a:rPr>
              <a:t>/fhir/Patient/{id}</a:t>
            </a:r>
          </a:p>
        </p:txBody>
      </p:sp>
      <p:sp>
        <p:nvSpPr>
          <p:cNvPr id="22" name="native-187">
            <a:extLst>
              <a:ext uri="{FF2B5EF4-FFF2-40B4-BE49-F238E27FC236}">
                <a16:creationId xmlns:a16="http://schemas.microsoft.com/office/drawing/2014/main" id="{786C892E-2DD2-468E-8B82-F0D3666F68CD}"/>
              </a:ext>
            </a:extLst>
          </p:cNvPr>
          <p:cNvSpPr>
            <a:spLocks noGrp="1"/>
          </p:cNvSpPr>
          <p:nvPr/>
        </p:nvSpPr>
        <p:spPr>
          <a:xfrm>
            <a:off x="781050" y="5391150"/>
            <a:ext cx="2724150" cy="3429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id, identifier, name</a:t>
            </a:r>
          </a:p>
        </p:txBody>
      </p:sp>
      <p:sp>
        <p:nvSpPr>
          <p:cNvPr id="23" name="native-188">
            <a:extLst>
              <a:ext uri="{FF2B5EF4-FFF2-40B4-BE49-F238E27FC236}">
                <a16:creationId xmlns:a16="http://schemas.microsoft.com/office/drawing/2014/main" id="{4236A2C2-4F40-48F6-986F-722378A59917}"/>
              </a:ext>
            </a:extLst>
          </p:cNvPr>
          <p:cNvSpPr>
            <a:spLocks noGrp="1"/>
          </p:cNvSpPr>
          <p:nvPr/>
        </p:nvSpPr>
        <p:spPr>
          <a:xfrm>
            <a:off x="8001000" y="4629150"/>
            <a:ext cx="3524250" cy="1143000"/>
          </a:xfrm>
          <a:prstGeom prst="rect">
            <a:avLst/>
          </a:prstGeom>
          <a:solidFill>
            <a:srgbClr val="FFFFFF"/>
          </a:solidFill>
          <a:ln w="14288">
            <a:solidFill>
              <a:srgbClr val="B6C6D2"/>
            </a:solidFill>
          </a:ln>
        </p:spPr>
        <p:txBody>
          <a:bodyPr/>
          <a:lstStyle/>
          <a:p>
            <a:endParaRPr lang="en-US"/>
          </a:p>
        </p:txBody>
      </p:sp>
      <p:sp>
        <p:nvSpPr>
          <p:cNvPr id="24" name="native-189">
            <a:extLst>
              <a:ext uri="{FF2B5EF4-FFF2-40B4-BE49-F238E27FC236}">
                <a16:creationId xmlns:a16="http://schemas.microsoft.com/office/drawing/2014/main" id="{74B0DBED-24EA-4537-A546-DF1D692A14A7}"/>
              </a:ext>
            </a:extLst>
          </p:cNvPr>
          <p:cNvSpPr>
            <a:spLocks noGrp="1"/>
          </p:cNvSpPr>
          <p:nvPr/>
        </p:nvSpPr>
        <p:spPr>
          <a:xfrm>
            <a:off x="8001000" y="4629150"/>
            <a:ext cx="3524250" cy="400050"/>
          </a:xfrm>
          <a:prstGeom prst="rect">
            <a:avLst/>
          </a:prstGeom>
          <a:solidFill>
            <a:srgbClr val="10243A"/>
          </a:solidFill>
          <a:ln w="0">
            <a:noFill/>
          </a:ln>
        </p:spPr>
        <p:txBody>
          <a:bodyPr/>
          <a:lstStyle/>
          <a:p>
            <a:endParaRPr lang="en-US"/>
          </a:p>
        </p:txBody>
      </p:sp>
      <p:sp>
        <p:nvSpPr>
          <p:cNvPr id="25" name="native-190">
            <a:extLst>
              <a:ext uri="{FF2B5EF4-FFF2-40B4-BE49-F238E27FC236}">
                <a16:creationId xmlns:a16="http://schemas.microsoft.com/office/drawing/2014/main" id="{5DE9CF3B-1738-4A04-92E9-78AA4C945D0A}"/>
              </a:ext>
            </a:extLst>
          </p:cNvPr>
          <p:cNvSpPr>
            <a:spLocks noGrp="1"/>
          </p:cNvSpPr>
          <p:nvPr/>
        </p:nvSpPr>
        <p:spPr>
          <a:xfrm>
            <a:off x="8096250" y="4657725"/>
            <a:ext cx="3333750" cy="342900"/>
          </a:xfrm>
          <a:prstGeom prst="rect">
            <a:avLst/>
          </a:prstGeom>
          <a:noFill/>
          <a:ln w="0">
            <a:noFill/>
          </a:ln>
        </p:spPr>
        <p:txBody>
          <a:bodyPr anchor="ctr">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Organization</a:t>
            </a:r>
          </a:p>
        </p:txBody>
      </p:sp>
      <p:sp>
        <p:nvSpPr>
          <p:cNvPr id="26" name="native-191">
            <a:extLst>
              <a:ext uri="{FF2B5EF4-FFF2-40B4-BE49-F238E27FC236}">
                <a16:creationId xmlns:a16="http://schemas.microsoft.com/office/drawing/2014/main" id="{2B7278AB-CB85-4AFE-9F41-F05FD9E5F63E}"/>
              </a:ext>
            </a:extLst>
          </p:cNvPr>
          <p:cNvSpPr>
            <a:spLocks noGrp="1"/>
          </p:cNvSpPr>
          <p:nvPr/>
        </p:nvSpPr>
        <p:spPr>
          <a:xfrm>
            <a:off x="8115300" y="5076825"/>
            <a:ext cx="3295650" cy="285750"/>
          </a:xfrm>
          <a:prstGeom prst="rect">
            <a:avLst/>
          </a:prstGeom>
          <a:noFill/>
          <a:ln w="0">
            <a:noFill/>
          </a:ln>
        </p:spPr>
        <p:txBody>
          <a:bodyPr anchor="ctr">
            <a:noAutofit/>
          </a:bodyPr>
          <a:lstStyle/>
          <a:p>
            <a:pPr algn="l">
              <a:defRPr sz="1350" b="0">
                <a:solidFill>
                  <a:srgbClr val="0F8B8D"/>
                </a:solidFill>
                <a:latin typeface="Arial"/>
                <a:ea typeface="Arial"/>
                <a:cs typeface="Arial"/>
              </a:defRPr>
            </a:pPr>
            <a:r>
              <a:rPr sz="1350" b="0">
                <a:solidFill>
                  <a:srgbClr val="0F8B8D"/>
                </a:solidFill>
                <a:latin typeface="Arial"/>
                <a:ea typeface="Arial"/>
                <a:cs typeface="Arial"/>
              </a:rPr>
              <a:t>/fhir/Organization/{id}</a:t>
            </a:r>
          </a:p>
        </p:txBody>
      </p:sp>
      <p:sp>
        <p:nvSpPr>
          <p:cNvPr id="27" name="native-192">
            <a:extLst>
              <a:ext uri="{FF2B5EF4-FFF2-40B4-BE49-F238E27FC236}">
                <a16:creationId xmlns:a16="http://schemas.microsoft.com/office/drawing/2014/main" id="{F9A29B2F-C4FF-483D-A28C-D664E88CCCDC}"/>
              </a:ext>
            </a:extLst>
          </p:cNvPr>
          <p:cNvSpPr>
            <a:spLocks noGrp="1"/>
          </p:cNvSpPr>
          <p:nvPr/>
        </p:nvSpPr>
        <p:spPr>
          <a:xfrm>
            <a:off x="8115300" y="5391150"/>
            <a:ext cx="3295650" cy="3429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id, identifier, name</a:t>
            </a:r>
          </a:p>
        </p:txBody>
      </p:sp>
      <p:sp>
        <p:nvSpPr>
          <p:cNvPr id="28" name="native-193">
            <a:extLst>
              <a:ext uri="{FF2B5EF4-FFF2-40B4-BE49-F238E27FC236}">
                <a16:creationId xmlns:a16="http://schemas.microsoft.com/office/drawing/2014/main" id="{63DEB6AA-5709-4539-A267-394A98E86E4A}"/>
              </a:ext>
            </a:extLst>
          </p:cNvPr>
          <p:cNvSpPr>
            <a:spLocks noGrp="1"/>
          </p:cNvSpPr>
          <p:nvPr/>
        </p:nvSpPr>
        <p:spPr>
          <a:xfrm>
            <a:off x="3614738" y="2509838"/>
            <a:ext cx="9525" cy="9525"/>
          </a:xfrm>
          <a:prstGeom prst="rect">
            <a:avLst/>
          </a:prstGeom>
          <a:noFill/>
          <a:ln w="0">
            <a:noFill/>
          </a:ln>
        </p:spPr>
        <p:txBody>
          <a:bodyPr/>
          <a:lstStyle/>
          <a:p>
            <a:endParaRPr lang="en-US"/>
          </a:p>
        </p:txBody>
      </p:sp>
      <p:sp>
        <p:nvSpPr>
          <p:cNvPr id="29" name="native-194">
            <a:extLst>
              <a:ext uri="{FF2B5EF4-FFF2-40B4-BE49-F238E27FC236}">
                <a16:creationId xmlns:a16="http://schemas.microsoft.com/office/drawing/2014/main" id="{1EAB6A28-94F3-44B4-9801-4CA20AA23D54}"/>
              </a:ext>
            </a:extLst>
          </p:cNvPr>
          <p:cNvSpPr>
            <a:spLocks noGrp="1"/>
          </p:cNvSpPr>
          <p:nvPr/>
        </p:nvSpPr>
        <p:spPr>
          <a:xfrm>
            <a:off x="7996238" y="2509838"/>
            <a:ext cx="9525" cy="9525"/>
          </a:xfrm>
          <a:prstGeom prst="rect">
            <a:avLst/>
          </a:prstGeom>
          <a:noFill/>
          <a:ln w="0">
            <a:noFill/>
          </a:ln>
        </p:spPr>
        <p:txBody>
          <a:bodyPr/>
          <a:lstStyle/>
          <a:p>
            <a:endParaRPr lang="en-US"/>
          </a:p>
        </p:txBody>
      </p:sp>
      <p:cxnSp>
        <p:nvCxnSpPr>
          <p:cNvPr id="80" name="Straight Arrow Connector 79"/>
          <p:cNvCxnSpPr>
            <a:stCxn id="28" idx="3"/>
            <a:endCxn id="29" idx="1"/>
          </p:cNvCxnSpPr>
          <p:nvPr/>
        </p:nvCxnSpPr>
        <p:spPr>
          <a:xfrm>
            <a:off x="3624263" y="2514601"/>
            <a:ext cx="4371975" cy="0"/>
          </a:xfrm>
          <a:prstGeom prst="straightConnector1">
            <a:avLst/>
          </a:prstGeom>
          <a:ln w="19050">
            <a:solidFill>
              <a:srgbClr val="0F8B8D"/>
            </a:solidFill>
            <a:prstDash val="solid"/>
            <a:tailEnd type="triangle" w="med" len="med"/>
          </a:ln>
        </p:spPr>
      </p:cxnSp>
      <p:sp>
        <p:nvSpPr>
          <p:cNvPr id="31" name="native-195">
            <a:extLst>
              <a:ext uri="{FF2B5EF4-FFF2-40B4-BE49-F238E27FC236}">
                <a16:creationId xmlns:a16="http://schemas.microsoft.com/office/drawing/2014/main" id="{9BF0B6EA-19FF-49C3-955F-F19A2F57E85B}"/>
              </a:ext>
            </a:extLst>
          </p:cNvPr>
          <p:cNvSpPr>
            <a:spLocks noGrp="1"/>
          </p:cNvSpPr>
          <p:nvPr/>
        </p:nvSpPr>
        <p:spPr>
          <a:xfrm>
            <a:off x="3943350" y="2133600"/>
            <a:ext cx="3714750" cy="238125"/>
          </a:xfrm>
          <a:prstGeom prst="rect">
            <a:avLst/>
          </a:prstGeom>
          <a:solidFill>
            <a:srgbClr val="FFFFFF"/>
          </a:solidFill>
          <a:ln w="0">
            <a:noFill/>
          </a:ln>
        </p:spPr>
        <p:txBody>
          <a:bodyPr anchor="ctr">
            <a:noAutofit/>
          </a:bodyPr>
          <a:lstStyle/>
          <a:p>
            <a:pPr algn="ctr">
              <a:defRPr sz="1575" b="0">
                <a:solidFill>
                  <a:srgbClr val="5D6C79"/>
                </a:solidFill>
                <a:latin typeface="Arial"/>
                <a:ea typeface="Arial"/>
                <a:cs typeface="Arial"/>
              </a:defRPr>
            </a:pPr>
            <a:r>
              <a:rPr sz="1575" b="0">
                <a:solidFill>
                  <a:srgbClr val="5D6C79"/>
                </a:solidFill>
                <a:latin typeface="Arial"/>
                <a:ea typeface="Arial"/>
                <a:cs typeface="Arial"/>
              </a:rPr>
              <a:t>Condition.encounter  [0..1]</a:t>
            </a:r>
          </a:p>
        </p:txBody>
      </p:sp>
      <p:sp>
        <p:nvSpPr>
          <p:cNvPr id="32" name="native-196">
            <a:extLst>
              <a:ext uri="{FF2B5EF4-FFF2-40B4-BE49-F238E27FC236}">
                <a16:creationId xmlns:a16="http://schemas.microsoft.com/office/drawing/2014/main" id="{9035DFEA-92E1-4ECE-8CC0-95B0FAD0D501}"/>
              </a:ext>
            </a:extLst>
          </p:cNvPr>
          <p:cNvSpPr>
            <a:spLocks noGrp="1"/>
          </p:cNvSpPr>
          <p:nvPr/>
        </p:nvSpPr>
        <p:spPr>
          <a:xfrm>
            <a:off x="2138363" y="3186113"/>
            <a:ext cx="9525" cy="9525"/>
          </a:xfrm>
          <a:prstGeom prst="rect">
            <a:avLst/>
          </a:prstGeom>
          <a:noFill/>
          <a:ln w="0">
            <a:noFill/>
          </a:ln>
        </p:spPr>
        <p:txBody>
          <a:bodyPr/>
          <a:lstStyle/>
          <a:p>
            <a:endParaRPr lang="en-US"/>
          </a:p>
        </p:txBody>
      </p:sp>
      <p:sp>
        <p:nvSpPr>
          <p:cNvPr id="33" name="native-197">
            <a:extLst>
              <a:ext uri="{FF2B5EF4-FFF2-40B4-BE49-F238E27FC236}">
                <a16:creationId xmlns:a16="http://schemas.microsoft.com/office/drawing/2014/main" id="{38A95D6F-1BBA-4CFE-B5B9-8CAF703FC49E}"/>
              </a:ext>
            </a:extLst>
          </p:cNvPr>
          <p:cNvSpPr>
            <a:spLocks noGrp="1"/>
          </p:cNvSpPr>
          <p:nvPr/>
        </p:nvSpPr>
        <p:spPr>
          <a:xfrm>
            <a:off x="2138363" y="4624388"/>
            <a:ext cx="9525" cy="9525"/>
          </a:xfrm>
          <a:prstGeom prst="rect">
            <a:avLst/>
          </a:prstGeom>
          <a:noFill/>
          <a:ln w="0">
            <a:noFill/>
          </a:ln>
        </p:spPr>
        <p:txBody>
          <a:bodyPr/>
          <a:lstStyle/>
          <a:p>
            <a:endParaRPr lang="en-US"/>
          </a:p>
        </p:txBody>
      </p:sp>
      <p:cxnSp>
        <p:nvCxnSpPr>
          <p:cNvPr id="84" name="Straight Arrow Connector 83"/>
          <p:cNvCxnSpPr>
            <a:stCxn id="32" idx="3"/>
            <a:endCxn id="33" idx="1"/>
          </p:cNvCxnSpPr>
          <p:nvPr/>
        </p:nvCxnSpPr>
        <p:spPr>
          <a:xfrm flipH="1">
            <a:off x="2138363" y="3190876"/>
            <a:ext cx="9525" cy="1438275"/>
          </a:xfrm>
          <a:prstGeom prst="straightConnector1">
            <a:avLst/>
          </a:prstGeom>
          <a:ln w="19050">
            <a:solidFill>
              <a:srgbClr val="0F8B8D"/>
            </a:solidFill>
            <a:prstDash val="solid"/>
            <a:tailEnd type="triangle" w="med" len="med"/>
          </a:ln>
        </p:spPr>
      </p:cxnSp>
      <p:sp>
        <p:nvSpPr>
          <p:cNvPr id="35" name="native-198">
            <a:extLst>
              <a:ext uri="{FF2B5EF4-FFF2-40B4-BE49-F238E27FC236}">
                <a16:creationId xmlns:a16="http://schemas.microsoft.com/office/drawing/2014/main" id="{D847AFF9-4A20-4CDA-815C-B08C14ED8854}"/>
              </a:ext>
            </a:extLst>
          </p:cNvPr>
          <p:cNvSpPr>
            <a:spLocks noGrp="1"/>
          </p:cNvSpPr>
          <p:nvPr/>
        </p:nvSpPr>
        <p:spPr>
          <a:xfrm>
            <a:off x="704850" y="3705225"/>
            <a:ext cx="2857500" cy="238125"/>
          </a:xfrm>
          <a:prstGeom prst="rect">
            <a:avLst/>
          </a:prstGeom>
          <a:solidFill>
            <a:srgbClr val="FFFFFF"/>
          </a:solidFill>
          <a:ln w="0">
            <a:noFill/>
          </a:ln>
        </p:spPr>
        <p:txBody>
          <a:bodyPr anchor="ctr">
            <a:noAutofit/>
          </a:bodyPr>
          <a:lstStyle/>
          <a:p>
            <a:pPr algn="ctr">
              <a:defRPr sz="1575" b="0">
                <a:solidFill>
                  <a:srgbClr val="5D6C79"/>
                </a:solidFill>
                <a:latin typeface="Arial"/>
                <a:ea typeface="Arial"/>
                <a:cs typeface="Arial"/>
              </a:defRPr>
            </a:pPr>
            <a:r>
              <a:rPr sz="1575" b="0">
                <a:solidFill>
                  <a:srgbClr val="5D6C79"/>
                </a:solidFill>
                <a:latin typeface="Arial"/>
                <a:ea typeface="Arial"/>
                <a:cs typeface="Arial"/>
              </a:rPr>
              <a:t>subject  [1..1]</a:t>
            </a:r>
          </a:p>
        </p:txBody>
      </p:sp>
      <p:sp>
        <p:nvSpPr>
          <p:cNvPr id="36" name="native-199">
            <a:extLst>
              <a:ext uri="{FF2B5EF4-FFF2-40B4-BE49-F238E27FC236}">
                <a16:creationId xmlns:a16="http://schemas.microsoft.com/office/drawing/2014/main" id="{ADE33024-CFDC-4E9C-A87A-DC23EB8B9404}"/>
              </a:ext>
            </a:extLst>
          </p:cNvPr>
          <p:cNvSpPr>
            <a:spLocks noGrp="1"/>
          </p:cNvSpPr>
          <p:nvPr/>
        </p:nvSpPr>
        <p:spPr>
          <a:xfrm>
            <a:off x="9758363" y="3186113"/>
            <a:ext cx="9525" cy="9525"/>
          </a:xfrm>
          <a:prstGeom prst="rect">
            <a:avLst/>
          </a:prstGeom>
          <a:noFill/>
          <a:ln w="0">
            <a:noFill/>
          </a:ln>
        </p:spPr>
        <p:txBody>
          <a:bodyPr/>
          <a:lstStyle/>
          <a:p>
            <a:endParaRPr lang="en-US"/>
          </a:p>
        </p:txBody>
      </p:sp>
      <p:sp>
        <p:nvSpPr>
          <p:cNvPr id="37" name="native-200">
            <a:extLst>
              <a:ext uri="{FF2B5EF4-FFF2-40B4-BE49-F238E27FC236}">
                <a16:creationId xmlns:a16="http://schemas.microsoft.com/office/drawing/2014/main" id="{AD46FAAA-203C-478C-9D18-5470F3E0D4D2}"/>
              </a:ext>
            </a:extLst>
          </p:cNvPr>
          <p:cNvSpPr>
            <a:spLocks noGrp="1"/>
          </p:cNvSpPr>
          <p:nvPr/>
        </p:nvSpPr>
        <p:spPr>
          <a:xfrm>
            <a:off x="9758363" y="4624388"/>
            <a:ext cx="9525" cy="9525"/>
          </a:xfrm>
          <a:prstGeom prst="rect">
            <a:avLst/>
          </a:prstGeom>
          <a:noFill/>
          <a:ln w="0">
            <a:noFill/>
          </a:ln>
        </p:spPr>
        <p:txBody>
          <a:bodyPr/>
          <a:lstStyle/>
          <a:p>
            <a:endParaRPr lang="en-US"/>
          </a:p>
        </p:txBody>
      </p:sp>
      <p:cxnSp>
        <p:nvCxnSpPr>
          <p:cNvPr id="88" name="Straight Arrow Connector 87"/>
          <p:cNvCxnSpPr>
            <a:stCxn id="36" idx="3"/>
            <a:endCxn id="37" idx="1"/>
          </p:cNvCxnSpPr>
          <p:nvPr/>
        </p:nvCxnSpPr>
        <p:spPr>
          <a:xfrm flipH="1">
            <a:off x="9758363" y="3190876"/>
            <a:ext cx="9525" cy="1438275"/>
          </a:xfrm>
          <a:prstGeom prst="straightConnector1">
            <a:avLst/>
          </a:prstGeom>
          <a:ln w="19050">
            <a:solidFill>
              <a:srgbClr val="0F8B8D"/>
            </a:solidFill>
            <a:prstDash val="solid"/>
            <a:tailEnd type="triangle" w="med" len="med"/>
          </a:ln>
        </p:spPr>
      </p:cxnSp>
      <p:sp>
        <p:nvSpPr>
          <p:cNvPr id="39" name="native-201">
            <a:extLst>
              <a:ext uri="{FF2B5EF4-FFF2-40B4-BE49-F238E27FC236}">
                <a16:creationId xmlns:a16="http://schemas.microsoft.com/office/drawing/2014/main" id="{D533528D-D4F2-4B44-8F39-D87B3A53401F}"/>
              </a:ext>
            </a:extLst>
          </p:cNvPr>
          <p:cNvSpPr>
            <a:spLocks noGrp="1"/>
          </p:cNvSpPr>
          <p:nvPr/>
        </p:nvSpPr>
        <p:spPr>
          <a:xfrm>
            <a:off x="8153400" y="3705225"/>
            <a:ext cx="3209925" cy="238125"/>
          </a:xfrm>
          <a:prstGeom prst="rect">
            <a:avLst/>
          </a:prstGeom>
          <a:solidFill>
            <a:srgbClr val="FFFFFF"/>
          </a:solidFill>
          <a:ln w="0">
            <a:noFill/>
          </a:ln>
        </p:spPr>
        <p:txBody>
          <a:bodyPr anchor="ctr">
            <a:noAutofit/>
          </a:bodyPr>
          <a:lstStyle/>
          <a:p>
            <a:pPr algn="ctr">
              <a:defRPr sz="1575" b="0">
                <a:solidFill>
                  <a:srgbClr val="5D6C79"/>
                </a:solidFill>
                <a:latin typeface="Arial"/>
                <a:ea typeface="Arial"/>
                <a:cs typeface="Arial"/>
              </a:defRPr>
            </a:pPr>
            <a:r>
              <a:rPr sz="1575" b="0">
                <a:solidFill>
                  <a:srgbClr val="5D6C79"/>
                </a:solidFill>
                <a:latin typeface="Arial"/>
                <a:ea typeface="Arial"/>
                <a:cs typeface="Arial"/>
              </a:rPr>
              <a:t>serviceProvider  [0..1]</a:t>
            </a:r>
          </a:p>
        </p:txBody>
      </p:sp>
      <p:sp>
        <p:nvSpPr>
          <p:cNvPr id="40" name="native-202">
            <a:extLst>
              <a:ext uri="{FF2B5EF4-FFF2-40B4-BE49-F238E27FC236}">
                <a16:creationId xmlns:a16="http://schemas.microsoft.com/office/drawing/2014/main" id="{B525340F-8D51-42B5-B837-380D93D45812}"/>
              </a:ext>
            </a:extLst>
          </p:cNvPr>
          <p:cNvSpPr>
            <a:spLocks noGrp="1"/>
          </p:cNvSpPr>
          <p:nvPr/>
        </p:nvSpPr>
        <p:spPr>
          <a:xfrm>
            <a:off x="7996238" y="2919413"/>
            <a:ext cx="9525" cy="9525"/>
          </a:xfrm>
          <a:prstGeom prst="rect">
            <a:avLst/>
          </a:prstGeom>
          <a:noFill/>
          <a:ln w="0">
            <a:noFill/>
          </a:ln>
        </p:spPr>
        <p:txBody>
          <a:bodyPr/>
          <a:lstStyle/>
          <a:p>
            <a:endParaRPr lang="en-US"/>
          </a:p>
        </p:txBody>
      </p:sp>
      <p:sp>
        <p:nvSpPr>
          <p:cNvPr id="41" name="native-203">
            <a:extLst>
              <a:ext uri="{FF2B5EF4-FFF2-40B4-BE49-F238E27FC236}">
                <a16:creationId xmlns:a16="http://schemas.microsoft.com/office/drawing/2014/main" id="{4F00A471-7EBC-4169-851B-F8459198C87A}"/>
              </a:ext>
            </a:extLst>
          </p:cNvPr>
          <p:cNvSpPr>
            <a:spLocks noGrp="1"/>
          </p:cNvSpPr>
          <p:nvPr/>
        </p:nvSpPr>
        <p:spPr>
          <a:xfrm>
            <a:off x="5624513" y="2919413"/>
            <a:ext cx="9525" cy="9525"/>
          </a:xfrm>
          <a:prstGeom prst="rect">
            <a:avLst/>
          </a:prstGeom>
          <a:noFill/>
          <a:ln w="0">
            <a:noFill/>
          </a:ln>
        </p:spPr>
        <p:txBody>
          <a:bodyPr/>
          <a:lstStyle/>
          <a:p>
            <a:endParaRPr lang="en-US"/>
          </a:p>
        </p:txBody>
      </p:sp>
      <p:cxnSp>
        <p:nvCxnSpPr>
          <p:cNvPr id="92" name="Straight Arrow Connector 91"/>
          <p:cNvCxnSpPr>
            <a:stCxn id="40" idx="3"/>
            <a:endCxn id="41" idx="1"/>
          </p:cNvCxnSpPr>
          <p:nvPr/>
        </p:nvCxnSpPr>
        <p:spPr>
          <a:xfrm flipH="1">
            <a:off x="5624513" y="2924176"/>
            <a:ext cx="2381250" cy="0"/>
          </a:xfrm>
          <a:prstGeom prst="straightConnector1">
            <a:avLst/>
          </a:prstGeom>
          <a:ln w="19050">
            <a:solidFill>
              <a:srgbClr val="3478B9"/>
            </a:solidFill>
            <a:prstDash val="solid"/>
          </a:ln>
        </p:spPr>
      </p:cxnSp>
      <p:sp>
        <p:nvSpPr>
          <p:cNvPr id="43" name="native-204">
            <a:extLst>
              <a:ext uri="{FF2B5EF4-FFF2-40B4-BE49-F238E27FC236}">
                <a16:creationId xmlns:a16="http://schemas.microsoft.com/office/drawing/2014/main" id="{37191403-AA68-4398-B326-7B02D44B86BC}"/>
              </a:ext>
            </a:extLst>
          </p:cNvPr>
          <p:cNvSpPr>
            <a:spLocks noGrp="1"/>
          </p:cNvSpPr>
          <p:nvPr/>
        </p:nvSpPr>
        <p:spPr>
          <a:xfrm>
            <a:off x="5624513" y="2919413"/>
            <a:ext cx="9525" cy="9525"/>
          </a:xfrm>
          <a:prstGeom prst="rect">
            <a:avLst/>
          </a:prstGeom>
          <a:noFill/>
          <a:ln w="0">
            <a:noFill/>
          </a:ln>
        </p:spPr>
        <p:txBody>
          <a:bodyPr/>
          <a:lstStyle/>
          <a:p>
            <a:endParaRPr lang="en-US"/>
          </a:p>
        </p:txBody>
      </p:sp>
      <p:sp>
        <p:nvSpPr>
          <p:cNvPr id="44" name="native-205">
            <a:extLst>
              <a:ext uri="{FF2B5EF4-FFF2-40B4-BE49-F238E27FC236}">
                <a16:creationId xmlns:a16="http://schemas.microsoft.com/office/drawing/2014/main" id="{00FB7382-15BE-402E-A6FC-081100D0C531}"/>
              </a:ext>
            </a:extLst>
          </p:cNvPr>
          <p:cNvSpPr>
            <a:spLocks noGrp="1"/>
          </p:cNvSpPr>
          <p:nvPr/>
        </p:nvSpPr>
        <p:spPr>
          <a:xfrm>
            <a:off x="5624513" y="5214938"/>
            <a:ext cx="9525" cy="9525"/>
          </a:xfrm>
          <a:prstGeom prst="rect">
            <a:avLst/>
          </a:prstGeom>
          <a:noFill/>
          <a:ln w="0">
            <a:noFill/>
          </a:ln>
        </p:spPr>
        <p:txBody>
          <a:bodyPr/>
          <a:lstStyle/>
          <a:p>
            <a:endParaRPr lang="en-US"/>
          </a:p>
        </p:txBody>
      </p:sp>
      <p:cxnSp>
        <p:nvCxnSpPr>
          <p:cNvPr id="95" name="Straight Arrow Connector 94"/>
          <p:cNvCxnSpPr>
            <a:stCxn id="43" idx="3"/>
            <a:endCxn id="44" idx="1"/>
          </p:cNvCxnSpPr>
          <p:nvPr/>
        </p:nvCxnSpPr>
        <p:spPr>
          <a:xfrm flipH="1">
            <a:off x="5624513" y="2924176"/>
            <a:ext cx="9525" cy="2295525"/>
          </a:xfrm>
          <a:prstGeom prst="straightConnector1">
            <a:avLst/>
          </a:prstGeom>
          <a:ln w="19050">
            <a:solidFill>
              <a:srgbClr val="3478B9"/>
            </a:solidFill>
            <a:prstDash val="solid"/>
          </a:ln>
        </p:spPr>
      </p:cxnSp>
      <p:sp>
        <p:nvSpPr>
          <p:cNvPr id="46" name="native-206">
            <a:extLst>
              <a:ext uri="{FF2B5EF4-FFF2-40B4-BE49-F238E27FC236}">
                <a16:creationId xmlns:a16="http://schemas.microsoft.com/office/drawing/2014/main" id="{3C8D2ACC-115F-4827-84A6-6B1535640663}"/>
              </a:ext>
            </a:extLst>
          </p:cNvPr>
          <p:cNvSpPr>
            <a:spLocks noGrp="1"/>
          </p:cNvSpPr>
          <p:nvPr/>
        </p:nvSpPr>
        <p:spPr>
          <a:xfrm>
            <a:off x="5624513" y="5214938"/>
            <a:ext cx="9525" cy="9525"/>
          </a:xfrm>
          <a:prstGeom prst="rect">
            <a:avLst/>
          </a:prstGeom>
          <a:noFill/>
          <a:ln w="0">
            <a:noFill/>
          </a:ln>
        </p:spPr>
        <p:txBody>
          <a:bodyPr/>
          <a:lstStyle/>
          <a:p>
            <a:endParaRPr lang="en-US"/>
          </a:p>
        </p:txBody>
      </p:sp>
      <p:sp>
        <p:nvSpPr>
          <p:cNvPr id="47" name="native-207">
            <a:extLst>
              <a:ext uri="{FF2B5EF4-FFF2-40B4-BE49-F238E27FC236}">
                <a16:creationId xmlns:a16="http://schemas.microsoft.com/office/drawing/2014/main" id="{2DF6763B-CBFF-4113-A5EF-35B5CC701456}"/>
              </a:ext>
            </a:extLst>
          </p:cNvPr>
          <p:cNvSpPr>
            <a:spLocks noGrp="1"/>
          </p:cNvSpPr>
          <p:nvPr/>
        </p:nvSpPr>
        <p:spPr>
          <a:xfrm>
            <a:off x="3614738" y="5214938"/>
            <a:ext cx="9525" cy="9525"/>
          </a:xfrm>
          <a:prstGeom prst="rect">
            <a:avLst/>
          </a:prstGeom>
          <a:noFill/>
          <a:ln w="0">
            <a:noFill/>
          </a:ln>
        </p:spPr>
        <p:txBody>
          <a:bodyPr/>
          <a:lstStyle/>
          <a:p>
            <a:endParaRPr lang="en-US"/>
          </a:p>
        </p:txBody>
      </p:sp>
      <p:cxnSp>
        <p:nvCxnSpPr>
          <p:cNvPr id="98" name="Straight Arrow Connector 97"/>
          <p:cNvCxnSpPr>
            <a:stCxn id="46" idx="3"/>
            <a:endCxn id="47" idx="1"/>
          </p:cNvCxnSpPr>
          <p:nvPr/>
        </p:nvCxnSpPr>
        <p:spPr>
          <a:xfrm flipH="1">
            <a:off x="3614738" y="5219701"/>
            <a:ext cx="2019300" cy="0"/>
          </a:xfrm>
          <a:prstGeom prst="straightConnector1">
            <a:avLst/>
          </a:prstGeom>
          <a:ln w="19050">
            <a:solidFill>
              <a:srgbClr val="3478B9"/>
            </a:solidFill>
            <a:prstDash val="solid"/>
            <a:tailEnd type="triangle" w="med" len="med"/>
          </a:ln>
        </p:spPr>
      </p:cxnSp>
      <p:sp>
        <p:nvSpPr>
          <p:cNvPr id="49" name="native-208">
            <a:extLst>
              <a:ext uri="{FF2B5EF4-FFF2-40B4-BE49-F238E27FC236}">
                <a16:creationId xmlns:a16="http://schemas.microsoft.com/office/drawing/2014/main" id="{1D64B966-89AC-4C9E-B84C-EF76CDE1941F}"/>
              </a:ext>
            </a:extLst>
          </p:cNvPr>
          <p:cNvSpPr>
            <a:spLocks noGrp="1"/>
          </p:cNvSpPr>
          <p:nvPr/>
        </p:nvSpPr>
        <p:spPr>
          <a:xfrm>
            <a:off x="3876675" y="3800475"/>
            <a:ext cx="3505200" cy="238125"/>
          </a:xfrm>
          <a:prstGeom prst="rect">
            <a:avLst/>
          </a:prstGeom>
          <a:solidFill>
            <a:srgbClr val="FFFFFF"/>
          </a:solidFill>
          <a:ln w="0">
            <a:noFill/>
          </a:ln>
        </p:spPr>
        <p:txBody>
          <a:bodyPr anchor="ctr">
            <a:noAutofit/>
          </a:bodyPr>
          <a:lstStyle/>
          <a:p>
            <a:pPr algn="ctr">
              <a:defRPr sz="1575" b="0">
                <a:solidFill>
                  <a:srgbClr val="3478B9"/>
                </a:solidFill>
                <a:latin typeface="Arial"/>
                <a:ea typeface="Arial"/>
                <a:cs typeface="Arial"/>
              </a:defRPr>
            </a:pPr>
            <a:r>
              <a:rPr sz="1575" b="0">
                <a:solidFill>
                  <a:srgbClr val="3478B9"/>
                </a:solidFill>
                <a:latin typeface="Arial"/>
                <a:ea typeface="Arial"/>
                <a:cs typeface="Arial"/>
              </a:rPr>
              <a:t>Encounter.subject  [0..1]</a:t>
            </a:r>
          </a:p>
        </p:txBody>
      </p:sp>
      <p:sp>
        <p:nvSpPr>
          <p:cNvPr id="50" name="native-209">
            <a:extLst>
              <a:ext uri="{FF2B5EF4-FFF2-40B4-BE49-F238E27FC236}">
                <a16:creationId xmlns:a16="http://schemas.microsoft.com/office/drawing/2014/main" id="{C688215A-7306-4F69-9CA6-DD483273493B}"/>
              </a:ext>
            </a:extLst>
          </p:cNvPr>
          <p:cNvSpPr>
            <a:spLocks noGrp="1"/>
          </p:cNvSpPr>
          <p:nvPr/>
        </p:nvSpPr>
        <p:spPr>
          <a:xfrm>
            <a:off x="3933825" y="5343525"/>
            <a:ext cx="3781425" cy="704850"/>
          </a:xfrm>
          <a:prstGeom prst="rect">
            <a:avLst/>
          </a:prstGeom>
          <a:noFill/>
          <a:ln w="0">
            <a:noFill/>
          </a:ln>
        </p:spPr>
        <p:txBody>
          <a:bodyPr anchor="ctr">
            <a:noAutofit/>
          </a:bodyPr>
          <a:lstStyle/>
          <a:p>
            <a:pPr algn="l">
              <a:defRPr sz="1350" b="0">
                <a:solidFill>
                  <a:srgbClr val="5D6C79"/>
                </a:solidFill>
                <a:latin typeface="Arial"/>
                <a:ea typeface="Arial"/>
                <a:cs typeface="Arial"/>
              </a:defRPr>
            </a:pPr>
            <a:r>
              <a:rPr sz="1350" b="0">
                <a:solidFill>
                  <a:srgbClr val="5D6C79"/>
                </a:solidFill>
                <a:latin typeface="Arial"/>
                <a:ea typeface="Arial"/>
                <a:cs typeface="Arial"/>
              </a:rPr>
              <a:t>Claim can also reference Condition via diagnosis[].diagnosisReference.</a:t>
            </a:r>
          </a:p>
          <a:p>
            <a:pPr algn="l">
              <a:defRPr sz="1350" b="0">
                <a:solidFill>
                  <a:srgbClr val="5D6C79"/>
                </a:solidFill>
                <a:latin typeface="Arial"/>
                <a:ea typeface="Arial"/>
                <a:cs typeface="Arial"/>
              </a:defRPr>
            </a:pPr>
            <a:r>
              <a:rPr sz="1350" b="0">
                <a:solidFill>
                  <a:srgbClr val="5D6C79"/>
                </a:solidFill>
                <a:latin typeface="Arial"/>
                <a:ea typeface="Arial"/>
                <a:cs typeface="Arial"/>
              </a:rPr>
              <a:t>The diagnosis choice may instead carry a CodeableConcept.</a:t>
            </a:r>
          </a:p>
        </p:txBody>
      </p:sp>
    </p:spTree>
    <p:extLst>
      <p:ext uri="{BB962C8B-B14F-4D97-AF65-F5344CB8AC3E}">
        <p14:creationId xmlns:p14="http://schemas.microsoft.com/office/powerpoint/2010/main" val="967930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native-210">
            <a:extLst>
              <a:ext uri="{FF2B5EF4-FFF2-40B4-BE49-F238E27FC236}">
                <a16:creationId xmlns:a16="http://schemas.microsoft.com/office/drawing/2014/main" id="{4B724A8A-7B7B-4F01-A252-2E26CF82E9AF}"/>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FHIR billing resource ERD</a:t>
            </a:r>
          </a:p>
        </p:txBody>
      </p:sp>
      <p:sp>
        <p:nvSpPr>
          <p:cNvPr id="2" name="native-211">
            <a:extLst>
              <a:ext uri="{FF2B5EF4-FFF2-40B4-BE49-F238E27FC236}">
                <a16:creationId xmlns:a16="http://schemas.microsoft.com/office/drawing/2014/main" id="{B513EF2C-7603-4B60-B946-C08F155B98E5}"/>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Selected R4 Reference fields across the platform's billing endpoints</a:t>
            </a:r>
          </a:p>
        </p:txBody>
      </p:sp>
      <p:sp>
        <p:nvSpPr>
          <p:cNvPr id="3" name="native-212">
            <a:extLst>
              <a:ext uri="{FF2B5EF4-FFF2-40B4-BE49-F238E27FC236}">
                <a16:creationId xmlns:a16="http://schemas.microsoft.com/office/drawing/2014/main" id="{456C1769-6436-44D4-A979-5BD506917BE1}"/>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213">
            <a:extLst>
              <a:ext uri="{FF2B5EF4-FFF2-40B4-BE49-F238E27FC236}">
                <a16:creationId xmlns:a16="http://schemas.microsoft.com/office/drawing/2014/main" id="{0671C087-3D01-4B13-A18E-8537216CB5D1}"/>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86" name="Straight Arrow Connector 85"/>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214">
            <a:extLst>
              <a:ext uri="{FF2B5EF4-FFF2-40B4-BE49-F238E27FC236}">
                <a16:creationId xmlns:a16="http://schemas.microsoft.com/office/drawing/2014/main" id="{7125301B-B5A2-42F2-BD93-891B88D776C4}"/>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FHIR references are logical links. EOB.claim is optional [0..1]. Additional R4 reference targets appear in notes.</a:t>
            </a:r>
          </a:p>
        </p:txBody>
      </p:sp>
      <p:sp>
        <p:nvSpPr>
          <p:cNvPr id="7" name="native-215">
            <a:extLst>
              <a:ext uri="{FF2B5EF4-FFF2-40B4-BE49-F238E27FC236}">
                <a16:creationId xmlns:a16="http://schemas.microsoft.com/office/drawing/2014/main" id="{A54DE668-31ED-442D-81E4-045114D4059C}"/>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12</a:t>
            </a:r>
          </a:p>
        </p:txBody>
      </p:sp>
      <p:sp>
        <p:nvSpPr>
          <p:cNvPr id="8" name="native-216">
            <a:extLst>
              <a:ext uri="{FF2B5EF4-FFF2-40B4-BE49-F238E27FC236}">
                <a16:creationId xmlns:a16="http://schemas.microsoft.com/office/drawing/2014/main" id="{557ED19C-3B79-4F10-9429-4C0128419EE7}"/>
              </a:ext>
            </a:extLst>
          </p:cNvPr>
          <p:cNvSpPr>
            <a:spLocks noGrp="1"/>
          </p:cNvSpPr>
          <p:nvPr/>
        </p:nvSpPr>
        <p:spPr>
          <a:xfrm>
            <a:off x="381000" y="3238500"/>
            <a:ext cx="2476500" cy="1238250"/>
          </a:xfrm>
          <a:prstGeom prst="rect">
            <a:avLst/>
          </a:prstGeom>
          <a:solidFill>
            <a:srgbClr val="FFFFFF"/>
          </a:solidFill>
          <a:ln w="14288">
            <a:solidFill>
              <a:srgbClr val="B6C6D2"/>
            </a:solidFill>
          </a:ln>
        </p:spPr>
        <p:txBody>
          <a:bodyPr/>
          <a:lstStyle/>
          <a:p>
            <a:endParaRPr lang="en-US"/>
          </a:p>
        </p:txBody>
      </p:sp>
      <p:sp>
        <p:nvSpPr>
          <p:cNvPr id="9" name="native-217">
            <a:extLst>
              <a:ext uri="{FF2B5EF4-FFF2-40B4-BE49-F238E27FC236}">
                <a16:creationId xmlns:a16="http://schemas.microsoft.com/office/drawing/2014/main" id="{1CE81438-6194-49C1-A624-5AF880A08ABE}"/>
              </a:ext>
            </a:extLst>
          </p:cNvPr>
          <p:cNvSpPr>
            <a:spLocks noGrp="1"/>
          </p:cNvSpPr>
          <p:nvPr/>
        </p:nvSpPr>
        <p:spPr>
          <a:xfrm>
            <a:off x="381000" y="3238500"/>
            <a:ext cx="2476500" cy="400050"/>
          </a:xfrm>
          <a:prstGeom prst="rect">
            <a:avLst/>
          </a:prstGeom>
          <a:solidFill>
            <a:srgbClr val="10243A"/>
          </a:solidFill>
          <a:ln w="0">
            <a:noFill/>
          </a:ln>
        </p:spPr>
        <p:txBody>
          <a:bodyPr/>
          <a:lstStyle/>
          <a:p>
            <a:endParaRPr lang="en-US"/>
          </a:p>
        </p:txBody>
      </p:sp>
      <p:sp>
        <p:nvSpPr>
          <p:cNvPr id="10" name="native-218">
            <a:extLst>
              <a:ext uri="{FF2B5EF4-FFF2-40B4-BE49-F238E27FC236}">
                <a16:creationId xmlns:a16="http://schemas.microsoft.com/office/drawing/2014/main" id="{487A572B-F200-4039-ACA3-80E0811553A0}"/>
              </a:ext>
            </a:extLst>
          </p:cNvPr>
          <p:cNvSpPr>
            <a:spLocks noGrp="1"/>
          </p:cNvSpPr>
          <p:nvPr/>
        </p:nvSpPr>
        <p:spPr>
          <a:xfrm>
            <a:off x="476250" y="3267075"/>
            <a:ext cx="2286000" cy="342900"/>
          </a:xfrm>
          <a:prstGeom prst="rect">
            <a:avLst/>
          </a:prstGeom>
          <a:noFill/>
          <a:ln w="0">
            <a:noFill/>
          </a:ln>
        </p:spPr>
        <p:txBody>
          <a:bodyPr anchor="ctr">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Claim</a:t>
            </a:r>
          </a:p>
        </p:txBody>
      </p:sp>
      <p:sp>
        <p:nvSpPr>
          <p:cNvPr id="11" name="native-219">
            <a:extLst>
              <a:ext uri="{FF2B5EF4-FFF2-40B4-BE49-F238E27FC236}">
                <a16:creationId xmlns:a16="http://schemas.microsoft.com/office/drawing/2014/main" id="{77B186C3-7343-4573-8169-260A44159672}"/>
              </a:ext>
            </a:extLst>
          </p:cNvPr>
          <p:cNvSpPr>
            <a:spLocks noGrp="1"/>
          </p:cNvSpPr>
          <p:nvPr/>
        </p:nvSpPr>
        <p:spPr>
          <a:xfrm>
            <a:off x="495300" y="3686175"/>
            <a:ext cx="2247900" cy="285750"/>
          </a:xfrm>
          <a:prstGeom prst="rect">
            <a:avLst/>
          </a:prstGeom>
          <a:noFill/>
          <a:ln w="0">
            <a:noFill/>
          </a:ln>
        </p:spPr>
        <p:txBody>
          <a:bodyPr anchor="ctr">
            <a:noAutofit/>
          </a:bodyPr>
          <a:lstStyle/>
          <a:p>
            <a:pPr algn="l">
              <a:defRPr sz="1350" b="0">
                <a:solidFill>
                  <a:srgbClr val="0F8B8D"/>
                </a:solidFill>
                <a:latin typeface="Arial"/>
                <a:ea typeface="Arial"/>
                <a:cs typeface="Arial"/>
              </a:defRPr>
            </a:pPr>
            <a:r>
              <a:rPr sz="1350" b="0">
                <a:solidFill>
                  <a:srgbClr val="0F8B8D"/>
                </a:solidFill>
                <a:latin typeface="Arial"/>
                <a:ea typeface="Arial"/>
                <a:cs typeface="Arial"/>
              </a:rPr>
              <a:t>/fhir/Claim/{id}</a:t>
            </a:r>
          </a:p>
        </p:txBody>
      </p:sp>
      <p:sp>
        <p:nvSpPr>
          <p:cNvPr id="12" name="native-220">
            <a:extLst>
              <a:ext uri="{FF2B5EF4-FFF2-40B4-BE49-F238E27FC236}">
                <a16:creationId xmlns:a16="http://schemas.microsoft.com/office/drawing/2014/main" id="{A2340613-3DA0-4390-9CDC-0D5CD2748FCB}"/>
              </a:ext>
            </a:extLst>
          </p:cNvPr>
          <p:cNvSpPr>
            <a:spLocks noGrp="1"/>
          </p:cNvSpPr>
          <p:nvPr/>
        </p:nvSpPr>
        <p:spPr>
          <a:xfrm>
            <a:off x="495300" y="4000500"/>
            <a:ext cx="2247900" cy="4381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id, status, total</a:t>
            </a:r>
          </a:p>
        </p:txBody>
      </p:sp>
      <p:sp>
        <p:nvSpPr>
          <p:cNvPr id="13" name="native-221">
            <a:extLst>
              <a:ext uri="{FF2B5EF4-FFF2-40B4-BE49-F238E27FC236}">
                <a16:creationId xmlns:a16="http://schemas.microsoft.com/office/drawing/2014/main" id="{1EC6AA9D-E238-4CC5-857D-BAA35D6B5859}"/>
              </a:ext>
            </a:extLst>
          </p:cNvPr>
          <p:cNvSpPr>
            <a:spLocks noGrp="1"/>
          </p:cNvSpPr>
          <p:nvPr/>
        </p:nvSpPr>
        <p:spPr>
          <a:xfrm>
            <a:off x="3333750" y="3238500"/>
            <a:ext cx="2667000" cy="1238250"/>
          </a:xfrm>
          <a:prstGeom prst="rect">
            <a:avLst/>
          </a:prstGeom>
          <a:solidFill>
            <a:srgbClr val="FFFFFF"/>
          </a:solidFill>
          <a:ln w="14288">
            <a:solidFill>
              <a:srgbClr val="B6C6D2"/>
            </a:solidFill>
          </a:ln>
        </p:spPr>
        <p:txBody>
          <a:bodyPr/>
          <a:lstStyle/>
          <a:p>
            <a:endParaRPr lang="en-US"/>
          </a:p>
        </p:txBody>
      </p:sp>
      <p:sp>
        <p:nvSpPr>
          <p:cNvPr id="14" name="native-222">
            <a:extLst>
              <a:ext uri="{FF2B5EF4-FFF2-40B4-BE49-F238E27FC236}">
                <a16:creationId xmlns:a16="http://schemas.microsoft.com/office/drawing/2014/main" id="{C2FFB774-F3A2-4FF4-97F6-7DC973476F7E}"/>
              </a:ext>
            </a:extLst>
          </p:cNvPr>
          <p:cNvSpPr>
            <a:spLocks noGrp="1"/>
          </p:cNvSpPr>
          <p:nvPr/>
        </p:nvSpPr>
        <p:spPr>
          <a:xfrm>
            <a:off x="3333750" y="3238500"/>
            <a:ext cx="2667000" cy="400050"/>
          </a:xfrm>
          <a:prstGeom prst="rect">
            <a:avLst/>
          </a:prstGeom>
          <a:solidFill>
            <a:srgbClr val="10243A"/>
          </a:solidFill>
          <a:ln w="0">
            <a:noFill/>
          </a:ln>
        </p:spPr>
        <p:txBody>
          <a:bodyPr/>
          <a:lstStyle/>
          <a:p>
            <a:endParaRPr lang="en-US"/>
          </a:p>
        </p:txBody>
      </p:sp>
      <p:sp>
        <p:nvSpPr>
          <p:cNvPr id="15" name="native-223">
            <a:extLst>
              <a:ext uri="{FF2B5EF4-FFF2-40B4-BE49-F238E27FC236}">
                <a16:creationId xmlns:a16="http://schemas.microsoft.com/office/drawing/2014/main" id="{7954E383-54B1-4DA1-BE7B-35954C2D4288}"/>
              </a:ext>
            </a:extLst>
          </p:cNvPr>
          <p:cNvSpPr>
            <a:spLocks noGrp="1"/>
          </p:cNvSpPr>
          <p:nvPr/>
        </p:nvSpPr>
        <p:spPr>
          <a:xfrm>
            <a:off x="3429000" y="3267075"/>
            <a:ext cx="2476500" cy="342900"/>
          </a:xfrm>
          <a:prstGeom prst="rect">
            <a:avLst/>
          </a:prstGeom>
          <a:noFill/>
          <a:ln w="0">
            <a:noFill/>
          </a:ln>
        </p:spPr>
        <p:txBody>
          <a:bodyPr anchor="ctr">
            <a:noAutofit/>
          </a:bodyPr>
          <a:lstStyle/>
          <a:p>
            <a:pPr algn="l">
              <a:defRPr sz="1350" b="1">
                <a:solidFill>
                  <a:srgbClr val="FFFFFF"/>
                </a:solidFill>
                <a:latin typeface="Arial"/>
                <a:ea typeface="Arial"/>
                <a:cs typeface="Arial"/>
              </a:defRPr>
            </a:pPr>
            <a:r>
              <a:rPr sz="1350" b="1">
                <a:solidFill>
                  <a:srgbClr val="FFFFFF"/>
                </a:solidFill>
                <a:latin typeface="Arial"/>
                <a:ea typeface="Arial"/>
                <a:cs typeface="Arial"/>
              </a:rPr>
              <a:t>ExplanationOfBenefit</a:t>
            </a:r>
          </a:p>
        </p:txBody>
      </p:sp>
      <p:sp>
        <p:nvSpPr>
          <p:cNvPr id="16" name="native-224">
            <a:extLst>
              <a:ext uri="{FF2B5EF4-FFF2-40B4-BE49-F238E27FC236}">
                <a16:creationId xmlns:a16="http://schemas.microsoft.com/office/drawing/2014/main" id="{16CC50BD-C647-454E-BAA9-0AB70E525E11}"/>
              </a:ext>
            </a:extLst>
          </p:cNvPr>
          <p:cNvSpPr>
            <a:spLocks noGrp="1"/>
          </p:cNvSpPr>
          <p:nvPr/>
        </p:nvSpPr>
        <p:spPr>
          <a:xfrm>
            <a:off x="3448050" y="3686175"/>
            <a:ext cx="2438400" cy="285750"/>
          </a:xfrm>
          <a:prstGeom prst="rect">
            <a:avLst/>
          </a:prstGeom>
          <a:noFill/>
          <a:ln w="0">
            <a:noFill/>
          </a:ln>
        </p:spPr>
        <p:txBody>
          <a:bodyPr anchor="ctr">
            <a:noAutofit/>
          </a:bodyPr>
          <a:lstStyle/>
          <a:p>
            <a:pPr algn="l">
              <a:defRPr sz="1350" b="0">
                <a:solidFill>
                  <a:srgbClr val="0F8B8D"/>
                </a:solidFill>
                <a:latin typeface="Arial"/>
                <a:ea typeface="Arial"/>
                <a:cs typeface="Arial"/>
              </a:defRPr>
            </a:pPr>
            <a:r>
              <a:rPr sz="1350" b="0">
                <a:solidFill>
                  <a:srgbClr val="0F8B8D"/>
                </a:solidFill>
                <a:latin typeface="Arial"/>
                <a:ea typeface="Arial"/>
                <a:cs typeface="Arial"/>
              </a:rPr>
              <a:t>/fhir/ExplanationOfBenefit/{id}</a:t>
            </a:r>
          </a:p>
        </p:txBody>
      </p:sp>
      <p:sp>
        <p:nvSpPr>
          <p:cNvPr id="17" name="native-225">
            <a:extLst>
              <a:ext uri="{FF2B5EF4-FFF2-40B4-BE49-F238E27FC236}">
                <a16:creationId xmlns:a16="http://schemas.microsoft.com/office/drawing/2014/main" id="{545D93F8-DB93-4B65-854A-EB31677BB854}"/>
              </a:ext>
            </a:extLst>
          </p:cNvPr>
          <p:cNvSpPr>
            <a:spLocks noGrp="1"/>
          </p:cNvSpPr>
          <p:nvPr/>
        </p:nvSpPr>
        <p:spPr>
          <a:xfrm>
            <a:off x="3448050" y="4000500"/>
            <a:ext cx="2438400" cy="4381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id, outcome, payment</a:t>
            </a:r>
          </a:p>
        </p:txBody>
      </p:sp>
      <p:sp>
        <p:nvSpPr>
          <p:cNvPr id="18" name="native-226">
            <a:extLst>
              <a:ext uri="{FF2B5EF4-FFF2-40B4-BE49-F238E27FC236}">
                <a16:creationId xmlns:a16="http://schemas.microsoft.com/office/drawing/2014/main" id="{B3A28AE5-3AA5-429C-B606-F51B3E40F453}"/>
              </a:ext>
            </a:extLst>
          </p:cNvPr>
          <p:cNvSpPr>
            <a:spLocks noGrp="1"/>
          </p:cNvSpPr>
          <p:nvPr/>
        </p:nvSpPr>
        <p:spPr>
          <a:xfrm>
            <a:off x="6381750" y="3238500"/>
            <a:ext cx="2476500" cy="1238250"/>
          </a:xfrm>
          <a:prstGeom prst="rect">
            <a:avLst/>
          </a:prstGeom>
          <a:solidFill>
            <a:srgbClr val="FFFFFF"/>
          </a:solidFill>
          <a:ln w="14288">
            <a:solidFill>
              <a:srgbClr val="B6C6D2"/>
            </a:solidFill>
          </a:ln>
        </p:spPr>
        <p:txBody>
          <a:bodyPr/>
          <a:lstStyle/>
          <a:p>
            <a:endParaRPr lang="en-US"/>
          </a:p>
        </p:txBody>
      </p:sp>
      <p:sp>
        <p:nvSpPr>
          <p:cNvPr id="19" name="native-227">
            <a:extLst>
              <a:ext uri="{FF2B5EF4-FFF2-40B4-BE49-F238E27FC236}">
                <a16:creationId xmlns:a16="http://schemas.microsoft.com/office/drawing/2014/main" id="{B8EE35DF-599B-4D5D-B75B-C790E923A822}"/>
              </a:ext>
            </a:extLst>
          </p:cNvPr>
          <p:cNvSpPr>
            <a:spLocks noGrp="1"/>
          </p:cNvSpPr>
          <p:nvPr/>
        </p:nvSpPr>
        <p:spPr>
          <a:xfrm>
            <a:off x="6381750" y="3238500"/>
            <a:ext cx="2476500" cy="400050"/>
          </a:xfrm>
          <a:prstGeom prst="rect">
            <a:avLst/>
          </a:prstGeom>
          <a:solidFill>
            <a:srgbClr val="10243A"/>
          </a:solidFill>
          <a:ln w="0">
            <a:noFill/>
          </a:ln>
        </p:spPr>
        <p:txBody>
          <a:bodyPr/>
          <a:lstStyle/>
          <a:p>
            <a:endParaRPr lang="en-US"/>
          </a:p>
        </p:txBody>
      </p:sp>
      <p:sp>
        <p:nvSpPr>
          <p:cNvPr id="20" name="native-228">
            <a:extLst>
              <a:ext uri="{FF2B5EF4-FFF2-40B4-BE49-F238E27FC236}">
                <a16:creationId xmlns:a16="http://schemas.microsoft.com/office/drawing/2014/main" id="{85983015-FE78-417B-810A-D77C0F8FCC1E}"/>
              </a:ext>
            </a:extLst>
          </p:cNvPr>
          <p:cNvSpPr>
            <a:spLocks noGrp="1"/>
          </p:cNvSpPr>
          <p:nvPr/>
        </p:nvSpPr>
        <p:spPr>
          <a:xfrm>
            <a:off x="6477000" y="3267075"/>
            <a:ext cx="2286000" cy="342900"/>
          </a:xfrm>
          <a:prstGeom prst="rect">
            <a:avLst/>
          </a:prstGeom>
          <a:noFill/>
          <a:ln w="0">
            <a:noFill/>
          </a:ln>
        </p:spPr>
        <p:txBody>
          <a:bodyPr anchor="ctr">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Coverage</a:t>
            </a:r>
          </a:p>
        </p:txBody>
      </p:sp>
      <p:sp>
        <p:nvSpPr>
          <p:cNvPr id="21" name="native-229">
            <a:extLst>
              <a:ext uri="{FF2B5EF4-FFF2-40B4-BE49-F238E27FC236}">
                <a16:creationId xmlns:a16="http://schemas.microsoft.com/office/drawing/2014/main" id="{E5E94443-E9B2-4439-AF64-B39881E6E7AB}"/>
              </a:ext>
            </a:extLst>
          </p:cNvPr>
          <p:cNvSpPr>
            <a:spLocks noGrp="1"/>
          </p:cNvSpPr>
          <p:nvPr/>
        </p:nvSpPr>
        <p:spPr>
          <a:xfrm>
            <a:off x="6496050" y="3686175"/>
            <a:ext cx="2247900" cy="285750"/>
          </a:xfrm>
          <a:prstGeom prst="rect">
            <a:avLst/>
          </a:prstGeom>
          <a:noFill/>
          <a:ln w="0">
            <a:noFill/>
          </a:ln>
        </p:spPr>
        <p:txBody>
          <a:bodyPr anchor="ctr">
            <a:noAutofit/>
          </a:bodyPr>
          <a:lstStyle/>
          <a:p>
            <a:pPr algn="l">
              <a:defRPr sz="1350" b="0">
                <a:solidFill>
                  <a:srgbClr val="0F8B8D"/>
                </a:solidFill>
                <a:latin typeface="Arial"/>
                <a:ea typeface="Arial"/>
                <a:cs typeface="Arial"/>
              </a:defRPr>
            </a:pPr>
            <a:r>
              <a:rPr sz="1350" b="0">
                <a:solidFill>
                  <a:srgbClr val="0F8B8D"/>
                </a:solidFill>
                <a:latin typeface="Arial"/>
                <a:ea typeface="Arial"/>
                <a:cs typeface="Arial"/>
              </a:rPr>
              <a:t>/fhir/Coverage/{id}</a:t>
            </a:r>
          </a:p>
        </p:txBody>
      </p:sp>
      <p:sp>
        <p:nvSpPr>
          <p:cNvPr id="22" name="native-230">
            <a:extLst>
              <a:ext uri="{FF2B5EF4-FFF2-40B4-BE49-F238E27FC236}">
                <a16:creationId xmlns:a16="http://schemas.microsoft.com/office/drawing/2014/main" id="{CB24F273-BA59-408E-8D44-747D244CEECA}"/>
              </a:ext>
            </a:extLst>
          </p:cNvPr>
          <p:cNvSpPr>
            <a:spLocks noGrp="1"/>
          </p:cNvSpPr>
          <p:nvPr/>
        </p:nvSpPr>
        <p:spPr>
          <a:xfrm>
            <a:off x="6496050" y="4000500"/>
            <a:ext cx="2247900" cy="4381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id, status, type</a:t>
            </a:r>
          </a:p>
        </p:txBody>
      </p:sp>
      <p:sp>
        <p:nvSpPr>
          <p:cNvPr id="23" name="native-231">
            <a:extLst>
              <a:ext uri="{FF2B5EF4-FFF2-40B4-BE49-F238E27FC236}">
                <a16:creationId xmlns:a16="http://schemas.microsoft.com/office/drawing/2014/main" id="{727DB78D-363A-441D-A52D-227327AB14A4}"/>
              </a:ext>
            </a:extLst>
          </p:cNvPr>
          <p:cNvSpPr>
            <a:spLocks noGrp="1"/>
          </p:cNvSpPr>
          <p:nvPr/>
        </p:nvSpPr>
        <p:spPr>
          <a:xfrm>
            <a:off x="9239250" y="3238500"/>
            <a:ext cx="2476500" cy="1238250"/>
          </a:xfrm>
          <a:prstGeom prst="rect">
            <a:avLst/>
          </a:prstGeom>
          <a:solidFill>
            <a:srgbClr val="FFFFFF"/>
          </a:solidFill>
          <a:ln w="14288">
            <a:solidFill>
              <a:srgbClr val="B6C6D2"/>
            </a:solidFill>
          </a:ln>
        </p:spPr>
        <p:txBody>
          <a:bodyPr/>
          <a:lstStyle/>
          <a:p>
            <a:endParaRPr lang="en-US"/>
          </a:p>
        </p:txBody>
      </p:sp>
      <p:sp>
        <p:nvSpPr>
          <p:cNvPr id="24" name="native-232">
            <a:extLst>
              <a:ext uri="{FF2B5EF4-FFF2-40B4-BE49-F238E27FC236}">
                <a16:creationId xmlns:a16="http://schemas.microsoft.com/office/drawing/2014/main" id="{A8E13826-01F2-40F4-8E03-8E43EF0D45D3}"/>
              </a:ext>
            </a:extLst>
          </p:cNvPr>
          <p:cNvSpPr>
            <a:spLocks noGrp="1"/>
          </p:cNvSpPr>
          <p:nvPr/>
        </p:nvSpPr>
        <p:spPr>
          <a:xfrm>
            <a:off x="9239250" y="3238500"/>
            <a:ext cx="2476500" cy="400050"/>
          </a:xfrm>
          <a:prstGeom prst="rect">
            <a:avLst/>
          </a:prstGeom>
          <a:solidFill>
            <a:srgbClr val="10243A"/>
          </a:solidFill>
          <a:ln w="0">
            <a:noFill/>
          </a:ln>
        </p:spPr>
        <p:txBody>
          <a:bodyPr/>
          <a:lstStyle/>
          <a:p>
            <a:endParaRPr lang="en-US"/>
          </a:p>
        </p:txBody>
      </p:sp>
      <p:sp>
        <p:nvSpPr>
          <p:cNvPr id="25" name="native-233">
            <a:extLst>
              <a:ext uri="{FF2B5EF4-FFF2-40B4-BE49-F238E27FC236}">
                <a16:creationId xmlns:a16="http://schemas.microsoft.com/office/drawing/2014/main" id="{80BE1CD2-3EE4-49F3-8062-14FC98242381}"/>
              </a:ext>
            </a:extLst>
          </p:cNvPr>
          <p:cNvSpPr>
            <a:spLocks noGrp="1"/>
          </p:cNvSpPr>
          <p:nvPr/>
        </p:nvSpPr>
        <p:spPr>
          <a:xfrm>
            <a:off x="9334500" y="3267075"/>
            <a:ext cx="2286000" cy="342900"/>
          </a:xfrm>
          <a:prstGeom prst="rect">
            <a:avLst/>
          </a:prstGeom>
          <a:noFill/>
          <a:ln w="0">
            <a:noFill/>
          </a:ln>
        </p:spPr>
        <p:txBody>
          <a:bodyPr anchor="ctr">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Patient</a:t>
            </a:r>
          </a:p>
        </p:txBody>
      </p:sp>
      <p:sp>
        <p:nvSpPr>
          <p:cNvPr id="26" name="native-234">
            <a:extLst>
              <a:ext uri="{FF2B5EF4-FFF2-40B4-BE49-F238E27FC236}">
                <a16:creationId xmlns:a16="http://schemas.microsoft.com/office/drawing/2014/main" id="{0DF98352-131A-4AB7-A83C-310E7C938A1F}"/>
              </a:ext>
            </a:extLst>
          </p:cNvPr>
          <p:cNvSpPr>
            <a:spLocks noGrp="1"/>
          </p:cNvSpPr>
          <p:nvPr/>
        </p:nvSpPr>
        <p:spPr>
          <a:xfrm>
            <a:off x="9353550" y="3686175"/>
            <a:ext cx="2247900" cy="285750"/>
          </a:xfrm>
          <a:prstGeom prst="rect">
            <a:avLst/>
          </a:prstGeom>
          <a:noFill/>
          <a:ln w="0">
            <a:noFill/>
          </a:ln>
        </p:spPr>
        <p:txBody>
          <a:bodyPr anchor="ctr">
            <a:noAutofit/>
          </a:bodyPr>
          <a:lstStyle/>
          <a:p>
            <a:pPr algn="l">
              <a:defRPr sz="1350" b="0">
                <a:solidFill>
                  <a:srgbClr val="0F8B8D"/>
                </a:solidFill>
                <a:latin typeface="Arial"/>
                <a:ea typeface="Arial"/>
                <a:cs typeface="Arial"/>
              </a:defRPr>
            </a:pPr>
            <a:r>
              <a:rPr sz="1350" b="0">
                <a:solidFill>
                  <a:srgbClr val="0F8B8D"/>
                </a:solidFill>
                <a:latin typeface="Arial"/>
                <a:ea typeface="Arial"/>
                <a:cs typeface="Arial"/>
              </a:rPr>
              <a:t>/fhir/Patient/{id}</a:t>
            </a:r>
          </a:p>
        </p:txBody>
      </p:sp>
      <p:sp>
        <p:nvSpPr>
          <p:cNvPr id="27" name="native-235">
            <a:extLst>
              <a:ext uri="{FF2B5EF4-FFF2-40B4-BE49-F238E27FC236}">
                <a16:creationId xmlns:a16="http://schemas.microsoft.com/office/drawing/2014/main" id="{DBC4CEB1-133B-495C-9191-49DB11830AF4}"/>
              </a:ext>
            </a:extLst>
          </p:cNvPr>
          <p:cNvSpPr>
            <a:spLocks noGrp="1"/>
          </p:cNvSpPr>
          <p:nvPr/>
        </p:nvSpPr>
        <p:spPr>
          <a:xfrm>
            <a:off x="9353550" y="4000500"/>
            <a:ext cx="2247900" cy="4381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id, identifier, name</a:t>
            </a:r>
          </a:p>
        </p:txBody>
      </p:sp>
      <p:sp>
        <p:nvSpPr>
          <p:cNvPr id="28" name="native-236">
            <a:extLst>
              <a:ext uri="{FF2B5EF4-FFF2-40B4-BE49-F238E27FC236}">
                <a16:creationId xmlns:a16="http://schemas.microsoft.com/office/drawing/2014/main" id="{6CB0D62A-461F-4677-9B96-2B7E073DE35F}"/>
              </a:ext>
            </a:extLst>
          </p:cNvPr>
          <p:cNvSpPr>
            <a:spLocks noGrp="1"/>
          </p:cNvSpPr>
          <p:nvPr/>
        </p:nvSpPr>
        <p:spPr>
          <a:xfrm>
            <a:off x="1614488" y="3233738"/>
            <a:ext cx="9525" cy="9525"/>
          </a:xfrm>
          <a:prstGeom prst="rect">
            <a:avLst/>
          </a:prstGeom>
          <a:noFill/>
          <a:ln w="0">
            <a:noFill/>
          </a:ln>
        </p:spPr>
        <p:txBody>
          <a:bodyPr/>
          <a:lstStyle/>
          <a:p>
            <a:endParaRPr lang="en-US"/>
          </a:p>
        </p:txBody>
      </p:sp>
      <p:sp>
        <p:nvSpPr>
          <p:cNvPr id="29" name="native-237">
            <a:extLst>
              <a:ext uri="{FF2B5EF4-FFF2-40B4-BE49-F238E27FC236}">
                <a16:creationId xmlns:a16="http://schemas.microsoft.com/office/drawing/2014/main" id="{517E3D75-05AB-4ED8-BC07-59D7B7167658}"/>
              </a:ext>
            </a:extLst>
          </p:cNvPr>
          <p:cNvSpPr>
            <a:spLocks noGrp="1"/>
          </p:cNvSpPr>
          <p:nvPr/>
        </p:nvSpPr>
        <p:spPr>
          <a:xfrm>
            <a:off x="1614488" y="1766888"/>
            <a:ext cx="9525" cy="9525"/>
          </a:xfrm>
          <a:prstGeom prst="rect">
            <a:avLst/>
          </a:prstGeom>
          <a:noFill/>
          <a:ln w="0">
            <a:noFill/>
          </a:ln>
        </p:spPr>
        <p:txBody>
          <a:bodyPr/>
          <a:lstStyle/>
          <a:p>
            <a:endParaRPr lang="en-US"/>
          </a:p>
        </p:txBody>
      </p:sp>
      <p:cxnSp>
        <p:nvCxnSpPr>
          <p:cNvPr id="111" name="Straight Arrow Connector 110"/>
          <p:cNvCxnSpPr>
            <a:stCxn id="28" idx="3"/>
            <a:endCxn id="29" idx="1"/>
          </p:cNvCxnSpPr>
          <p:nvPr/>
        </p:nvCxnSpPr>
        <p:spPr>
          <a:xfrm flipH="1" flipV="1">
            <a:off x="1614488" y="1771651"/>
            <a:ext cx="9525" cy="1466850"/>
          </a:xfrm>
          <a:prstGeom prst="straightConnector1">
            <a:avLst/>
          </a:prstGeom>
          <a:ln w="19050">
            <a:solidFill>
              <a:srgbClr val="0F8B8D"/>
            </a:solidFill>
            <a:prstDash val="solid"/>
          </a:ln>
        </p:spPr>
      </p:cxnSp>
      <p:sp>
        <p:nvSpPr>
          <p:cNvPr id="31" name="native-238">
            <a:extLst>
              <a:ext uri="{FF2B5EF4-FFF2-40B4-BE49-F238E27FC236}">
                <a16:creationId xmlns:a16="http://schemas.microsoft.com/office/drawing/2014/main" id="{DB033BD5-943B-4BD4-836F-FFDCE43DBEE6}"/>
              </a:ext>
            </a:extLst>
          </p:cNvPr>
          <p:cNvSpPr>
            <a:spLocks noGrp="1"/>
          </p:cNvSpPr>
          <p:nvPr/>
        </p:nvSpPr>
        <p:spPr>
          <a:xfrm>
            <a:off x="1614488" y="1766888"/>
            <a:ext cx="9525" cy="9525"/>
          </a:xfrm>
          <a:prstGeom prst="rect">
            <a:avLst/>
          </a:prstGeom>
          <a:noFill/>
          <a:ln w="0">
            <a:noFill/>
          </a:ln>
        </p:spPr>
        <p:txBody>
          <a:bodyPr/>
          <a:lstStyle/>
          <a:p>
            <a:endParaRPr lang="en-US"/>
          </a:p>
        </p:txBody>
      </p:sp>
      <p:sp>
        <p:nvSpPr>
          <p:cNvPr id="32" name="native-239">
            <a:extLst>
              <a:ext uri="{FF2B5EF4-FFF2-40B4-BE49-F238E27FC236}">
                <a16:creationId xmlns:a16="http://schemas.microsoft.com/office/drawing/2014/main" id="{DB817186-E358-41FE-9C90-684D8D77F8A3}"/>
              </a:ext>
            </a:extLst>
          </p:cNvPr>
          <p:cNvSpPr>
            <a:spLocks noGrp="1"/>
          </p:cNvSpPr>
          <p:nvPr/>
        </p:nvSpPr>
        <p:spPr>
          <a:xfrm>
            <a:off x="10472738" y="1766888"/>
            <a:ext cx="9525" cy="9525"/>
          </a:xfrm>
          <a:prstGeom prst="rect">
            <a:avLst/>
          </a:prstGeom>
          <a:noFill/>
          <a:ln w="0">
            <a:noFill/>
          </a:ln>
        </p:spPr>
        <p:txBody>
          <a:bodyPr/>
          <a:lstStyle/>
          <a:p>
            <a:endParaRPr lang="en-US"/>
          </a:p>
        </p:txBody>
      </p:sp>
      <p:cxnSp>
        <p:nvCxnSpPr>
          <p:cNvPr id="114" name="Straight Arrow Connector 113"/>
          <p:cNvCxnSpPr>
            <a:stCxn id="31" idx="3"/>
            <a:endCxn id="32" idx="1"/>
          </p:cNvCxnSpPr>
          <p:nvPr/>
        </p:nvCxnSpPr>
        <p:spPr>
          <a:xfrm>
            <a:off x="1624013" y="1771651"/>
            <a:ext cx="8848725" cy="0"/>
          </a:xfrm>
          <a:prstGeom prst="straightConnector1">
            <a:avLst/>
          </a:prstGeom>
          <a:ln w="19050">
            <a:solidFill>
              <a:srgbClr val="0F8B8D"/>
            </a:solidFill>
            <a:prstDash val="solid"/>
          </a:ln>
        </p:spPr>
      </p:cxnSp>
      <p:sp>
        <p:nvSpPr>
          <p:cNvPr id="34" name="native-240">
            <a:extLst>
              <a:ext uri="{FF2B5EF4-FFF2-40B4-BE49-F238E27FC236}">
                <a16:creationId xmlns:a16="http://schemas.microsoft.com/office/drawing/2014/main" id="{A5127543-3A4F-475C-903E-0752739CEBAC}"/>
              </a:ext>
            </a:extLst>
          </p:cNvPr>
          <p:cNvSpPr>
            <a:spLocks noGrp="1"/>
          </p:cNvSpPr>
          <p:nvPr/>
        </p:nvSpPr>
        <p:spPr>
          <a:xfrm>
            <a:off x="10472738" y="1766888"/>
            <a:ext cx="9525" cy="9525"/>
          </a:xfrm>
          <a:prstGeom prst="rect">
            <a:avLst/>
          </a:prstGeom>
          <a:noFill/>
          <a:ln w="0">
            <a:noFill/>
          </a:ln>
        </p:spPr>
        <p:txBody>
          <a:bodyPr/>
          <a:lstStyle/>
          <a:p>
            <a:endParaRPr lang="en-US"/>
          </a:p>
        </p:txBody>
      </p:sp>
      <p:sp>
        <p:nvSpPr>
          <p:cNvPr id="35" name="native-241">
            <a:extLst>
              <a:ext uri="{FF2B5EF4-FFF2-40B4-BE49-F238E27FC236}">
                <a16:creationId xmlns:a16="http://schemas.microsoft.com/office/drawing/2014/main" id="{D824F25C-DC65-4145-BAE3-3450416E7775}"/>
              </a:ext>
            </a:extLst>
          </p:cNvPr>
          <p:cNvSpPr>
            <a:spLocks noGrp="1"/>
          </p:cNvSpPr>
          <p:nvPr/>
        </p:nvSpPr>
        <p:spPr>
          <a:xfrm>
            <a:off x="10472738" y="3233738"/>
            <a:ext cx="9525" cy="9525"/>
          </a:xfrm>
          <a:prstGeom prst="rect">
            <a:avLst/>
          </a:prstGeom>
          <a:noFill/>
          <a:ln w="0">
            <a:noFill/>
          </a:ln>
        </p:spPr>
        <p:txBody>
          <a:bodyPr/>
          <a:lstStyle/>
          <a:p>
            <a:endParaRPr lang="en-US"/>
          </a:p>
        </p:txBody>
      </p:sp>
      <p:cxnSp>
        <p:nvCxnSpPr>
          <p:cNvPr id="117" name="Straight Arrow Connector 116"/>
          <p:cNvCxnSpPr>
            <a:stCxn id="34" idx="3"/>
            <a:endCxn id="35" idx="1"/>
          </p:cNvCxnSpPr>
          <p:nvPr/>
        </p:nvCxnSpPr>
        <p:spPr>
          <a:xfrm flipH="1">
            <a:off x="10472738" y="1771651"/>
            <a:ext cx="9525" cy="1466850"/>
          </a:xfrm>
          <a:prstGeom prst="straightConnector1">
            <a:avLst/>
          </a:prstGeom>
          <a:ln w="19050">
            <a:solidFill>
              <a:srgbClr val="0F8B8D"/>
            </a:solidFill>
            <a:prstDash val="solid"/>
            <a:tailEnd type="triangle" w="med" len="med"/>
          </a:ln>
        </p:spPr>
      </p:cxnSp>
      <p:sp>
        <p:nvSpPr>
          <p:cNvPr id="37" name="native-242">
            <a:extLst>
              <a:ext uri="{FF2B5EF4-FFF2-40B4-BE49-F238E27FC236}">
                <a16:creationId xmlns:a16="http://schemas.microsoft.com/office/drawing/2014/main" id="{FC6710A9-BAEA-4527-84C6-F4ADE8B2B825}"/>
              </a:ext>
            </a:extLst>
          </p:cNvPr>
          <p:cNvSpPr>
            <a:spLocks noGrp="1"/>
          </p:cNvSpPr>
          <p:nvPr/>
        </p:nvSpPr>
        <p:spPr>
          <a:xfrm>
            <a:off x="3857625" y="1457325"/>
            <a:ext cx="3810000" cy="238125"/>
          </a:xfrm>
          <a:prstGeom prst="rect">
            <a:avLst/>
          </a:prstGeom>
          <a:solidFill>
            <a:srgbClr val="FFFFFF"/>
          </a:solidFill>
          <a:ln w="0">
            <a:noFill/>
          </a:ln>
        </p:spPr>
        <p:txBody>
          <a:bodyPr anchor="ctr">
            <a:noAutofit/>
          </a:bodyPr>
          <a:lstStyle/>
          <a:p>
            <a:pPr algn="ctr">
              <a:defRPr sz="1575" b="0">
                <a:solidFill>
                  <a:srgbClr val="0F8B8D"/>
                </a:solidFill>
                <a:latin typeface="Arial"/>
                <a:ea typeface="Arial"/>
                <a:cs typeface="Arial"/>
              </a:defRPr>
            </a:pPr>
            <a:r>
              <a:rPr sz="1575" b="0">
                <a:solidFill>
                  <a:srgbClr val="0F8B8D"/>
                </a:solidFill>
                <a:latin typeface="Arial"/>
                <a:ea typeface="Arial"/>
                <a:cs typeface="Arial"/>
              </a:rPr>
              <a:t>Claim.patient  [1..1]</a:t>
            </a:r>
          </a:p>
        </p:txBody>
      </p:sp>
      <p:sp>
        <p:nvSpPr>
          <p:cNvPr id="38" name="native-243">
            <a:extLst>
              <a:ext uri="{FF2B5EF4-FFF2-40B4-BE49-F238E27FC236}">
                <a16:creationId xmlns:a16="http://schemas.microsoft.com/office/drawing/2014/main" id="{B4C181AB-1C01-4D45-90B8-7893FCC6C360}"/>
              </a:ext>
            </a:extLst>
          </p:cNvPr>
          <p:cNvSpPr>
            <a:spLocks noGrp="1"/>
          </p:cNvSpPr>
          <p:nvPr/>
        </p:nvSpPr>
        <p:spPr>
          <a:xfrm>
            <a:off x="5376863" y="3233738"/>
            <a:ext cx="9525" cy="9525"/>
          </a:xfrm>
          <a:prstGeom prst="rect">
            <a:avLst/>
          </a:prstGeom>
          <a:noFill/>
          <a:ln w="0">
            <a:noFill/>
          </a:ln>
        </p:spPr>
        <p:txBody>
          <a:bodyPr/>
          <a:lstStyle/>
          <a:p>
            <a:endParaRPr lang="en-US"/>
          </a:p>
        </p:txBody>
      </p:sp>
      <p:sp>
        <p:nvSpPr>
          <p:cNvPr id="39" name="native-244">
            <a:extLst>
              <a:ext uri="{FF2B5EF4-FFF2-40B4-BE49-F238E27FC236}">
                <a16:creationId xmlns:a16="http://schemas.microsoft.com/office/drawing/2014/main" id="{E941C8EA-1982-498E-8254-B1319A0FC2CF}"/>
              </a:ext>
            </a:extLst>
          </p:cNvPr>
          <p:cNvSpPr>
            <a:spLocks noGrp="1"/>
          </p:cNvSpPr>
          <p:nvPr/>
        </p:nvSpPr>
        <p:spPr>
          <a:xfrm>
            <a:off x="5376863" y="2443163"/>
            <a:ext cx="9525" cy="9525"/>
          </a:xfrm>
          <a:prstGeom prst="rect">
            <a:avLst/>
          </a:prstGeom>
          <a:noFill/>
          <a:ln w="0">
            <a:noFill/>
          </a:ln>
        </p:spPr>
        <p:txBody>
          <a:bodyPr/>
          <a:lstStyle/>
          <a:p>
            <a:endParaRPr lang="en-US"/>
          </a:p>
        </p:txBody>
      </p:sp>
      <p:cxnSp>
        <p:nvCxnSpPr>
          <p:cNvPr id="121" name="Straight Arrow Connector 120"/>
          <p:cNvCxnSpPr>
            <a:stCxn id="38" idx="3"/>
            <a:endCxn id="39" idx="1"/>
          </p:cNvCxnSpPr>
          <p:nvPr/>
        </p:nvCxnSpPr>
        <p:spPr>
          <a:xfrm flipH="1" flipV="1">
            <a:off x="5376863" y="2447926"/>
            <a:ext cx="9525" cy="790575"/>
          </a:xfrm>
          <a:prstGeom prst="straightConnector1">
            <a:avLst/>
          </a:prstGeom>
          <a:ln w="19050">
            <a:solidFill>
              <a:srgbClr val="3478B9"/>
            </a:solidFill>
            <a:prstDash val="solid"/>
          </a:ln>
        </p:spPr>
      </p:cxnSp>
      <p:sp>
        <p:nvSpPr>
          <p:cNvPr id="41" name="native-245">
            <a:extLst>
              <a:ext uri="{FF2B5EF4-FFF2-40B4-BE49-F238E27FC236}">
                <a16:creationId xmlns:a16="http://schemas.microsoft.com/office/drawing/2014/main" id="{B136E12E-6BF7-4342-8C98-5140866289FA}"/>
              </a:ext>
            </a:extLst>
          </p:cNvPr>
          <p:cNvSpPr>
            <a:spLocks noGrp="1"/>
          </p:cNvSpPr>
          <p:nvPr/>
        </p:nvSpPr>
        <p:spPr>
          <a:xfrm>
            <a:off x="5376863" y="2443163"/>
            <a:ext cx="9525" cy="9525"/>
          </a:xfrm>
          <a:prstGeom prst="rect">
            <a:avLst/>
          </a:prstGeom>
          <a:noFill/>
          <a:ln w="0">
            <a:noFill/>
          </a:ln>
        </p:spPr>
        <p:txBody>
          <a:bodyPr/>
          <a:lstStyle/>
          <a:p>
            <a:endParaRPr lang="en-US"/>
          </a:p>
        </p:txBody>
      </p:sp>
      <p:sp>
        <p:nvSpPr>
          <p:cNvPr id="42" name="native-246">
            <a:extLst>
              <a:ext uri="{FF2B5EF4-FFF2-40B4-BE49-F238E27FC236}">
                <a16:creationId xmlns:a16="http://schemas.microsoft.com/office/drawing/2014/main" id="{123F185D-9CEE-4948-ADCE-19614B837AAF}"/>
              </a:ext>
            </a:extLst>
          </p:cNvPr>
          <p:cNvSpPr>
            <a:spLocks noGrp="1"/>
          </p:cNvSpPr>
          <p:nvPr/>
        </p:nvSpPr>
        <p:spPr>
          <a:xfrm>
            <a:off x="11139488" y="2443163"/>
            <a:ext cx="9525" cy="9525"/>
          </a:xfrm>
          <a:prstGeom prst="rect">
            <a:avLst/>
          </a:prstGeom>
          <a:noFill/>
          <a:ln w="0">
            <a:noFill/>
          </a:ln>
        </p:spPr>
        <p:txBody>
          <a:bodyPr/>
          <a:lstStyle/>
          <a:p>
            <a:endParaRPr lang="en-US"/>
          </a:p>
        </p:txBody>
      </p:sp>
      <p:cxnSp>
        <p:nvCxnSpPr>
          <p:cNvPr id="124" name="Straight Arrow Connector 123"/>
          <p:cNvCxnSpPr>
            <a:stCxn id="41" idx="3"/>
            <a:endCxn id="42" idx="1"/>
          </p:cNvCxnSpPr>
          <p:nvPr/>
        </p:nvCxnSpPr>
        <p:spPr>
          <a:xfrm>
            <a:off x="5386388" y="2447926"/>
            <a:ext cx="5753100" cy="0"/>
          </a:xfrm>
          <a:prstGeom prst="straightConnector1">
            <a:avLst/>
          </a:prstGeom>
          <a:ln w="19050">
            <a:solidFill>
              <a:srgbClr val="3478B9"/>
            </a:solidFill>
            <a:prstDash val="solid"/>
          </a:ln>
        </p:spPr>
      </p:cxnSp>
      <p:sp>
        <p:nvSpPr>
          <p:cNvPr id="44" name="native-247">
            <a:extLst>
              <a:ext uri="{FF2B5EF4-FFF2-40B4-BE49-F238E27FC236}">
                <a16:creationId xmlns:a16="http://schemas.microsoft.com/office/drawing/2014/main" id="{9445CCD1-D484-4F3A-87EF-1971329FDFF9}"/>
              </a:ext>
            </a:extLst>
          </p:cNvPr>
          <p:cNvSpPr>
            <a:spLocks noGrp="1"/>
          </p:cNvSpPr>
          <p:nvPr/>
        </p:nvSpPr>
        <p:spPr>
          <a:xfrm>
            <a:off x="11139488" y="2443163"/>
            <a:ext cx="9525" cy="9525"/>
          </a:xfrm>
          <a:prstGeom prst="rect">
            <a:avLst/>
          </a:prstGeom>
          <a:noFill/>
          <a:ln w="0">
            <a:noFill/>
          </a:ln>
        </p:spPr>
        <p:txBody>
          <a:bodyPr/>
          <a:lstStyle/>
          <a:p>
            <a:endParaRPr lang="en-US"/>
          </a:p>
        </p:txBody>
      </p:sp>
      <p:sp>
        <p:nvSpPr>
          <p:cNvPr id="45" name="native-248">
            <a:extLst>
              <a:ext uri="{FF2B5EF4-FFF2-40B4-BE49-F238E27FC236}">
                <a16:creationId xmlns:a16="http://schemas.microsoft.com/office/drawing/2014/main" id="{8AAB6434-C298-4161-B5AE-BC4ECE537032}"/>
              </a:ext>
            </a:extLst>
          </p:cNvPr>
          <p:cNvSpPr>
            <a:spLocks noGrp="1"/>
          </p:cNvSpPr>
          <p:nvPr/>
        </p:nvSpPr>
        <p:spPr>
          <a:xfrm>
            <a:off x="11139488" y="3233738"/>
            <a:ext cx="9525" cy="9525"/>
          </a:xfrm>
          <a:prstGeom prst="rect">
            <a:avLst/>
          </a:prstGeom>
          <a:noFill/>
          <a:ln w="0">
            <a:noFill/>
          </a:ln>
        </p:spPr>
        <p:txBody>
          <a:bodyPr/>
          <a:lstStyle/>
          <a:p>
            <a:endParaRPr lang="en-US"/>
          </a:p>
        </p:txBody>
      </p:sp>
      <p:cxnSp>
        <p:nvCxnSpPr>
          <p:cNvPr id="127" name="Straight Arrow Connector 126"/>
          <p:cNvCxnSpPr>
            <a:stCxn id="44" idx="3"/>
            <a:endCxn id="45" idx="1"/>
          </p:cNvCxnSpPr>
          <p:nvPr/>
        </p:nvCxnSpPr>
        <p:spPr>
          <a:xfrm flipH="1">
            <a:off x="11139488" y="2447926"/>
            <a:ext cx="9525" cy="790575"/>
          </a:xfrm>
          <a:prstGeom prst="straightConnector1">
            <a:avLst/>
          </a:prstGeom>
          <a:ln w="19050">
            <a:solidFill>
              <a:srgbClr val="3478B9"/>
            </a:solidFill>
            <a:prstDash val="solid"/>
            <a:tailEnd type="triangle" w="med" len="med"/>
          </a:ln>
        </p:spPr>
      </p:cxnSp>
      <p:sp>
        <p:nvSpPr>
          <p:cNvPr id="47" name="native-249">
            <a:extLst>
              <a:ext uri="{FF2B5EF4-FFF2-40B4-BE49-F238E27FC236}">
                <a16:creationId xmlns:a16="http://schemas.microsoft.com/office/drawing/2014/main" id="{21D8BD45-A6EF-4780-9C02-6A1C845E12F0}"/>
              </a:ext>
            </a:extLst>
          </p:cNvPr>
          <p:cNvSpPr>
            <a:spLocks noGrp="1"/>
          </p:cNvSpPr>
          <p:nvPr/>
        </p:nvSpPr>
        <p:spPr>
          <a:xfrm>
            <a:off x="6477000" y="2133600"/>
            <a:ext cx="3810000" cy="238125"/>
          </a:xfrm>
          <a:prstGeom prst="rect">
            <a:avLst/>
          </a:prstGeom>
          <a:solidFill>
            <a:srgbClr val="FFFFFF"/>
          </a:solidFill>
          <a:ln w="0">
            <a:noFill/>
          </a:ln>
        </p:spPr>
        <p:txBody>
          <a:bodyPr anchor="ctr">
            <a:noAutofit/>
          </a:bodyPr>
          <a:lstStyle/>
          <a:p>
            <a:pPr algn="ctr">
              <a:defRPr sz="1575" b="0">
                <a:solidFill>
                  <a:srgbClr val="3478B9"/>
                </a:solidFill>
                <a:latin typeface="Arial"/>
                <a:ea typeface="Arial"/>
                <a:cs typeface="Arial"/>
              </a:defRPr>
            </a:pPr>
            <a:r>
              <a:rPr sz="1575" b="0">
                <a:solidFill>
                  <a:srgbClr val="3478B9"/>
                </a:solidFill>
                <a:latin typeface="Arial"/>
                <a:ea typeface="Arial"/>
                <a:cs typeface="Arial"/>
              </a:rPr>
              <a:t>EOB.patient  [1..1]</a:t>
            </a:r>
          </a:p>
        </p:txBody>
      </p:sp>
      <p:sp>
        <p:nvSpPr>
          <p:cNvPr id="48" name="native-250">
            <a:extLst>
              <a:ext uri="{FF2B5EF4-FFF2-40B4-BE49-F238E27FC236}">
                <a16:creationId xmlns:a16="http://schemas.microsoft.com/office/drawing/2014/main" id="{9D30CBE8-3B5C-4FE0-9512-E4126ECD1E1F}"/>
              </a:ext>
            </a:extLst>
          </p:cNvPr>
          <p:cNvSpPr>
            <a:spLocks noGrp="1"/>
          </p:cNvSpPr>
          <p:nvPr/>
        </p:nvSpPr>
        <p:spPr>
          <a:xfrm>
            <a:off x="4138613" y="3233738"/>
            <a:ext cx="9525" cy="9525"/>
          </a:xfrm>
          <a:prstGeom prst="rect">
            <a:avLst/>
          </a:prstGeom>
          <a:noFill/>
          <a:ln w="0">
            <a:noFill/>
          </a:ln>
        </p:spPr>
        <p:txBody>
          <a:bodyPr/>
          <a:lstStyle/>
          <a:p>
            <a:endParaRPr lang="en-US"/>
          </a:p>
        </p:txBody>
      </p:sp>
      <p:sp>
        <p:nvSpPr>
          <p:cNvPr id="49" name="native-251">
            <a:extLst>
              <a:ext uri="{FF2B5EF4-FFF2-40B4-BE49-F238E27FC236}">
                <a16:creationId xmlns:a16="http://schemas.microsoft.com/office/drawing/2014/main" id="{238A9162-881D-46AF-9358-BC066281605D}"/>
              </a:ext>
            </a:extLst>
          </p:cNvPr>
          <p:cNvSpPr>
            <a:spLocks noGrp="1"/>
          </p:cNvSpPr>
          <p:nvPr/>
        </p:nvSpPr>
        <p:spPr>
          <a:xfrm>
            <a:off x="4138613" y="2881313"/>
            <a:ext cx="9525" cy="9525"/>
          </a:xfrm>
          <a:prstGeom prst="rect">
            <a:avLst/>
          </a:prstGeom>
          <a:noFill/>
          <a:ln w="0">
            <a:noFill/>
          </a:ln>
        </p:spPr>
        <p:txBody>
          <a:bodyPr/>
          <a:lstStyle/>
          <a:p>
            <a:endParaRPr lang="en-US"/>
          </a:p>
        </p:txBody>
      </p:sp>
      <p:cxnSp>
        <p:nvCxnSpPr>
          <p:cNvPr id="131" name="Straight Arrow Connector 130"/>
          <p:cNvCxnSpPr>
            <a:stCxn id="48" idx="3"/>
            <a:endCxn id="49" idx="1"/>
          </p:cNvCxnSpPr>
          <p:nvPr/>
        </p:nvCxnSpPr>
        <p:spPr>
          <a:xfrm flipH="1" flipV="1">
            <a:off x="4138613" y="2886076"/>
            <a:ext cx="9525" cy="352425"/>
          </a:xfrm>
          <a:prstGeom prst="straightConnector1">
            <a:avLst/>
          </a:prstGeom>
          <a:ln w="19050">
            <a:solidFill>
              <a:srgbClr val="3478B9"/>
            </a:solidFill>
            <a:prstDash val="solid"/>
          </a:ln>
        </p:spPr>
      </p:cxnSp>
      <p:sp>
        <p:nvSpPr>
          <p:cNvPr id="51" name="native-252">
            <a:extLst>
              <a:ext uri="{FF2B5EF4-FFF2-40B4-BE49-F238E27FC236}">
                <a16:creationId xmlns:a16="http://schemas.microsoft.com/office/drawing/2014/main" id="{9A76371F-5BFF-4D85-8C28-B5D2C9A82B3A}"/>
              </a:ext>
            </a:extLst>
          </p:cNvPr>
          <p:cNvSpPr>
            <a:spLocks noGrp="1"/>
          </p:cNvSpPr>
          <p:nvPr/>
        </p:nvSpPr>
        <p:spPr>
          <a:xfrm>
            <a:off x="4138613" y="2881313"/>
            <a:ext cx="9525" cy="9525"/>
          </a:xfrm>
          <a:prstGeom prst="rect">
            <a:avLst/>
          </a:prstGeom>
          <a:noFill/>
          <a:ln w="0">
            <a:noFill/>
          </a:ln>
        </p:spPr>
        <p:txBody>
          <a:bodyPr/>
          <a:lstStyle/>
          <a:p>
            <a:endParaRPr lang="en-US"/>
          </a:p>
        </p:txBody>
      </p:sp>
      <p:sp>
        <p:nvSpPr>
          <p:cNvPr id="52" name="native-253">
            <a:extLst>
              <a:ext uri="{FF2B5EF4-FFF2-40B4-BE49-F238E27FC236}">
                <a16:creationId xmlns:a16="http://schemas.microsoft.com/office/drawing/2014/main" id="{DF400064-3E72-449D-BC1C-86099D44370E}"/>
              </a:ext>
            </a:extLst>
          </p:cNvPr>
          <p:cNvSpPr>
            <a:spLocks noGrp="1"/>
          </p:cNvSpPr>
          <p:nvPr/>
        </p:nvSpPr>
        <p:spPr>
          <a:xfrm>
            <a:off x="2328863" y="2881313"/>
            <a:ext cx="9525" cy="9525"/>
          </a:xfrm>
          <a:prstGeom prst="rect">
            <a:avLst/>
          </a:prstGeom>
          <a:noFill/>
          <a:ln w="0">
            <a:noFill/>
          </a:ln>
        </p:spPr>
        <p:txBody>
          <a:bodyPr/>
          <a:lstStyle/>
          <a:p>
            <a:endParaRPr lang="en-US"/>
          </a:p>
        </p:txBody>
      </p:sp>
      <p:cxnSp>
        <p:nvCxnSpPr>
          <p:cNvPr id="134" name="Straight Arrow Connector 133"/>
          <p:cNvCxnSpPr>
            <a:stCxn id="51" idx="3"/>
            <a:endCxn id="52" idx="1"/>
          </p:cNvCxnSpPr>
          <p:nvPr/>
        </p:nvCxnSpPr>
        <p:spPr>
          <a:xfrm flipH="1">
            <a:off x="2328863" y="2886076"/>
            <a:ext cx="1819275" cy="0"/>
          </a:xfrm>
          <a:prstGeom prst="straightConnector1">
            <a:avLst/>
          </a:prstGeom>
          <a:ln w="19050">
            <a:solidFill>
              <a:srgbClr val="3478B9"/>
            </a:solidFill>
            <a:prstDash val="solid"/>
          </a:ln>
        </p:spPr>
      </p:cxnSp>
      <p:sp>
        <p:nvSpPr>
          <p:cNvPr id="54" name="native-254">
            <a:extLst>
              <a:ext uri="{FF2B5EF4-FFF2-40B4-BE49-F238E27FC236}">
                <a16:creationId xmlns:a16="http://schemas.microsoft.com/office/drawing/2014/main" id="{873E5A8B-CE6A-48B2-8449-91F8E34ED4CB}"/>
              </a:ext>
            </a:extLst>
          </p:cNvPr>
          <p:cNvSpPr>
            <a:spLocks noGrp="1"/>
          </p:cNvSpPr>
          <p:nvPr/>
        </p:nvSpPr>
        <p:spPr>
          <a:xfrm>
            <a:off x="2328863" y="2881313"/>
            <a:ext cx="9525" cy="9525"/>
          </a:xfrm>
          <a:prstGeom prst="rect">
            <a:avLst/>
          </a:prstGeom>
          <a:noFill/>
          <a:ln w="0">
            <a:noFill/>
          </a:ln>
        </p:spPr>
        <p:txBody>
          <a:bodyPr/>
          <a:lstStyle/>
          <a:p>
            <a:endParaRPr lang="en-US"/>
          </a:p>
        </p:txBody>
      </p:sp>
      <p:sp>
        <p:nvSpPr>
          <p:cNvPr id="55" name="native-255">
            <a:extLst>
              <a:ext uri="{FF2B5EF4-FFF2-40B4-BE49-F238E27FC236}">
                <a16:creationId xmlns:a16="http://schemas.microsoft.com/office/drawing/2014/main" id="{58099772-FE67-4205-B914-3C8F057F3D12}"/>
              </a:ext>
            </a:extLst>
          </p:cNvPr>
          <p:cNvSpPr>
            <a:spLocks noGrp="1"/>
          </p:cNvSpPr>
          <p:nvPr/>
        </p:nvSpPr>
        <p:spPr>
          <a:xfrm>
            <a:off x="2328863" y="3233738"/>
            <a:ext cx="9525" cy="9525"/>
          </a:xfrm>
          <a:prstGeom prst="rect">
            <a:avLst/>
          </a:prstGeom>
          <a:noFill/>
          <a:ln w="0">
            <a:noFill/>
          </a:ln>
        </p:spPr>
        <p:txBody>
          <a:bodyPr/>
          <a:lstStyle/>
          <a:p>
            <a:endParaRPr lang="en-US"/>
          </a:p>
        </p:txBody>
      </p:sp>
      <p:cxnSp>
        <p:nvCxnSpPr>
          <p:cNvPr id="137" name="Straight Arrow Connector 136"/>
          <p:cNvCxnSpPr>
            <a:stCxn id="54" idx="3"/>
            <a:endCxn id="55" idx="1"/>
          </p:cNvCxnSpPr>
          <p:nvPr/>
        </p:nvCxnSpPr>
        <p:spPr>
          <a:xfrm flipH="1">
            <a:off x="2328863" y="2886076"/>
            <a:ext cx="9525" cy="352425"/>
          </a:xfrm>
          <a:prstGeom prst="straightConnector1">
            <a:avLst/>
          </a:prstGeom>
          <a:ln w="19050">
            <a:solidFill>
              <a:srgbClr val="3478B9"/>
            </a:solidFill>
            <a:prstDash val="solid"/>
            <a:tailEnd type="triangle" w="med" len="med"/>
          </a:ln>
        </p:spPr>
      </p:cxnSp>
      <p:sp>
        <p:nvSpPr>
          <p:cNvPr id="57" name="native-256">
            <a:extLst>
              <a:ext uri="{FF2B5EF4-FFF2-40B4-BE49-F238E27FC236}">
                <a16:creationId xmlns:a16="http://schemas.microsoft.com/office/drawing/2014/main" id="{C61742D0-E5D1-43FC-9659-362CB0D72266}"/>
              </a:ext>
            </a:extLst>
          </p:cNvPr>
          <p:cNvSpPr>
            <a:spLocks noGrp="1"/>
          </p:cNvSpPr>
          <p:nvPr/>
        </p:nvSpPr>
        <p:spPr>
          <a:xfrm>
            <a:off x="2667000" y="2581275"/>
            <a:ext cx="24765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EOB.claim  [0..1]</a:t>
            </a:r>
          </a:p>
        </p:txBody>
      </p:sp>
      <p:sp>
        <p:nvSpPr>
          <p:cNvPr id="58" name="native-257">
            <a:extLst>
              <a:ext uri="{FF2B5EF4-FFF2-40B4-BE49-F238E27FC236}">
                <a16:creationId xmlns:a16="http://schemas.microsoft.com/office/drawing/2014/main" id="{211E99B3-4C3E-412D-A2DD-7469C2723B2B}"/>
              </a:ext>
            </a:extLst>
          </p:cNvPr>
          <p:cNvSpPr>
            <a:spLocks noGrp="1"/>
          </p:cNvSpPr>
          <p:nvPr/>
        </p:nvSpPr>
        <p:spPr>
          <a:xfrm>
            <a:off x="8853488" y="3852863"/>
            <a:ext cx="9525" cy="9525"/>
          </a:xfrm>
          <a:prstGeom prst="rect">
            <a:avLst/>
          </a:prstGeom>
          <a:noFill/>
          <a:ln w="0">
            <a:noFill/>
          </a:ln>
        </p:spPr>
        <p:txBody>
          <a:bodyPr/>
          <a:lstStyle/>
          <a:p>
            <a:endParaRPr lang="en-US"/>
          </a:p>
        </p:txBody>
      </p:sp>
      <p:sp>
        <p:nvSpPr>
          <p:cNvPr id="59" name="native-258">
            <a:extLst>
              <a:ext uri="{FF2B5EF4-FFF2-40B4-BE49-F238E27FC236}">
                <a16:creationId xmlns:a16="http://schemas.microsoft.com/office/drawing/2014/main" id="{4B119FC9-C349-4942-860E-D66AF6BFDC62}"/>
              </a:ext>
            </a:extLst>
          </p:cNvPr>
          <p:cNvSpPr>
            <a:spLocks noGrp="1"/>
          </p:cNvSpPr>
          <p:nvPr/>
        </p:nvSpPr>
        <p:spPr>
          <a:xfrm>
            <a:off x="9234488" y="3852863"/>
            <a:ext cx="9525" cy="9525"/>
          </a:xfrm>
          <a:prstGeom prst="rect">
            <a:avLst/>
          </a:prstGeom>
          <a:noFill/>
          <a:ln w="0">
            <a:noFill/>
          </a:ln>
        </p:spPr>
        <p:txBody>
          <a:bodyPr/>
          <a:lstStyle/>
          <a:p>
            <a:endParaRPr lang="en-US"/>
          </a:p>
        </p:txBody>
      </p:sp>
      <p:cxnSp>
        <p:nvCxnSpPr>
          <p:cNvPr id="141" name="Straight Arrow Connector 140"/>
          <p:cNvCxnSpPr>
            <a:stCxn id="58" idx="3"/>
            <a:endCxn id="59" idx="1"/>
          </p:cNvCxnSpPr>
          <p:nvPr/>
        </p:nvCxnSpPr>
        <p:spPr>
          <a:xfrm>
            <a:off x="8863013" y="3857626"/>
            <a:ext cx="371475" cy="0"/>
          </a:xfrm>
          <a:prstGeom prst="straightConnector1">
            <a:avLst/>
          </a:prstGeom>
          <a:ln w="19050">
            <a:solidFill>
              <a:srgbClr val="0F8B8D"/>
            </a:solidFill>
            <a:prstDash val="solid"/>
            <a:tailEnd type="triangle" w="med" len="med"/>
          </a:ln>
        </p:spPr>
      </p:cxnSp>
      <p:sp>
        <p:nvSpPr>
          <p:cNvPr id="61" name="native-259">
            <a:extLst>
              <a:ext uri="{FF2B5EF4-FFF2-40B4-BE49-F238E27FC236}">
                <a16:creationId xmlns:a16="http://schemas.microsoft.com/office/drawing/2014/main" id="{E3017175-884E-458D-ADE0-959B666CFB25}"/>
              </a:ext>
            </a:extLst>
          </p:cNvPr>
          <p:cNvSpPr>
            <a:spLocks noGrp="1"/>
          </p:cNvSpPr>
          <p:nvPr/>
        </p:nvSpPr>
        <p:spPr>
          <a:xfrm>
            <a:off x="8915400" y="4543425"/>
            <a:ext cx="2762250" cy="238125"/>
          </a:xfrm>
          <a:prstGeom prst="rect">
            <a:avLst/>
          </a:prstGeom>
          <a:solidFill>
            <a:srgbClr val="FFFFFF"/>
          </a:solidFill>
          <a:ln w="0">
            <a:noFill/>
          </a:ln>
        </p:spPr>
        <p:txBody>
          <a:bodyPr anchor="ctr">
            <a:noAutofit/>
          </a:bodyPr>
          <a:lstStyle/>
          <a:p>
            <a:pPr algn="ctr">
              <a:defRPr sz="1350" b="0">
                <a:solidFill>
                  <a:srgbClr val="0F8B8D"/>
                </a:solidFill>
                <a:latin typeface="Arial"/>
                <a:ea typeface="Arial"/>
                <a:cs typeface="Arial"/>
              </a:defRPr>
            </a:pPr>
            <a:r>
              <a:rPr sz="1350" b="0">
                <a:solidFill>
                  <a:srgbClr val="0F8B8D"/>
                </a:solidFill>
                <a:latin typeface="Arial"/>
                <a:ea typeface="Arial"/>
                <a:cs typeface="Arial"/>
              </a:rPr>
              <a:t>beneficiary [1..1]</a:t>
            </a:r>
          </a:p>
        </p:txBody>
      </p:sp>
      <p:sp>
        <p:nvSpPr>
          <p:cNvPr id="62" name="native-260">
            <a:extLst>
              <a:ext uri="{FF2B5EF4-FFF2-40B4-BE49-F238E27FC236}">
                <a16:creationId xmlns:a16="http://schemas.microsoft.com/office/drawing/2014/main" id="{DB1979A9-CE58-4E0D-AD1A-199AED7F19C0}"/>
              </a:ext>
            </a:extLst>
          </p:cNvPr>
          <p:cNvSpPr>
            <a:spLocks noGrp="1"/>
          </p:cNvSpPr>
          <p:nvPr/>
        </p:nvSpPr>
        <p:spPr>
          <a:xfrm>
            <a:off x="4662488" y="4471988"/>
            <a:ext cx="9525" cy="9525"/>
          </a:xfrm>
          <a:prstGeom prst="rect">
            <a:avLst/>
          </a:prstGeom>
          <a:noFill/>
          <a:ln w="0">
            <a:noFill/>
          </a:ln>
        </p:spPr>
        <p:txBody>
          <a:bodyPr/>
          <a:lstStyle/>
          <a:p>
            <a:endParaRPr lang="en-US"/>
          </a:p>
        </p:txBody>
      </p:sp>
      <p:sp>
        <p:nvSpPr>
          <p:cNvPr id="63" name="native-261">
            <a:extLst>
              <a:ext uri="{FF2B5EF4-FFF2-40B4-BE49-F238E27FC236}">
                <a16:creationId xmlns:a16="http://schemas.microsoft.com/office/drawing/2014/main" id="{F5E34EB5-9CC5-46A4-AE00-BAEC5BA3B1DF}"/>
              </a:ext>
            </a:extLst>
          </p:cNvPr>
          <p:cNvSpPr>
            <a:spLocks noGrp="1"/>
          </p:cNvSpPr>
          <p:nvPr/>
        </p:nvSpPr>
        <p:spPr>
          <a:xfrm>
            <a:off x="4662488" y="5243513"/>
            <a:ext cx="9525" cy="9525"/>
          </a:xfrm>
          <a:prstGeom prst="rect">
            <a:avLst/>
          </a:prstGeom>
          <a:noFill/>
          <a:ln w="0">
            <a:noFill/>
          </a:ln>
        </p:spPr>
        <p:txBody>
          <a:bodyPr/>
          <a:lstStyle/>
          <a:p>
            <a:endParaRPr lang="en-US"/>
          </a:p>
        </p:txBody>
      </p:sp>
      <p:cxnSp>
        <p:nvCxnSpPr>
          <p:cNvPr id="145" name="Straight Arrow Connector 144"/>
          <p:cNvCxnSpPr>
            <a:stCxn id="62" idx="3"/>
            <a:endCxn id="63" idx="1"/>
          </p:cNvCxnSpPr>
          <p:nvPr/>
        </p:nvCxnSpPr>
        <p:spPr>
          <a:xfrm flipH="1">
            <a:off x="4662488" y="4476751"/>
            <a:ext cx="9525" cy="771525"/>
          </a:xfrm>
          <a:prstGeom prst="straightConnector1">
            <a:avLst/>
          </a:prstGeom>
          <a:ln w="19050">
            <a:solidFill>
              <a:srgbClr val="3478B9"/>
            </a:solidFill>
            <a:prstDash val="solid"/>
          </a:ln>
        </p:spPr>
      </p:cxnSp>
      <p:sp>
        <p:nvSpPr>
          <p:cNvPr id="65" name="native-262">
            <a:extLst>
              <a:ext uri="{FF2B5EF4-FFF2-40B4-BE49-F238E27FC236}">
                <a16:creationId xmlns:a16="http://schemas.microsoft.com/office/drawing/2014/main" id="{4CB6097A-724C-481E-90B8-927FFA18BBA6}"/>
              </a:ext>
            </a:extLst>
          </p:cNvPr>
          <p:cNvSpPr>
            <a:spLocks noGrp="1"/>
          </p:cNvSpPr>
          <p:nvPr/>
        </p:nvSpPr>
        <p:spPr>
          <a:xfrm>
            <a:off x="4662488" y="5243513"/>
            <a:ext cx="9525" cy="9525"/>
          </a:xfrm>
          <a:prstGeom prst="rect">
            <a:avLst/>
          </a:prstGeom>
          <a:noFill/>
          <a:ln w="0">
            <a:noFill/>
          </a:ln>
        </p:spPr>
        <p:txBody>
          <a:bodyPr/>
          <a:lstStyle/>
          <a:p>
            <a:endParaRPr lang="en-US"/>
          </a:p>
        </p:txBody>
      </p:sp>
      <p:sp>
        <p:nvSpPr>
          <p:cNvPr id="66" name="native-263">
            <a:extLst>
              <a:ext uri="{FF2B5EF4-FFF2-40B4-BE49-F238E27FC236}">
                <a16:creationId xmlns:a16="http://schemas.microsoft.com/office/drawing/2014/main" id="{4DB1FBBD-FABE-4C71-B40B-26DC5BE2B53D}"/>
              </a:ext>
            </a:extLst>
          </p:cNvPr>
          <p:cNvSpPr>
            <a:spLocks noGrp="1"/>
          </p:cNvSpPr>
          <p:nvPr/>
        </p:nvSpPr>
        <p:spPr>
          <a:xfrm>
            <a:off x="7615238" y="5243513"/>
            <a:ext cx="9525" cy="9525"/>
          </a:xfrm>
          <a:prstGeom prst="rect">
            <a:avLst/>
          </a:prstGeom>
          <a:noFill/>
          <a:ln w="0">
            <a:noFill/>
          </a:ln>
        </p:spPr>
        <p:txBody>
          <a:bodyPr/>
          <a:lstStyle/>
          <a:p>
            <a:endParaRPr lang="en-US"/>
          </a:p>
        </p:txBody>
      </p:sp>
      <p:cxnSp>
        <p:nvCxnSpPr>
          <p:cNvPr id="148" name="Straight Arrow Connector 147"/>
          <p:cNvCxnSpPr>
            <a:stCxn id="65" idx="3"/>
            <a:endCxn id="66" idx="1"/>
          </p:cNvCxnSpPr>
          <p:nvPr/>
        </p:nvCxnSpPr>
        <p:spPr>
          <a:xfrm>
            <a:off x="4672013" y="5248276"/>
            <a:ext cx="2943225" cy="0"/>
          </a:xfrm>
          <a:prstGeom prst="straightConnector1">
            <a:avLst/>
          </a:prstGeom>
          <a:ln w="19050">
            <a:solidFill>
              <a:srgbClr val="3478B9"/>
            </a:solidFill>
            <a:prstDash val="solid"/>
          </a:ln>
        </p:spPr>
      </p:cxnSp>
      <p:sp>
        <p:nvSpPr>
          <p:cNvPr id="68" name="native-264">
            <a:extLst>
              <a:ext uri="{FF2B5EF4-FFF2-40B4-BE49-F238E27FC236}">
                <a16:creationId xmlns:a16="http://schemas.microsoft.com/office/drawing/2014/main" id="{02A220A6-9DAF-47DC-BB52-7F8EE68ADB1A}"/>
              </a:ext>
            </a:extLst>
          </p:cNvPr>
          <p:cNvSpPr>
            <a:spLocks noGrp="1"/>
          </p:cNvSpPr>
          <p:nvPr/>
        </p:nvSpPr>
        <p:spPr>
          <a:xfrm>
            <a:off x="7615238" y="5243513"/>
            <a:ext cx="9525" cy="9525"/>
          </a:xfrm>
          <a:prstGeom prst="rect">
            <a:avLst/>
          </a:prstGeom>
          <a:noFill/>
          <a:ln w="0">
            <a:noFill/>
          </a:ln>
        </p:spPr>
        <p:txBody>
          <a:bodyPr/>
          <a:lstStyle/>
          <a:p>
            <a:endParaRPr lang="en-US"/>
          </a:p>
        </p:txBody>
      </p:sp>
      <p:sp>
        <p:nvSpPr>
          <p:cNvPr id="69" name="native-265">
            <a:extLst>
              <a:ext uri="{FF2B5EF4-FFF2-40B4-BE49-F238E27FC236}">
                <a16:creationId xmlns:a16="http://schemas.microsoft.com/office/drawing/2014/main" id="{DFC734E7-F437-428A-A4F4-2892686A4BB8}"/>
              </a:ext>
            </a:extLst>
          </p:cNvPr>
          <p:cNvSpPr>
            <a:spLocks noGrp="1"/>
          </p:cNvSpPr>
          <p:nvPr/>
        </p:nvSpPr>
        <p:spPr>
          <a:xfrm>
            <a:off x="7615238" y="4471988"/>
            <a:ext cx="9525" cy="9525"/>
          </a:xfrm>
          <a:prstGeom prst="rect">
            <a:avLst/>
          </a:prstGeom>
          <a:noFill/>
          <a:ln w="0">
            <a:noFill/>
          </a:ln>
        </p:spPr>
        <p:txBody>
          <a:bodyPr/>
          <a:lstStyle/>
          <a:p>
            <a:endParaRPr lang="en-US"/>
          </a:p>
        </p:txBody>
      </p:sp>
      <p:cxnSp>
        <p:nvCxnSpPr>
          <p:cNvPr id="151" name="Straight Arrow Connector 150"/>
          <p:cNvCxnSpPr>
            <a:stCxn id="68" idx="3"/>
            <a:endCxn id="69" idx="1"/>
          </p:cNvCxnSpPr>
          <p:nvPr/>
        </p:nvCxnSpPr>
        <p:spPr>
          <a:xfrm flipH="1" flipV="1">
            <a:off x="7615238" y="4476751"/>
            <a:ext cx="9525" cy="771525"/>
          </a:xfrm>
          <a:prstGeom prst="straightConnector1">
            <a:avLst/>
          </a:prstGeom>
          <a:ln w="19050">
            <a:solidFill>
              <a:srgbClr val="3478B9"/>
            </a:solidFill>
            <a:prstDash val="solid"/>
            <a:tailEnd type="triangle" w="med" len="med"/>
          </a:ln>
        </p:spPr>
      </p:cxnSp>
      <p:sp>
        <p:nvSpPr>
          <p:cNvPr id="71" name="native-266">
            <a:extLst>
              <a:ext uri="{FF2B5EF4-FFF2-40B4-BE49-F238E27FC236}">
                <a16:creationId xmlns:a16="http://schemas.microsoft.com/office/drawing/2014/main" id="{87F8E8AE-B383-4572-802C-67210C266F07}"/>
              </a:ext>
            </a:extLst>
          </p:cNvPr>
          <p:cNvSpPr>
            <a:spLocks noGrp="1"/>
          </p:cNvSpPr>
          <p:nvPr/>
        </p:nvSpPr>
        <p:spPr>
          <a:xfrm>
            <a:off x="2533650" y="4895850"/>
            <a:ext cx="4191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EOB.insurance[1..*].coverage[1..1]</a:t>
            </a:r>
          </a:p>
        </p:txBody>
      </p:sp>
      <p:sp>
        <p:nvSpPr>
          <p:cNvPr id="72" name="native-267">
            <a:extLst>
              <a:ext uri="{FF2B5EF4-FFF2-40B4-BE49-F238E27FC236}">
                <a16:creationId xmlns:a16="http://schemas.microsoft.com/office/drawing/2014/main" id="{254B4867-04E6-4FB9-BC2B-75FA3D521B78}"/>
              </a:ext>
            </a:extLst>
          </p:cNvPr>
          <p:cNvSpPr>
            <a:spLocks noGrp="1"/>
          </p:cNvSpPr>
          <p:nvPr/>
        </p:nvSpPr>
        <p:spPr>
          <a:xfrm>
            <a:off x="1614488" y="4471988"/>
            <a:ext cx="9525" cy="9525"/>
          </a:xfrm>
          <a:prstGeom prst="rect">
            <a:avLst/>
          </a:prstGeom>
          <a:noFill/>
          <a:ln w="0">
            <a:noFill/>
          </a:ln>
        </p:spPr>
        <p:txBody>
          <a:bodyPr/>
          <a:lstStyle/>
          <a:p>
            <a:endParaRPr lang="en-US"/>
          </a:p>
        </p:txBody>
      </p:sp>
      <p:sp>
        <p:nvSpPr>
          <p:cNvPr id="73" name="native-268">
            <a:extLst>
              <a:ext uri="{FF2B5EF4-FFF2-40B4-BE49-F238E27FC236}">
                <a16:creationId xmlns:a16="http://schemas.microsoft.com/office/drawing/2014/main" id="{61BD3744-C51E-4586-BED1-DE7F81EAAE2B}"/>
              </a:ext>
            </a:extLst>
          </p:cNvPr>
          <p:cNvSpPr>
            <a:spLocks noGrp="1"/>
          </p:cNvSpPr>
          <p:nvPr/>
        </p:nvSpPr>
        <p:spPr>
          <a:xfrm>
            <a:off x="1614488" y="5948363"/>
            <a:ext cx="9525" cy="9525"/>
          </a:xfrm>
          <a:prstGeom prst="rect">
            <a:avLst/>
          </a:prstGeom>
          <a:noFill/>
          <a:ln w="0">
            <a:noFill/>
          </a:ln>
        </p:spPr>
        <p:txBody>
          <a:bodyPr/>
          <a:lstStyle/>
          <a:p>
            <a:endParaRPr lang="en-US"/>
          </a:p>
        </p:txBody>
      </p:sp>
      <p:cxnSp>
        <p:nvCxnSpPr>
          <p:cNvPr id="155" name="Straight Arrow Connector 154"/>
          <p:cNvCxnSpPr>
            <a:stCxn id="72" idx="3"/>
            <a:endCxn id="73" idx="1"/>
          </p:cNvCxnSpPr>
          <p:nvPr/>
        </p:nvCxnSpPr>
        <p:spPr>
          <a:xfrm flipH="1">
            <a:off x="1614488" y="4476751"/>
            <a:ext cx="9525" cy="1476375"/>
          </a:xfrm>
          <a:prstGeom prst="straightConnector1">
            <a:avLst/>
          </a:prstGeom>
          <a:ln w="19050">
            <a:solidFill>
              <a:srgbClr val="0F8B8D"/>
            </a:solidFill>
            <a:prstDash val="solid"/>
          </a:ln>
        </p:spPr>
      </p:cxnSp>
      <p:sp>
        <p:nvSpPr>
          <p:cNvPr id="75" name="native-269">
            <a:extLst>
              <a:ext uri="{FF2B5EF4-FFF2-40B4-BE49-F238E27FC236}">
                <a16:creationId xmlns:a16="http://schemas.microsoft.com/office/drawing/2014/main" id="{EF3B178C-3D8B-4E63-8A0A-8846616D651A}"/>
              </a:ext>
            </a:extLst>
          </p:cNvPr>
          <p:cNvSpPr>
            <a:spLocks noGrp="1"/>
          </p:cNvSpPr>
          <p:nvPr/>
        </p:nvSpPr>
        <p:spPr>
          <a:xfrm>
            <a:off x="1614488" y="5948363"/>
            <a:ext cx="9525" cy="9525"/>
          </a:xfrm>
          <a:prstGeom prst="rect">
            <a:avLst/>
          </a:prstGeom>
          <a:noFill/>
          <a:ln w="0">
            <a:noFill/>
          </a:ln>
        </p:spPr>
        <p:txBody>
          <a:bodyPr/>
          <a:lstStyle/>
          <a:p>
            <a:endParaRPr lang="en-US"/>
          </a:p>
        </p:txBody>
      </p:sp>
      <p:sp>
        <p:nvSpPr>
          <p:cNvPr id="76" name="native-270">
            <a:extLst>
              <a:ext uri="{FF2B5EF4-FFF2-40B4-BE49-F238E27FC236}">
                <a16:creationId xmlns:a16="http://schemas.microsoft.com/office/drawing/2014/main" id="{30F9872F-54D6-4AEE-B60C-8CA785ED87BD}"/>
              </a:ext>
            </a:extLst>
          </p:cNvPr>
          <p:cNvSpPr>
            <a:spLocks noGrp="1"/>
          </p:cNvSpPr>
          <p:nvPr/>
        </p:nvSpPr>
        <p:spPr>
          <a:xfrm>
            <a:off x="6996113" y="5948363"/>
            <a:ext cx="9525" cy="9525"/>
          </a:xfrm>
          <a:prstGeom prst="rect">
            <a:avLst/>
          </a:prstGeom>
          <a:noFill/>
          <a:ln w="0">
            <a:noFill/>
          </a:ln>
        </p:spPr>
        <p:txBody>
          <a:bodyPr/>
          <a:lstStyle/>
          <a:p>
            <a:endParaRPr lang="en-US"/>
          </a:p>
        </p:txBody>
      </p:sp>
      <p:cxnSp>
        <p:nvCxnSpPr>
          <p:cNvPr id="158" name="Straight Arrow Connector 157"/>
          <p:cNvCxnSpPr>
            <a:stCxn id="75" idx="3"/>
            <a:endCxn id="76" idx="1"/>
          </p:cNvCxnSpPr>
          <p:nvPr/>
        </p:nvCxnSpPr>
        <p:spPr>
          <a:xfrm>
            <a:off x="1624013" y="5953126"/>
            <a:ext cx="5372100" cy="0"/>
          </a:xfrm>
          <a:prstGeom prst="straightConnector1">
            <a:avLst/>
          </a:prstGeom>
          <a:ln w="19050">
            <a:solidFill>
              <a:srgbClr val="0F8B8D"/>
            </a:solidFill>
            <a:prstDash val="solid"/>
          </a:ln>
        </p:spPr>
      </p:cxnSp>
      <p:sp>
        <p:nvSpPr>
          <p:cNvPr id="78" name="native-271">
            <a:extLst>
              <a:ext uri="{FF2B5EF4-FFF2-40B4-BE49-F238E27FC236}">
                <a16:creationId xmlns:a16="http://schemas.microsoft.com/office/drawing/2014/main" id="{A74DA4BC-1F5D-4F06-ABE3-76236D9A08DA}"/>
              </a:ext>
            </a:extLst>
          </p:cNvPr>
          <p:cNvSpPr>
            <a:spLocks noGrp="1"/>
          </p:cNvSpPr>
          <p:nvPr/>
        </p:nvSpPr>
        <p:spPr>
          <a:xfrm>
            <a:off x="6996113" y="5948363"/>
            <a:ext cx="9525" cy="9525"/>
          </a:xfrm>
          <a:prstGeom prst="rect">
            <a:avLst/>
          </a:prstGeom>
          <a:noFill/>
          <a:ln w="0">
            <a:noFill/>
          </a:ln>
        </p:spPr>
        <p:txBody>
          <a:bodyPr/>
          <a:lstStyle/>
          <a:p>
            <a:endParaRPr lang="en-US"/>
          </a:p>
        </p:txBody>
      </p:sp>
      <p:sp>
        <p:nvSpPr>
          <p:cNvPr id="79" name="native-272">
            <a:extLst>
              <a:ext uri="{FF2B5EF4-FFF2-40B4-BE49-F238E27FC236}">
                <a16:creationId xmlns:a16="http://schemas.microsoft.com/office/drawing/2014/main" id="{D47F91AE-837F-4C2F-A33C-24AC574122F5}"/>
              </a:ext>
            </a:extLst>
          </p:cNvPr>
          <p:cNvSpPr>
            <a:spLocks noGrp="1"/>
          </p:cNvSpPr>
          <p:nvPr/>
        </p:nvSpPr>
        <p:spPr>
          <a:xfrm>
            <a:off x="6996113" y="4471988"/>
            <a:ext cx="9525" cy="9525"/>
          </a:xfrm>
          <a:prstGeom prst="rect">
            <a:avLst/>
          </a:prstGeom>
          <a:noFill/>
          <a:ln w="0">
            <a:noFill/>
          </a:ln>
        </p:spPr>
        <p:txBody>
          <a:bodyPr/>
          <a:lstStyle/>
          <a:p>
            <a:endParaRPr lang="en-US"/>
          </a:p>
        </p:txBody>
      </p:sp>
      <p:cxnSp>
        <p:nvCxnSpPr>
          <p:cNvPr id="161" name="Straight Arrow Connector 160"/>
          <p:cNvCxnSpPr>
            <a:stCxn id="78" idx="3"/>
            <a:endCxn id="79" idx="1"/>
          </p:cNvCxnSpPr>
          <p:nvPr/>
        </p:nvCxnSpPr>
        <p:spPr>
          <a:xfrm flipH="1" flipV="1">
            <a:off x="6996113" y="4476751"/>
            <a:ext cx="9525" cy="1476375"/>
          </a:xfrm>
          <a:prstGeom prst="straightConnector1">
            <a:avLst/>
          </a:prstGeom>
          <a:ln w="19050">
            <a:solidFill>
              <a:srgbClr val="0F8B8D"/>
            </a:solidFill>
            <a:prstDash val="solid"/>
            <a:tailEnd type="triangle" w="med" len="med"/>
          </a:ln>
        </p:spPr>
      </p:cxnSp>
      <p:sp>
        <p:nvSpPr>
          <p:cNvPr id="81" name="native-273">
            <a:extLst>
              <a:ext uri="{FF2B5EF4-FFF2-40B4-BE49-F238E27FC236}">
                <a16:creationId xmlns:a16="http://schemas.microsoft.com/office/drawing/2014/main" id="{BE68D99F-96C7-4EF1-B0F4-F7F466A187F4}"/>
              </a:ext>
            </a:extLst>
          </p:cNvPr>
          <p:cNvSpPr>
            <a:spLocks noGrp="1"/>
          </p:cNvSpPr>
          <p:nvPr/>
        </p:nvSpPr>
        <p:spPr>
          <a:xfrm>
            <a:off x="2190750" y="5638800"/>
            <a:ext cx="4572000" cy="238125"/>
          </a:xfrm>
          <a:prstGeom prst="rect">
            <a:avLst/>
          </a:prstGeom>
          <a:solidFill>
            <a:srgbClr val="FFFFFF"/>
          </a:solidFill>
          <a:ln w="0">
            <a:noFill/>
          </a:ln>
        </p:spPr>
        <p:txBody>
          <a:bodyPr anchor="ctr">
            <a:noAutofit/>
          </a:bodyPr>
          <a:lstStyle/>
          <a:p>
            <a:pPr algn="ctr">
              <a:defRPr sz="1425" b="0">
                <a:solidFill>
                  <a:srgbClr val="0F8B8D"/>
                </a:solidFill>
                <a:latin typeface="Arial"/>
                <a:ea typeface="Arial"/>
                <a:cs typeface="Arial"/>
              </a:defRPr>
            </a:pPr>
            <a:r>
              <a:rPr sz="1425" b="0">
                <a:solidFill>
                  <a:srgbClr val="0F8B8D"/>
                </a:solidFill>
                <a:latin typeface="Arial"/>
                <a:ea typeface="Arial"/>
                <a:cs typeface="Arial"/>
              </a:rPr>
              <a:t>Claim.insurance[1..*].coverage[1..1]</a:t>
            </a:r>
          </a:p>
        </p:txBody>
      </p:sp>
    </p:spTree>
    <p:extLst>
      <p:ext uri="{BB962C8B-B14F-4D97-AF65-F5344CB8AC3E}">
        <p14:creationId xmlns:p14="http://schemas.microsoft.com/office/powerpoint/2010/main" val="1159488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native-274">
            <a:extLst>
              <a:ext uri="{FF2B5EF4-FFF2-40B4-BE49-F238E27FC236}">
                <a16:creationId xmlns:a16="http://schemas.microsoft.com/office/drawing/2014/main" id="{521CD758-9909-49A0-B35F-C2AD56B7A709}"/>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Synthea generation and import</a:t>
            </a:r>
          </a:p>
        </p:txBody>
      </p:sp>
      <p:sp>
        <p:nvSpPr>
          <p:cNvPr id="2" name="native-275">
            <a:extLst>
              <a:ext uri="{FF2B5EF4-FFF2-40B4-BE49-F238E27FC236}">
                <a16:creationId xmlns:a16="http://schemas.microsoft.com/office/drawing/2014/main" id="{092F4827-1070-45E4-B043-8A98DA9620EB}"/>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Asynchronous work inside the application, followed by FHIR bundle ingestion</a:t>
            </a:r>
          </a:p>
        </p:txBody>
      </p:sp>
      <p:sp>
        <p:nvSpPr>
          <p:cNvPr id="3" name="native-276">
            <a:extLst>
              <a:ext uri="{FF2B5EF4-FFF2-40B4-BE49-F238E27FC236}">
                <a16:creationId xmlns:a16="http://schemas.microsoft.com/office/drawing/2014/main" id="{EFD15D44-AFBC-48DE-88F7-E1358F67A72D}"/>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277">
            <a:extLst>
              <a:ext uri="{FF2B5EF4-FFF2-40B4-BE49-F238E27FC236}">
                <a16:creationId xmlns:a16="http://schemas.microsoft.com/office/drawing/2014/main" id="{741DF497-0B72-4B37-BD9F-8DFA3DA2263E}"/>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65" name="Straight Arrow Connector 64"/>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278">
            <a:extLst>
              <a:ext uri="{FF2B5EF4-FFF2-40B4-BE49-F238E27FC236}">
                <a16:creationId xmlns:a16="http://schemas.microsoft.com/office/drawing/2014/main" id="{1893B4E2-2ED3-4371-BB94-F6AAA94E4858}"/>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Current implementation runs a single subprocess. A separate generation queue is planned for v1.2.0.</a:t>
            </a:r>
          </a:p>
        </p:txBody>
      </p:sp>
      <p:sp>
        <p:nvSpPr>
          <p:cNvPr id="7" name="native-279">
            <a:extLst>
              <a:ext uri="{FF2B5EF4-FFF2-40B4-BE49-F238E27FC236}">
                <a16:creationId xmlns:a16="http://schemas.microsoft.com/office/drawing/2014/main" id="{82F11662-6EED-4789-AD14-F49CD82852CD}"/>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13</a:t>
            </a:r>
          </a:p>
        </p:txBody>
      </p:sp>
      <p:sp>
        <p:nvSpPr>
          <p:cNvPr id="8" name="native-280">
            <a:extLst>
              <a:ext uri="{FF2B5EF4-FFF2-40B4-BE49-F238E27FC236}">
                <a16:creationId xmlns:a16="http://schemas.microsoft.com/office/drawing/2014/main" id="{25116629-2773-4A2D-B4E5-188DDE7A2AA2}"/>
              </a:ext>
            </a:extLst>
          </p:cNvPr>
          <p:cNvSpPr>
            <a:spLocks noGrp="1"/>
          </p:cNvSpPr>
          <p:nvPr/>
        </p:nvSpPr>
        <p:spPr>
          <a:xfrm>
            <a:off x="523875" y="2247900"/>
            <a:ext cx="2571750" cy="1171575"/>
          </a:xfrm>
          <a:prstGeom prst="rect">
            <a:avLst/>
          </a:prstGeom>
          <a:solidFill>
            <a:srgbClr val="E2F2F1"/>
          </a:solidFill>
          <a:ln w="9525">
            <a:solidFill>
              <a:srgbClr val="B6C6D2"/>
            </a:solidFill>
          </a:ln>
        </p:spPr>
        <p:txBody>
          <a:bodyPr/>
          <a:lstStyle/>
          <a:p>
            <a:endParaRPr lang="en-US"/>
          </a:p>
        </p:txBody>
      </p:sp>
      <p:sp>
        <p:nvSpPr>
          <p:cNvPr id="9" name="native-281">
            <a:extLst>
              <a:ext uri="{FF2B5EF4-FFF2-40B4-BE49-F238E27FC236}">
                <a16:creationId xmlns:a16="http://schemas.microsoft.com/office/drawing/2014/main" id="{A801602C-620C-4D5F-B78D-018E57FE1F32}"/>
              </a:ext>
            </a:extLst>
          </p:cNvPr>
          <p:cNvSpPr>
            <a:spLocks noGrp="1"/>
          </p:cNvSpPr>
          <p:nvPr/>
        </p:nvSpPr>
        <p:spPr>
          <a:xfrm>
            <a:off x="657225" y="2324100"/>
            <a:ext cx="23050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ADMIN client</a:t>
            </a:r>
          </a:p>
        </p:txBody>
      </p:sp>
      <p:sp>
        <p:nvSpPr>
          <p:cNvPr id="10" name="native-282">
            <a:extLst>
              <a:ext uri="{FF2B5EF4-FFF2-40B4-BE49-F238E27FC236}">
                <a16:creationId xmlns:a16="http://schemas.microsoft.com/office/drawing/2014/main" id="{D627896E-DC85-48CE-A82C-B2A870029B08}"/>
              </a:ext>
            </a:extLst>
          </p:cNvPr>
          <p:cNvSpPr>
            <a:spLocks noGrp="1"/>
          </p:cNvSpPr>
          <p:nvPr/>
        </p:nvSpPr>
        <p:spPr>
          <a:xfrm>
            <a:off x="657225" y="2657475"/>
            <a:ext cx="2305050" cy="7048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POST /api/admin/</a:t>
            </a:r>
          </a:p>
          <a:p>
            <a:pPr algn="l">
              <a:defRPr sz="1425" b="0">
                <a:solidFill>
                  <a:srgbClr val="5D6C79"/>
                </a:solidFill>
                <a:latin typeface="Arial"/>
                <a:ea typeface="Arial"/>
                <a:cs typeface="Arial"/>
              </a:defRPr>
            </a:pPr>
            <a:r>
              <a:rPr sz="1425" b="0">
                <a:solidFill>
                  <a:srgbClr val="5D6C79"/>
                </a:solidFill>
                <a:latin typeface="Arial"/>
                <a:ea typeface="Arial"/>
                <a:cs typeface="Arial"/>
              </a:rPr>
              <a:t>synthea/generate</a:t>
            </a:r>
          </a:p>
        </p:txBody>
      </p:sp>
      <p:sp>
        <p:nvSpPr>
          <p:cNvPr id="11" name="native-283">
            <a:extLst>
              <a:ext uri="{FF2B5EF4-FFF2-40B4-BE49-F238E27FC236}">
                <a16:creationId xmlns:a16="http://schemas.microsoft.com/office/drawing/2014/main" id="{F206573A-072B-4FDF-99FA-FEA703EF3115}"/>
              </a:ext>
            </a:extLst>
          </p:cNvPr>
          <p:cNvSpPr>
            <a:spLocks noGrp="1"/>
          </p:cNvSpPr>
          <p:nvPr/>
        </p:nvSpPr>
        <p:spPr>
          <a:xfrm>
            <a:off x="4000500" y="2247900"/>
            <a:ext cx="2857500" cy="1171575"/>
          </a:xfrm>
          <a:prstGeom prst="rect">
            <a:avLst/>
          </a:prstGeom>
          <a:solidFill>
            <a:srgbClr val="E8EFF5"/>
          </a:solidFill>
          <a:ln w="9525">
            <a:solidFill>
              <a:srgbClr val="B6C6D2"/>
            </a:solidFill>
          </a:ln>
        </p:spPr>
        <p:txBody>
          <a:bodyPr/>
          <a:lstStyle/>
          <a:p>
            <a:endParaRPr lang="en-US"/>
          </a:p>
        </p:txBody>
      </p:sp>
      <p:sp>
        <p:nvSpPr>
          <p:cNvPr id="12" name="native-284">
            <a:extLst>
              <a:ext uri="{FF2B5EF4-FFF2-40B4-BE49-F238E27FC236}">
                <a16:creationId xmlns:a16="http://schemas.microsoft.com/office/drawing/2014/main" id="{0F816DA2-BB0A-400F-BA4A-1F3EE5AE7C73}"/>
              </a:ext>
            </a:extLst>
          </p:cNvPr>
          <p:cNvSpPr>
            <a:spLocks noGrp="1"/>
          </p:cNvSpPr>
          <p:nvPr/>
        </p:nvSpPr>
        <p:spPr>
          <a:xfrm>
            <a:off x="4133850" y="2324100"/>
            <a:ext cx="2590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Async executor</a:t>
            </a:r>
          </a:p>
        </p:txBody>
      </p:sp>
      <p:sp>
        <p:nvSpPr>
          <p:cNvPr id="13" name="native-285">
            <a:extLst>
              <a:ext uri="{FF2B5EF4-FFF2-40B4-BE49-F238E27FC236}">
                <a16:creationId xmlns:a16="http://schemas.microsoft.com/office/drawing/2014/main" id="{27D93F03-6BF0-4B16-B8E4-DC2967FCB4D9}"/>
              </a:ext>
            </a:extLst>
          </p:cNvPr>
          <p:cNvSpPr>
            <a:spLocks noGrp="1"/>
          </p:cNvSpPr>
          <p:nvPr/>
        </p:nvSpPr>
        <p:spPr>
          <a:xfrm>
            <a:off x="4133850" y="2657475"/>
            <a:ext cx="2590800" cy="7048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Start bundled Synthea</a:t>
            </a:r>
          </a:p>
          <a:p>
            <a:pPr algn="l">
              <a:defRPr sz="1425" b="0">
                <a:solidFill>
                  <a:srgbClr val="5D6C79"/>
                </a:solidFill>
                <a:latin typeface="Arial"/>
                <a:ea typeface="Arial"/>
                <a:cs typeface="Arial"/>
              </a:defRPr>
            </a:pPr>
            <a:r>
              <a:rPr sz="1425" b="0">
                <a:solidFill>
                  <a:srgbClr val="5D6C79"/>
                </a:solidFill>
                <a:latin typeface="Arial"/>
                <a:ea typeface="Arial"/>
                <a:cs typeface="Arial"/>
              </a:rPr>
              <a:t>subprocess</a:t>
            </a:r>
          </a:p>
        </p:txBody>
      </p:sp>
      <p:sp>
        <p:nvSpPr>
          <p:cNvPr id="14" name="native-286">
            <a:extLst>
              <a:ext uri="{FF2B5EF4-FFF2-40B4-BE49-F238E27FC236}">
                <a16:creationId xmlns:a16="http://schemas.microsoft.com/office/drawing/2014/main" id="{C51B2D39-8790-4512-B30E-EF47B3E6B823}"/>
              </a:ext>
            </a:extLst>
          </p:cNvPr>
          <p:cNvSpPr>
            <a:spLocks noGrp="1"/>
          </p:cNvSpPr>
          <p:nvPr/>
        </p:nvSpPr>
        <p:spPr>
          <a:xfrm>
            <a:off x="8191500" y="2247900"/>
            <a:ext cx="3333750" cy="1171575"/>
          </a:xfrm>
          <a:prstGeom prst="rect">
            <a:avLst/>
          </a:prstGeom>
          <a:solidFill>
            <a:srgbClr val="E8EFF5"/>
          </a:solidFill>
          <a:ln w="9525">
            <a:solidFill>
              <a:srgbClr val="B6C6D2"/>
            </a:solidFill>
          </a:ln>
        </p:spPr>
        <p:txBody>
          <a:bodyPr/>
          <a:lstStyle/>
          <a:p>
            <a:endParaRPr lang="en-US"/>
          </a:p>
        </p:txBody>
      </p:sp>
      <p:sp>
        <p:nvSpPr>
          <p:cNvPr id="15" name="native-287">
            <a:extLst>
              <a:ext uri="{FF2B5EF4-FFF2-40B4-BE49-F238E27FC236}">
                <a16:creationId xmlns:a16="http://schemas.microsoft.com/office/drawing/2014/main" id="{D6C55F49-CCE6-4E65-BDEF-DFF4DB965891}"/>
              </a:ext>
            </a:extLst>
          </p:cNvPr>
          <p:cNvSpPr>
            <a:spLocks noGrp="1"/>
          </p:cNvSpPr>
          <p:nvPr/>
        </p:nvSpPr>
        <p:spPr>
          <a:xfrm>
            <a:off x="8324850" y="2324100"/>
            <a:ext cx="30670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BundleImportService</a:t>
            </a:r>
          </a:p>
        </p:txBody>
      </p:sp>
      <p:sp>
        <p:nvSpPr>
          <p:cNvPr id="16" name="native-288">
            <a:extLst>
              <a:ext uri="{FF2B5EF4-FFF2-40B4-BE49-F238E27FC236}">
                <a16:creationId xmlns:a16="http://schemas.microsoft.com/office/drawing/2014/main" id="{0E24663B-72D3-4596-82B3-6B2AF9E4E4D2}"/>
              </a:ext>
            </a:extLst>
          </p:cNvPr>
          <p:cNvSpPr>
            <a:spLocks noGrp="1"/>
          </p:cNvSpPr>
          <p:nvPr/>
        </p:nvSpPr>
        <p:spPr>
          <a:xfrm>
            <a:off x="8324850" y="2657475"/>
            <a:ext cx="3067050" cy="7048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Import generated FHIR</a:t>
            </a:r>
          </a:p>
          <a:p>
            <a:pPr algn="l">
              <a:defRPr sz="1425" b="0">
                <a:solidFill>
                  <a:srgbClr val="5D6C79"/>
                </a:solidFill>
                <a:latin typeface="Arial"/>
                <a:ea typeface="Arial"/>
                <a:cs typeface="Arial"/>
              </a:defRPr>
            </a:pPr>
            <a:r>
              <a:rPr sz="1425" b="0">
                <a:solidFill>
                  <a:srgbClr val="5D6C79"/>
                </a:solidFill>
                <a:latin typeface="Arial"/>
                <a:ea typeface="Arial"/>
                <a:cs typeface="Arial"/>
              </a:rPr>
              <a:t>resources into MongoDB</a:t>
            </a:r>
          </a:p>
        </p:txBody>
      </p:sp>
      <p:sp>
        <p:nvSpPr>
          <p:cNvPr id="17" name="native-289">
            <a:extLst>
              <a:ext uri="{FF2B5EF4-FFF2-40B4-BE49-F238E27FC236}">
                <a16:creationId xmlns:a16="http://schemas.microsoft.com/office/drawing/2014/main" id="{C1150445-1F26-4A98-8E23-CE003A5E180B}"/>
              </a:ext>
            </a:extLst>
          </p:cNvPr>
          <p:cNvSpPr>
            <a:spLocks noGrp="1"/>
          </p:cNvSpPr>
          <p:nvPr/>
        </p:nvSpPr>
        <p:spPr>
          <a:xfrm>
            <a:off x="3090863" y="2843213"/>
            <a:ext cx="9525" cy="9525"/>
          </a:xfrm>
          <a:prstGeom prst="rect">
            <a:avLst/>
          </a:prstGeom>
          <a:noFill/>
          <a:ln w="0">
            <a:noFill/>
          </a:ln>
        </p:spPr>
        <p:txBody>
          <a:bodyPr/>
          <a:lstStyle/>
          <a:p>
            <a:endParaRPr lang="en-US"/>
          </a:p>
        </p:txBody>
      </p:sp>
      <p:sp>
        <p:nvSpPr>
          <p:cNvPr id="18" name="native-290">
            <a:extLst>
              <a:ext uri="{FF2B5EF4-FFF2-40B4-BE49-F238E27FC236}">
                <a16:creationId xmlns:a16="http://schemas.microsoft.com/office/drawing/2014/main" id="{1F616898-39D1-4E58-A30B-0E586A9F0F71}"/>
              </a:ext>
            </a:extLst>
          </p:cNvPr>
          <p:cNvSpPr>
            <a:spLocks noGrp="1"/>
          </p:cNvSpPr>
          <p:nvPr/>
        </p:nvSpPr>
        <p:spPr>
          <a:xfrm>
            <a:off x="3995738" y="2843213"/>
            <a:ext cx="9525" cy="9525"/>
          </a:xfrm>
          <a:prstGeom prst="rect">
            <a:avLst/>
          </a:prstGeom>
          <a:noFill/>
          <a:ln w="0">
            <a:noFill/>
          </a:ln>
        </p:spPr>
        <p:txBody>
          <a:bodyPr/>
          <a:lstStyle/>
          <a:p>
            <a:endParaRPr lang="en-US"/>
          </a:p>
        </p:txBody>
      </p:sp>
      <p:cxnSp>
        <p:nvCxnSpPr>
          <p:cNvPr id="79" name="Straight Arrow Connector 78"/>
          <p:cNvCxnSpPr>
            <a:stCxn id="17" idx="3"/>
            <a:endCxn id="18" idx="1"/>
          </p:cNvCxnSpPr>
          <p:nvPr/>
        </p:nvCxnSpPr>
        <p:spPr>
          <a:xfrm>
            <a:off x="3100388" y="2847976"/>
            <a:ext cx="895350" cy="0"/>
          </a:xfrm>
          <a:prstGeom prst="straightConnector1">
            <a:avLst/>
          </a:prstGeom>
          <a:ln w="19050">
            <a:solidFill>
              <a:srgbClr val="0F8B8D"/>
            </a:solidFill>
            <a:prstDash val="solid"/>
            <a:tailEnd type="triangle" w="med" len="med"/>
          </a:ln>
        </p:spPr>
      </p:cxnSp>
      <p:sp>
        <p:nvSpPr>
          <p:cNvPr id="20" name="native-291">
            <a:extLst>
              <a:ext uri="{FF2B5EF4-FFF2-40B4-BE49-F238E27FC236}">
                <a16:creationId xmlns:a16="http://schemas.microsoft.com/office/drawing/2014/main" id="{C9CB81D1-8650-4721-A604-F2F6A16458AD}"/>
              </a:ext>
            </a:extLst>
          </p:cNvPr>
          <p:cNvSpPr>
            <a:spLocks noGrp="1"/>
          </p:cNvSpPr>
          <p:nvPr/>
        </p:nvSpPr>
        <p:spPr>
          <a:xfrm>
            <a:off x="6853238" y="2843213"/>
            <a:ext cx="9525" cy="9525"/>
          </a:xfrm>
          <a:prstGeom prst="rect">
            <a:avLst/>
          </a:prstGeom>
          <a:noFill/>
          <a:ln w="0">
            <a:noFill/>
          </a:ln>
        </p:spPr>
        <p:txBody>
          <a:bodyPr/>
          <a:lstStyle/>
          <a:p>
            <a:endParaRPr lang="en-US"/>
          </a:p>
        </p:txBody>
      </p:sp>
      <p:sp>
        <p:nvSpPr>
          <p:cNvPr id="21" name="native-292">
            <a:extLst>
              <a:ext uri="{FF2B5EF4-FFF2-40B4-BE49-F238E27FC236}">
                <a16:creationId xmlns:a16="http://schemas.microsoft.com/office/drawing/2014/main" id="{C33E6DDC-5A13-4E87-9C34-69E6B97143FC}"/>
              </a:ext>
            </a:extLst>
          </p:cNvPr>
          <p:cNvSpPr>
            <a:spLocks noGrp="1"/>
          </p:cNvSpPr>
          <p:nvPr/>
        </p:nvSpPr>
        <p:spPr>
          <a:xfrm>
            <a:off x="8186738" y="2843213"/>
            <a:ext cx="9525" cy="9525"/>
          </a:xfrm>
          <a:prstGeom prst="rect">
            <a:avLst/>
          </a:prstGeom>
          <a:noFill/>
          <a:ln w="0">
            <a:noFill/>
          </a:ln>
        </p:spPr>
        <p:txBody>
          <a:bodyPr/>
          <a:lstStyle/>
          <a:p>
            <a:endParaRPr lang="en-US"/>
          </a:p>
        </p:txBody>
      </p:sp>
      <p:cxnSp>
        <p:nvCxnSpPr>
          <p:cNvPr id="82" name="Straight Arrow Connector 81"/>
          <p:cNvCxnSpPr>
            <a:stCxn id="20" idx="3"/>
            <a:endCxn id="21" idx="1"/>
          </p:cNvCxnSpPr>
          <p:nvPr/>
        </p:nvCxnSpPr>
        <p:spPr>
          <a:xfrm>
            <a:off x="6862763" y="2847976"/>
            <a:ext cx="1323975" cy="0"/>
          </a:xfrm>
          <a:prstGeom prst="straightConnector1">
            <a:avLst/>
          </a:prstGeom>
          <a:ln w="19050">
            <a:solidFill>
              <a:srgbClr val="0F8B8D"/>
            </a:solidFill>
            <a:prstDash val="solid"/>
            <a:tailEnd type="triangle" w="med" len="med"/>
          </a:ln>
        </p:spPr>
      </p:cxnSp>
      <p:sp>
        <p:nvSpPr>
          <p:cNvPr id="23" name="native-293">
            <a:extLst>
              <a:ext uri="{FF2B5EF4-FFF2-40B4-BE49-F238E27FC236}">
                <a16:creationId xmlns:a16="http://schemas.microsoft.com/office/drawing/2014/main" id="{DE61119E-D595-4882-A71B-F49271B37A0B}"/>
              </a:ext>
            </a:extLst>
          </p:cNvPr>
          <p:cNvSpPr>
            <a:spLocks noGrp="1"/>
          </p:cNvSpPr>
          <p:nvPr/>
        </p:nvSpPr>
        <p:spPr>
          <a:xfrm>
            <a:off x="6791325" y="2476500"/>
            <a:ext cx="1438275" cy="238125"/>
          </a:xfrm>
          <a:prstGeom prst="rect">
            <a:avLst/>
          </a:prstGeom>
          <a:solidFill>
            <a:srgbClr val="FFFFFF"/>
          </a:solidFill>
          <a:ln w="0">
            <a:noFill/>
          </a:ln>
        </p:spPr>
        <p:txBody>
          <a:bodyPr anchor="ctr">
            <a:noAutofit/>
          </a:bodyPr>
          <a:lstStyle/>
          <a:p>
            <a:pPr algn="ctr">
              <a:defRPr sz="1275" b="0">
                <a:solidFill>
                  <a:srgbClr val="5D6C79"/>
                </a:solidFill>
                <a:latin typeface="Arial"/>
                <a:ea typeface="Arial"/>
                <a:cs typeface="Arial"/>
              </a:defRPr>
            </a:pPr>
            <a:r>
              <a:rPr sz="1275" b="0">
                <a:solidFill>
                  <a:srgbClr val="5D6C79"/>
                </a:solidFill>
                <a:latin typeface="Arial"/>
                <a:ea typeface="Arial"/>
                <a:cs typeface="Arial"/>
              </a:rPr>
              <a:t>FHIR R4 bundles</a:t>
            </a:r>
          </a:p>
        </p:txBody>
      </p:sp>
      <p:sp>
        <p:nvSpPr>
          <p:cNvPr id="24" name="native-294">
            <a:extLst>
              <a:ext uri="{FF2B5EF4-FFF2-40B4-BE49-F238E27FC236}">
                <a16:creationId xmlns:a16="http://schemas.microsoft.com/office/drawing/2014/main" id="{8D2E7FEF-4816-475F-B7C6-8FD504094CD4}"/>
              </a:ext>
            </a:extLst>
          </p:cNvPr>
          <p:cNvSpPr>
            <a:spLocks noGrp="1"/>
          </p:cNvSpPr>
          <p:nvPr/>
        </p:nvSpPr>
        <p:spPr>
          <a:xfrm>
            <a:off x="952500" y="4743450"/>
            <a:ext cx="2095500" cy="866775"/>
          </a:xfrm>
          <a:prstGeom prst="rect">
            <a:avLst/>
          </a:prstGeom>
          <a:solidFill>
            <a:srgbClr val="E8EFF5"/>
          </a:solidFill>
          <a:ln w="9525">
            <a:solidFill>
              <a:srgbClr val="B6C6D2"/>
            </a:solidFill>
          </a:ln>
        </p:spPr>
        <p:txBody>
          <a:bodyPr/>
          <a:lstStyle/>
          <a:p>
            <a:endParaRPr lang="en-US"/>
          </a:p>
        </p:txBody>
      </p:sp>
      <p:sp>
        <p:nvSpPr>
          <p:cNvPr id="25" name="native-295">
            <a:extLst>
              <a:ext uri="{FF2B5EF4-FFF2-40B4-BE49-F238E27FC236}">
                <a16:creationId xmlns:a16="http://schemas.microsoft.com/office/drawing/2014/main" id="{85F9AC4F-E750-4FBC-B64D-A0CB9DB1EF3B}"/>
              </a:ext>
            </a:extLst>
          </p:cNvPr>
          <p:cNvSpPr>
            <a:spLocks noGrp="1"/>
          </p:cNvSpPr>
          <p:nvPr/>
        </p:nvSpPr>
        <p:spPr>
          <a:xfrm>
            <a:off x="1085850" y="4819650"/>
            <a:ext cx="1828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PENDING</a:t>
            </a:r>
          </a:p>
        </p:txBody>
      </p:sp>
      <p:sp>
        <p:nvSpPr>
          <p:cNvPr id="26" name="native-296">
            <a:extLst>
              <a:ext uri="{FF2B5EF4-FFF2-40B4-BE49-F238E27FC236}">
                <a16:creationId xmlns:a16="http://schemas.microsoft.com/office/drawing/2014/main" id="{E3C81505-6968-4FB5-AFF0-AD3670A854FD}"/>
              </a:ext>
            </a:extLst>
          </p:cNvPr>
          <p:cNvSpPr>
            <a:spLocks noGrp="1"/>
          </p:cNvSpPr>
          <p:nvPr/>
        </p:nvSpPr>
        <p:spPr>
          <a:xfrm>
            <a:off x="1085850" y="5153025"/>
            <a:ext cx="1828800" cy="4000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Job accepted</a:t>
            </a:r>
          </a:p>
        </p:txBody>
      </p:sp>
      <p:sp>
        <p:nvSpPr>
          <p:cNvPr id="27" name="native-297">
            <a:extLst>
              <a:ext uri="{FF2B5EF4-FFF2-40B4-BE49-F238E27FC236}">
                <a16:creationId xmlns:a16="http://schemas.microsoft.com/office/drawing/2014/main" id="{142A15B9-C52F-49DF-A34F-20811C7A8687}"/>
              </a:ext>
            </a:extLst>
          </p:cNvPr>
          <p:cNvSpPr>
            <a:spLocks noGrp="1"/>
          </p:cNvSpPr>
          <p:nvPr/>
        </p:nvSpPr>
        <p:spPr>
          <a:xfrm>
            <a:off x="3952875" y="4743450"/>
            <a:ext cx="2381250" cy="866775"/>
          </a:xfrm>
          <a:prstGeom prst="rect">
            <a:avLst/>
          </a:prstGeom>
          <a:solidFill>
            <a:srgbClr val="E2F2F1"/>
          </a:solidFill>
          <a:ln w="9525">
            <a:solidFill>
              <a:srgbClr val="B6C6D2"/>
            </a:solidFill>
          </a:ln>
        </p:spPr>
        <p:txBody>
          <a:bodyPr/>
          <a:lstStyle/>
          <a:p>
            <a:endParaRPr lang="en-US"/>
          </a:p>
        </p:txBody>
      </p:sp>
      <p:sp>
        <p:nvSpPr>
          <p:cNvPr id="28" name="native-298">
            <a:extLst>
              <a:ext uri="{FF2B5EF4-FFF2-40B4-BE49-F238E27FC236}">
                <a16:creationId xmlns:a16="http://schemas.microsoft.com/office/drawing/2014/main" id="{817C2206-4AFA-4EE0-90A4-E137CA3A7456}"/>
              </a:ext>
            </a:extLst>
          </p:cNvPr>
          <p:cNvSpPr>
            <a:spLocks noGrp="1"/>
          </p:cNvSpPr>
          <p:nvPr/>
        </p:nvSpPr>
        <p:spPr>
          <a:xfrm>
            <a:off x="4086225" y="481965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RUNNING</a:t>
            </a:r>
          </a:p>
        </p:txBody>
      </p:sp>
      <p:sp>
        <p:nvSpPr>
          <p:cNvPr id="29" name="native-299">
            <a:extLst>
              <a:ext uri="{FF2B5EF4-FFF2-40B4-BE49-F238E27FC236}">
                <a16:creationId xmlns:a16="http://schemas.microsoft.com/office/drawing/2014/main" id="{6ED38D5C-8E47-4F56-AB23-244120AC2C53}"/>
              </a:ext>
            </a:extLst>
          </p:cNvPr>
          <p:cNvSpPr>
            <a:spLocks noGrp="1"/>
          </p:cNvSpPr>
          <p:nvPr/>
        </p:nvSpPr>
        <p:spPr>
          <a:xfrm>
            <a:off x="4086225" y="5153025"/>
            <a:ext cx="2114550" cy="4000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Generation + import</a:t>
            </a:r>
          </a:p>
        </p:txBody>
      </p:sp>
      <p:sp>
        <p:nvSpPr>
          <p:cNvPr id="30" name="native-300">
            <a:extLst>
              <a:ext uri="{FF2B5EF4-FFF2-40B4-BE49-F238E27FC236}">
                <a16:creationId xmlns:a16="http://schemas.microsoft.com/office/drawing/2014/main" id="{60E77E4F-6FDC-4CAE-A69B-D57EED1F6A8D}"/>
              </a:ext>
            </a:extLst>
          </p:cNvPr>
          <p:cNvSpPr>
            <a:spLocks noGrp="1"/>
          </p:cNvSpPr>
          <p:nvPr/>
        </p:nvSpPr>
        <p:spPr>
          <a:xfrm>
            <a:off x="7334250" y="4248150"/>
            <a:ext cx="2952750" cy="866775"/>
          </a:xfrm>
          <a:prstGeom prst="rect">
            <a:avLst/>
          </a:prstGeom>
          <a:solidFill>
            <a:srgbClr val="E8EFF5"/>
          </a:solidFill>
          <a:ln w="9525">
            <a:solidFill>
              <a:srgbClr val="B6C6D2"/>
            </a:solidFill>
          </a:ln>
        </p:spPr>
        <p:txBody>
          <a:bodyPr/>
          <a:lstStyle/>
          <a:p>
            <a:endParaRPr lang="en-US"/>
          </a:p>
        </p:txBody>
      </p:sp>
      <p:sp>
        <p:nvSpPr>
          <p:cNvPr id="31" name="native-301">
            <a:extLst>
              <a:ext uri="{FF2B5EF4-FFF2-40B4-BE49-F238E27FC236}">
                <a16:creationId xmlns:a16="http://schemas.microsoft.com/office/drawing/2014/main" id="{FA152364-F4F4-4FCA-89B6-7A20884C9034}"/>
              </a:ext>
            </a:extLst>
          </p:cNvPr>
          <p:cNvSpPr>
            <a:spLocks noGrp="1"/>
          </p:cNvSpPr>
          <p:nvPr/>
        </p:nvSpPr>
        <p:spPr>
          <a:xfrm>
            <a:off x="7467600" y="4324350"/>
            <a:ext cx="26860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COMPLETED</a:t>
            </a:r>
          </a:p>
        </p:txBody>
      </p:sp>
      <p:sp>
        <p:nvSpPr>
          <p:cNvPr id="32" name="native-302">
            <a:extLst>
              <a:ext uri="{FF2B5EF4-FFF2-40B4-BE49-F238E27FC236}">
                <a16:creationId xmlns:a16="http://schemas.microsoft.com/office/drawing/2014/main" id="{A618673F-A7A1-4549-BDF9-BE8DCE01EE2F}"/>
              </a:ext>
            </a:extLst>
          </p:cNvPr>
          <p:cNvSpPr>
            <a:spLocks noGrp="1"/>
          </p:cNvSpPr>
          <p:nvPr/>
        </p:nvSpPr>
        <p:spPr>
          <a:xfrm>
            <a:off x="7467600" y="4657725"/>
            <a:ext cx="2686050" cy="40005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Import count recorded</a:t>
            </a:r>
          </a:p>
        </p:txBody>
      </p:sp>
      <p:sp>
        <p:nvSpPr>
          <p:cNvPr id="33" name="native-303">
            <a:extLst>
              <a:ext uri="{FF2B5EF4-FFF2-40B4-BE49-F238E27FC236}">
                <a16:creationId xmlns:a16="http://schemas.microsoft.com/office/drawing/2014/main" id="{12F1541D-B030-4349-9C4D-E1CD19455E8F}"/>
              </a:ext>
            </a:extLst>
          </p:cNvPr>
          <p:cNvSpPr>
            <a:spLocks noGrp="1"/>
          </p:cNvSpPr>
          <p:nvPr/>
        </p:nvSpPr>
        <p:spPr>
          <a:xfrm>
            <a:off x="7334250" y="5305425"/>
            <a:ext cx="2952750" cy="723900"/>
          </a:xfrm>
          <a:prstGeom prst="rect">
            <a:avLst/>
          </a:prstGeom>
          <a:solidFill>
            <a:srgbClr val="E8EFF5"/>
          </a:solidFill>
          <a:ln w="9525">
            <a:solidFill>
              <a:srgbClr val="B6C6D2"/>
            </a:solidFill>
          </a:ln>
        </p:spPr>
        <p:txBody>
          <a:bodyPr/>
          <a:lstStyle/>
          <a:p>
            <a:endParaRPr lang="en-US"/>
          </a:p>
        </p:txBody>
      </p:sp>
      <p:sp>
        <p:nvSpPr>
          <p:cNvPr id="34" name="native-304">
            <a:extLst>
              <a:ext uri="{FF2B5EF4-FFF2-40B4-BE49-F238E27FC236}">
                <a16:creationId xmlns:a16="http://schemas.microsoft.com/office/drawing/2014/main" id="{615CFD5D-8224-424A-A65C-01CD43AB9253}"/>
              </a:ext>
            </a:extLst>
          </p:cNvPr>
          <p:cNvSpPr>
            <a:spLocks noGrp="1"/>
          </p:cNvSpPr>
          <p:nvPr/>
        </p:nvSpPr>
        <p:spPr>
          <a:xfrm>
            <a:off x="7467600" y="5381625"/>
            <a:ext cx="26860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FAILED</a:t>
            </a:r>
          </a:p>
        </p:txBody>
      </p:sp>
      <p:sp>
        <p:nvSpPr>
          <p:cNvPr id="35" name="native-305">
            <a:extLst>
              <a:ext uri="{FF2B5EF4-FFF2-40B4-BE49-F238E27FC236}">
                <a16:creationId xmlns:a16="http://schemas.microsoft.com/office/drawing/2014/main" id="{88AA61B3-C167-441C-8CED-8AB609A4956A}"/>
              </a:ext>
            </a:extLst>
          </p:cNvPr>
          <p:cNvSpPr>
            <a:spLocks noGrp="1"/>
          </p:cNvSpPr>
          <p:nvPr/>
        </p:nvSpPr>
        <p:spPr>
          <a:xfrm>
            <a:off x="7467600" y="5715000"/>
            <a:ext cx="2686050" cy="2571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Error message recorded</a:t>
            </a:r>
          </a:p>
        </p:txBody>
      </p:sp>
      <p:sp>
        <p:nvSpPr>
          <p:cNvPr id="36" name="native-306">
            <a:extLst>
              <a:ext uri="{FF2B5EF4-FFF2-40B4-BE49-F238E27FC236}">
                <a16:creationId xmlns:a16="http://schemas.microsoft.com/office/drawing/2014/main" id="{5F2431FE-77E9-4901-86D4-9ED46F3FDC02}"/>
              </a:ext>
            </a:extLst>
          </p:cNvPr>
          <p:cNvSpPr>
            <a:spLocks noGrp="1"/>
          </p:cNvSpPr>
          <p:nvPr/>
        </p:nvSpPr>
        <p:spPr>
          <a:xfrm>
            <a:off x="3043238" y="5167313"/>
            <a:ext cx="9525" cy="9525"/>
          </a:xfrm>
          <a:prstGeom prst="rect">
            <a:avLst/>
          </a:prstGeom>
          <a:noFill/>
          <a:ln w="0">
            <a:noFill/>
          </a:ln>
        </p:spPr>
        <p:txBody>
          <a:bodyPr/>
          <a:lstStyle/>
          <a:p>
            <a:endParaRPr lang="en-US"/>
          </a:p>
        </p:txBody>
      </p:sp>
      <p:sp>
        <p:nvSpPr>
          <p:cNvPr id="37" name="native-307">
            <a:extLst>
              <a:ext uri="{FF2B5EF4-FFF2-40B4-BE49-F238E27FC236}">
                <a16:creationId xmlns:a16="http://schemas.microsoft.com/office/drawing/2014/main" id="{74F60E64-5590-4416-86C3-496197539171}"/>
              </a:ext>
            </a:extLst>
          </p:cNvPr>
          <p:cNvSpPr>
            <a:spLocks noGrp="1"/>
          </p:cNvSpPr>
          <p:nvPr/>
        </p:nvSpPr>
        <p:spPr>
          <a:xfrm>
            <a:off x="3948113" y="5167313"/>
            <a:ext cx="9525" cy="9525"/>
          </a:xfrm>
          <a:prstGeom prst="rect">
            <a:avLst/>
          </a:prstGeom>
          <a:noFill/>
          <a:ln w="0">
            <a:noFill/>
          </a:ln>
        </p:spPr>
        <p:txBody>
          <a:bodyPr/>
          <a:lstStyle/>
          <a:p>
            <a:endParaRPr lang="en-US"/>
          </a:p>
        </p:txBody>
      </p:sp>
      <p:cxnSp>
        <p:nvCxnSpPr>
          <p:cNvPr id="98" name="Straight Arrow Connector 97"/>
          <p:cNvCxnSpPr>
            <a:stCxn id="36" idx="3"/>
            <a:endCxn id="37" idx="1"/>
          </p:cNvCxnSpPr>
          <p:nvPr/>
        </p:nvCxnSpPr>
        <p:spPr>
          <a:xfrm>
            <a:off x="3052763" y="5172076"/>
            <a:ext cx="895350" cy="0"/>
          </a:xfrm>
          <a:prstGeom prst="straightConnector1">
            <a:avLst/>
          </a:prstGeom>
          <a:ln w="19050">
            <a:solidFill>
              <a:srgbClr val="0F8B8D"/>
            </a:solidFill>
            <a:prstDash val="solid"/>
            <a:tailEnd type="triangle" w="med" len="med"/>
          </a:ln>
        </p:spPr>
      </p:cxnSp>
      <p:sp>
        <p:nvSpPr>
          <p:cNvPr id="39" name="native-308">
            <a:extLst>
              <a:ext uri="{FF2B5EF4-FFF2-40B4-BE49-F238E27FC236}">
                <a16:creationId xmlns:a16="http://schemas.microsoft.com/office/drawing/2014/main" id="{E5839329-4811-407B-B6B9-C2DFBF5FB500}"/>
              </a:ext>
            </a:extLst>
          </p:cNvPr>
          <p:cNvSpPr>
            <a:spLocks noGrp="1"/>
          </p:cNvSpPr>
          <p:nvPr/>
        </p:nvSpPr>
        <p:spPr>
          <a:xfrm>
            <a:off x="6329363" y="5005388"/>
            <a:ext cx="9525" cy="9525"/>
          </a:xfrm>
          <a:prstGeom prst="rect">
            <a:avLst/>
          </a:prstGeom>
          <a:noFill/>
          <a:ln w="0">
            <a:noFill/>
          </a:ln>
        </p:spPr>
        <p:txBody>
          <a:bodyPr/>
          <a:lstStyle/>
          <a:p>
            <a:endParaRPr lang="en-US"/>
          </a:p>
        </p:txBody>
      </p:sp>
      <p:sp>
        <p:nvSpPr>
          <p:cNvPr id="40" name="native-309">
            <a:extLst>
              <a:ext uri="{FF2B5EF4-FFF2-40B4-BE49-F238E27FC236}">
                <a16:creationId xmlns:a16="http://schemas.microsoft.com/office/drawing/2014/main" id="{96AC517A-7166-49F6-BD03-700AFC278718}"/>
              </a:ext>
            </a:extLst>
          </p:cNvPr>
          <p:cNvSpPr>
            <a:spLocks noGrp="1"/>
          </p:cNvSpPr>
          <p:nvPr/>
        </p:nvSpPr>
        <p:spPr>
          <a:xfrm>
            <a:off x="6710363" y="5005388"/>
            <a:ext cx="9525" cy="9525"/>
          </a:xfrm>
          <a:prstGeom prst="rect">
            <a:avLst/>
          </a:prstGeom>
          <a:noFill/>
          <a:ln w="0">
            <a:noFill/>
          </a:ln>
        </p:spPr>
        <p:txBody>
          <a:bodyPr/>
          <a:lstStyle/>
          <a:p>
            <a:endParaRPr lang="en-US"/>
          </a:p>
        </p:txBody>
      </p:sp>
      <p:cxnSp>
        <p:nvCxnSpPr>
          <p:cNvPr id="101" name="Straight Arrow Connector 100"/>
          <p:cNvCxnSpPr>
            <a:stCxn id="39" idx="3"/>
            <a:endCxn id="40" idx="1"/>
          </p:cNvCxnSpPr>
          <p:nvPr/>
        </p:nvCxnSpPr>
        <p:spPr>
          <a:xfrm>
            <a:off x="6338888" y="5010151"/>
            <a:ext cx="371475" cy="0"/>
          </a:xfrm>
          <a:prstGeom prst="straightConnector1">
            <a:avLst/>
          </a:prstGeom>
          <a:ln w="19050">
            <a:solidFill>
              <a:srgbClr val="0F8B8D"/>
            </a:solidFill>
            <a:prstDash val="solid"/>
          </a:ln>
        </p:spPr>
      </p:cxnSp>
      <p:sp>
        <p:nvSpPr>
          <p:cNvPr id="42" name="native-310">
            <a:extLst>
              <a:ext uri="{FF2B5EF4-FFF2-40B4-BE49-F238E27FC236}">
                <a16:creationId xmlns:a16="http://schemas.microsoft.com/office/drawing/2014/main" id="{452686C4-A5DF-4F0B-81AE-0FFE1C79FC03}"/>
              </a:ext>
            </a:extLst>
          </p:cNvPr>
          <p:cNvSpPr>
            <a:spLocks noGrp="1"/>
          </p:cNvSpPr>
          <p:nvPr/>
        </p:nvSpPr>
        <p:spPr>
          <a:xfrm>
            <a:off x="6710363" y="5005388"/>
            <a:ext cx="9525" cy="9525"/>
          </a:xfrm>
          <a:prstGeom prst="rect">
            <a:avLst/>
          </a:prstGeom>
          <a:noFill/>
          <a:ln w="0">
            <a:noFill/>
          </a:ln>
        </p:spPr>
        <p:txBody>
          <a:bodyPr/>
          <a:lstStyle/>
          <a:p>
            <a:endParaRPr lang="en-US"/>
          </a:p>
        </p:txBody>
      </p:sp>
      <p:sp>
        <p:nvSpPr>
          <p:cNvPr id="43" name="native-311">
            <a:extLst>
              <a:ext uri="{FF2B5EF4-FFF2-40B4-BE49-F238E27FC236}">
                <a16:creationId xmlns:a16="http://schemas.microsoft.com/office/drawing/2014/main" id="{50539A4D-7ABC-4D1E-A5AE-8087F51B6406}"/>
              </a:ext>
            </a:extLst>
          </p:cNvPr>
          <p:cNvSpPr>
            <a:spLocks noGrp="1"/>
          </p:cNvSpPr>
          <p:nvPr/>
        </p:nvSpPr>
        <p:spPr>
          <a:xfrm>
            <a:off x="6710363" y="4672013"/>
            <a:ext cx="9525" cy="9525"/>
          </a:xfrm>
          <a:prstGeom prst="rect">
            <a:avLst/>
          </a:prstGeom>
          <a:noFill/>
          <a:ln w="0">
            <a:noFill/>
          </a:ln>
        </p:spPr>
        <p:txBody>
          <a:bodyPr/>
          <a:lstStyle/>
          <a:p>
            <a:endParaRPr lang="en-US"/>
          </a:p>
        </p:txBody>
      </p:sp>
      <p:cxnSp>
        <p:nvCxnSpPr>
          <p:cNvPr id="104" name="Straight Arrow Connector 103"/>
          <p:cNvCxnSpPr>
            <a:stCxn id="42" idx="3"/>
            <a:endCxn id="43" idx="1"/>
          </p:cNvCxnSpPr>
          <p:nvPr/>
        </p:nvCxnSpPr>
        <p:spPr>
          <a:xfrm flipH="1" flipV="1">
            <a:off x="6710363" y="4676776"/>
            <a:ext cx="9525" cy="333375"/>
          </a:xfrm>
          <a:prstGeom prst="straightConnector1">
            <a:avLst/>
          </a:prstGeom>
          <a:ln w="19050">
            <a:solidFill>
              <a:srgbClr val="0F8B8D"/>
            </a:solidFill>
            <a:prstDash val="solid"/>
          </a:ln>
        </p:spPr>
      </p:cxnSp>
      <p:sp>
        <p:nvSpPr>
          <p:cNvPr id="45" name="native-312">
            <a:extLst>
              <a:ext uri="{FF2B5EF4-FFF2-40B4-BE49-F238E27FC236}">
                <a16:creationId xmlns:a16="http://schemas.microsoft.com/office/drawing/2014/main" id="{591F307C-03B0-4402-B85E-733BCA356C6E}"/>
              </a:ext>
            </a:extLst>
          </p:cNvPr>
          <p:cNvSpPr>
            <a:spLocks noGrp="1"/>
          </p:cNvSpPr>
          <p:nvPr/>
        </p:nvSpPr>
        <p:spPr>
          <a:xfrm>
            <a:off x="6710363" y="4672013"/>
            <a:ext cx="9525" cy="9525"/>
          </a:xfrm>
          <a:prstGeom prst="rect">
            <a:avLst/>
          </a:prstGeom>
          <a:noFill/>
          <a:ln w="0">
            <a:noFill/>
          </a:ln>
        </p:spPr>
        <p:txBody>
          <a:bodyPr/>
          <a:lstStyle/>
          <a:p>
            <a:endParaRPr lang="en-US"/>
          </a:p>
        </p:txBody>
      </p:sp>
      <p:sp>
        <p:nvSpPr>
          <p:cNvPr id="46" name="native-313">
            <a:extLst>
              <a:ext uri="{FF2B5EF4-FFF2-40B4-BE49-F238E27FC236}">
                <a16:creationId xmlns:a16="http://schemas.microsoft.com/office/drawing/2014/main" id="{88CBD02A-F432-4A2A-A4BC-979C1698C90D}"/>
              </a:ext>
            </a:extLst>
          </p:cNvPr>
          <p:cNvSpPr>
            <a:spLocks noGrp="1"/>
          </p:cNvSpPr>
          <p:nvPr/>
        </p:nvSpPr>
        <p:spPr>
          <a:xfrm>
            <a:off x="7329488" y="4672013"/>
            <a:ext cx="9525" cy="9525"/>
          </a:xfrm>
          <a:prstGeom prst="rect">
            <a:avLst/>
          </a:prstGeom>
          <a:noFill/>
          <a:ln w="0">
            <a:noFill/>
          </a:ln>
        </p:spPr>
        <p:txBody>
          <a:bodyPr/>
          <a:lstStyle/>
          <a:p>
            <a:endParaRPr lang="en-US"/>
          </a:p>
        </p:txBody>
      </p:sp>
      <p:cxnSp>
        <p:nvCxnSpPr>
          <p:cNvPr id="107" name="Straight Arrow Connector 106"/>
          <p:cNvCxnSpPr>
            <a:stCxn id="45" idx="3"/>
            <a:endCxn id="46" idx="1"/>
          </p:cNvCxnSpPr>
          <p:nvPr/>
        </p:nvCxnSpPr>
        <p:spPr>
          <a:xfrm>
            <a:off x="6719888" y="4676776"/>
            <a:ext cx="609600" cy="0"/>
          </a:xfrm>
          <a:prstGeom prst="straightConnector1">
            <a:avLst/>
          </a:prstGeom>
          <a:ln w="19050">
            <a:solidFill>
              <a:srgbClr val="0F8B8D"/>
            </a:solidFill>
            <a:prstDash val="solid"/>
            <a:tailEnd type="triangle" w="med" len="med"/>
          </a:ln>
        </p:spPr>
      </p:cxnSp>
      <p:sp>
        <p:nvSpPr>
          <p:cNvPr id="48" name="native-314">
            <a:extLst>
              <a:ext uri="{FF2B5EF4-FFF2-40B4-BE49-F238E27FC236}">
                <a16:creationId xmlns:a16="http://schemas.microsoft.com/office/drawing/2014/main" id="{8B6AAF7A-16B3-4A5F-B1A6-B98826ED22EF}"/>
              </a:ext>
            </a:extLst>
          </p:cNvPr>
          <p:cNvSpPr>
            <a:spLocks noGrp="1"/>
          </p:cNvSpPr>
          <p:nvPr/>
        </p:nvSpPr>
        <p:spPr>
          <a:xfrm>
            <a:off x="6329363" y="5376863"/>
            <a:ext cx="9525" cy="9525"/>
          </a:xfrm>
          <a:prstGeom prst="rect">
            <a:avLst/>
          </a:prstGeom>
          <a:noFill/>
          <a:ln w="0">
            <a:noFill/>
          </a:ln>
        </p:spPr>
        <p:txBody>
          <a:bodyPr/>
          <a:lstStyle/>
          <a:p>
            <a:endParaRPr lang="en-US"/>
          </a:p>
        </p:txBody>
      </p:sp>
      <p:sp>
        <p:nvSpPr>
          <p:cNvPr id="49" name="native-315">
            <a:extLst>
              <a:ext uri="{FF2B5EF4-FFF2-40B4-BE49-F238E27FC236}">
                <a16:creationId xmlns:a16="http://schemas.microsoft.com/office/drawing/2014/main" id="{4CAB460D-60FC-4822-86BA-E65273B07BD7}"/>
              </a:ext>
            </a:extLst>
          </p:cNvPr>
          <p:cNvSpPr>
            <a:spLocks noGrp="1"/>
          </p:cNvSpPr>
          <p:nvPr/>
        </p:nvSpPr>
        <p:spPr>
          <a:xfrm>
            <a:off x="6700838" y="5376863"/>
            <a:ext cx="9525" cy="9525"/>
          </a:xfrm>
          <a:prstGeom prst="rect">
            <a:avLst/>
          </a:prstGeom>
          <a:noFill/>
          <a:ln w="0">
            <a:noFill/>
          </a:ln>
        </p:spPr>
        <p:txBody>
          <a:bodyPr/>
          <a:lstStyle/>
          <a:p>
            <a:endParaRPr lang="en-US"/>
          </a:p>
        </p:txBody>
      </p:sp>
      <p:cxnSp>
        <p:nvCxnSpPr>
          <p:cNvPr id="110" name="Straight Arrow Connector 109"/>
          <p:cNvCxnSpPr>
            <a:stCxn id="48" idx="3"/>
            <a:endCxn id="49" idx="1"/>
          </p:cNvCxnSpPr>
          <p:nvPr/>
        </p:nvCxnSpPr>
        <p:spPr>
          <a:xfrm>
            <a:off x="6338888" y="5381626"/>
            <a:ext cx="361950" cy="0"/>
          </a:xfrm>
          <a:prstGeom prst="straightConnector1">
            <a:avLst/>
          </a:prstGeom>
          <a:ln w="19050">
            <a:solidFill>
              <a:srgbClr val="3478B9"/>
            </a:solidFill>
            <a:prstDash val="solid"/>
          </a:ln>
        </p:spPr>
      </p:cxnSp>
      <p:sp>
        <p:nvSpPr>
          <p:cNvPr id="51" name="native-316">
            <a:extLst>
              <a:ext uri="{FF2B5EF4-FFF2-40B4-BE49-F238E27FC236}">
                <a16:creationId xmlns:a16="http://schemas.microsoft.com/office/drawing/2014/main" id="{07A7C5FD-B8C7-4FF7-98C4-C92F1E94D82C}"/>
              </a:ext>
            </a:extLst>
          </p:cNvPr>
          <p:cNvSpPr>
            <a:spLocks noGrp="1"/>
          </p:cNvSpPr>
          <p:nvPr/>
        </p:nvSpPr>
        <p:spPr>
          <a:xfrm>
            <a:off x="6700838" y="5376863"/>
            <a:ext cx="9525" cy="9525"/>
          </a:xfrm>
          <a:prstGeom prst="rect">
            <a:avLst/>
          </a:prstGeom>
          <a:noFill/>
          <a:ln w="0">
            <a:noFill/>
          </a:ln>
        </p:spPr>
        <p:txBody>
          <a:bodyPr/>
          <a:lstStyle/>
          <a:p>
            <a:endParaRPr lang="en-US"/>
          </a:p>
        </p:txBody>
      </p:sp>
      <p:sp>
        <p:nvSpPr>
          <p:cNvPr id="52" name="native-317">
            <a:extLst>
              <a:ext uri="{FF2B5EF4-FFF2-40B4-BE49-F238E27FC236}">
                <a16:creationId xmlns:a16="http://schemas.microsoft.com/office/drawing/2014/main" id="{293D0F2E-5768-4F90-991F-01BA556E87FD}"/>
              </a:ext>
            </a:extLst>
          </p:cNvPr>
          <p:cNvSpPr>
            <a:spLocks noGrp="1"/>
          </p:cNvSpPr>
          <p:nvPr/>
        </p:nvSpPr>
        <p:spPr>
          <a:xfrm>
            <a:off x="6700838" y="5662613"/>
            <a:ext cx="9525" cy="9525"/>
          </a:xfrm>
          <a:prstGeom prst="rect">
            <a:avLst/>
          </a:prstGeom>
          <a:noFill/>
          <a:ln w="0">
            <a:noFill/>
          </a:ln>
        </p:spPr>
        <p:txBody>
          <a:bodyPr/>
          <a:lstStyle/>
          <a:p>
            <a:endParaRPr lang="en-US"/>
          </a:p>
        </p:txBody>
      </p:sp>
      <p:cxnSp>
        <p:nvCxnSpPr>
          <p:cNvPr id="113" name="Straight Arrow Connector 112"/>
          <p:cNvCxnSpPr>
            <a:stCxn id="51" idx="3"/>
            <a:endCxn id="52" idx="1"/>
          </p:cNvCxnSpPr>
          <p:nvPr/>
        </p:nvCxnSpPr>
        <p:spPr>
          <a:xfrm flipH="1">
            <a:off x="6700838" y="5381626"/>
            <a:ext cx="9525" cy="285750"/>
          </a:xfrm>
          <a:prstGeom prst="straightConnector1">
            <a:avLst/>
          </a:prstGeom>
          <a:ln w="19050">
            <a:solidFill>
              <a:srgbClr val="3478B9"/>
            </a:solidFill>
            <a:prstDash val="solid"/>
          </a:ln>
        </p:spPr>
      </p:cxnSp>
      <p:sp>
        <p:nvSpPr>
          <p:cNvPr id="54" name="native-318">
            <a:extLst>
              <a:ext uri="{FF2B5EF4-FFF2-40B4-BE49-F238E27FC236}">
                <a16:creationId xmlns:a16="http://schemas.microsoft.com/office/drawing/2014/main" id="{0814154B-19FE-479E-88C1-4D1F8A485C3B}"/>
              </a:ext>
            </a:extLst>
          </p:cNvPr>
          <p:cNvSpPr>
            <a:spLocks noGrp="1"/>
          </p:cNvSpPr>
          <p:nvPr/>
        </p:nvSpPr>
        <p:spPr>
          <a:xfrm>
            <a:off x="6700838" y="5662613"/>
            <a:ext cx="9525" cy="9525"/>
          </a:xfrm>
          <a:prstGeom prst="rect">
            <a:avLst/>
          </a:prstGeom>
          <a:noFill/>
          <a:ln w="0">
            <a:noFill/>
          </a:ln>
        </p:spPr>
        <p:txBody>
          <a:bodyPr/>
          <a:lstStyle/>
          <a:p>
            <a:endParaRPr lang="en-US"/>
          </a:p>
        </p:txBody>
      </p:sp>
      <p:sp>
        <p:nvSpPr>
          <p:cNvPr id="55" name="native-319">
            <a:extLst>
              <a:ext uri="{FF2B5EF4-FFF2-40B4-BE49-F238E27FC236}">
                <a16:creationId xmlns:a16="http://schemas.microsoft.com/office/drawing/2014/main" id="{A8742E57-802D-44A3-B7C6-7EB2ACEC0526}"/>
              </a:ext>
            </a:extLst>
          </p:cNvPr>
          <p:cNvSpPr>
            <a:spLocks noGrp="1"/>
          </p:cNvSpPr>
          <p:nvPr/>
        </p:nvSpPr>
        <p:spPr>
          <a:xfrm>
            <a:off x="7329488" y="5662613"/>
            <a:ext cx="9525" cy="9525"/>
          </a:xfrm>
          <a:prstGeom prst="rect">
            <a:avLst/>
          </a:prstGeom>
          <a:noFill/>
          <a:ln w="0">
            <a:noFill/>
          </a:ln>
        </p:spPr>
        <p:txBody>
          <a:bodyPr/>
          <a:lstStyle/>
          <a:p>
            <a:endParaRPr lang="en-US"/>
          </a:p>
        </p:txBody>
      </p:sp>
      <p:cxnSp>
        <p:nvCxnSpPr>
          <p:cNvPr id="116" name="Straight Arrow Connector 115"/>
          <p:cNvCxnSpPr>
            <a:stCxn id="54" idx="3"/>
            <a:endCxn id="55" idx="1"/>
          </p:cNvCxnSpPr>
          <p:nvPr/>
        </p:nvCxnSpPr>
        <p:spPr>
          <a:xfrm>
            <a:off x="6710363" y="5667376"/>
            <a:ext cx="619125" cy="0"/>
          </a:xfrm>
          <a:prstGeom prst="straightConnector1">
            <a:avLst/>
          </a:prstGeom>
          <a:ln w="19050">
            <a:solidFill>
              <a:srgbClr val="3478B9"/>
            </a:solidFill>
            <a:prstDash val="solid"/>
            <a:tailEnd type="triangle" w="med" len="med"/>
          </a:ln>
        </p:spPr>
      </p:cxnSp>
      <p:sp>
        <p:nvSpPr>
          <p:cNvPr id="57" name="native-320">
            <a:extLst>
              <a:ext uri="{FF2B5EF4-FFF2-40B4-BE49-F238E27FC236}">
                <a16:creationId xmlns:a16="http://schemas.microsoft.com/office/drawing/2014/main" id="{8F98E73E-0740-4934-9849-197A306AF94F}"/>
              </a:ext>
            </a:extLst>
          </p:cNvPr>
          <p:cNvSpPr>
            <a:spLocks noGrp="1"/>
          </p:cNvSpPr>
          <p:nvPr/>
        </p:nvSpPr>
        <p:spPr>
          <a:xfrm>
            <a:off x="5233988" y="3414713"/>
            <a:ext cx="9525" cy="9525"/>
          </a:xfrm>
          <a:prstGeom prst="rect">
            <a:avLst/>
          </a:prstGeom>
          <a:noFill/>
          <a:ln w="0">
            <a:noFill/>
          </a:ln>
        </p:spPr>
        <p:txBody>
          <a:bodyPr/>
          <a:lstStyle/>
          <a:p>
            <a:endParaRPr lang="en-US"/>
          </a:p>
        </p:txBody>
      </p:sp>
      <p:sp>
        <p:nvSpPr>
          <p:cNvPr id="58" name="native-321">
            <a:extLst>
              <a:ext uri="{FF2B5EF4-FFF2-40B4-BE49-F238E27FC236}">
                <a16:creationId xmlns:a16="http://schemas.microsoft.com/office/drawing/2014/main" id="{60A78BD6-AF0F-4AC5-ACD5-C3D4DB6769A0}"/>
              </a:ext>
            </a:extLst>
          </p:cNvPr>
          <p:cNvSpPr>
            <a:spLocks noGrp="1"/>
          </p:cNvSpPr>
          <p:nvPr/>
        </p:nvSpPr>
        <p:spPr>
          <a:xfrm>
            <a:off x="5233988" y="4586288"/>
            <a:ext cx="9525" cy="9525"/>
          </a:xfrm>
          <a:prstGeom prst="rect">
            <a:avLst/>
          </a:prstGeom>
          <a:noFill/>
          <a:ln w="0">
            <a:noFill/>
          </a:ln>
        </p:spPr>
        <p:txBody>
          <a:bodyPr/>
          <a:lstStyle/>
          <a:p>
            <a:endParaRPr lang="en-US"/>
          </a:p>
        </p:txBody>
      </p:sp>
      <p:cxnSp>
        <p:nvCxnSpPr>
          <p:cNvPr id="119" name="Straight Arrow Connector 118"/>
          <p:cNvCxnSpPr>
            <a:stCxn id="57" idx="3"/>
            <a:endCxn id="58" idx="1"/>
          </p:cNvCxnSpPr>
          <p:nvPr/>
        </p:nvCxnSpPr>
        <p:spPr>
          <a:xfrm flipH="1">
            <a:off x="5233988" y="3419476"/>
            <a:ext cx="9525" cy="1171575"/>
          </a:xfrm>
          <a:prstGeom prst="straightConnector1">
            <a:avLst/>
          </a:prstGeom>
          <a:ln w="14288">
            <a:solidFill>
              <a:srgbClr val="B6C6D2"/>
            </a:solidFill>
            <a:prstDash val="dash"/>
          </a:ln>
        </p:spPr>
      </p:cxnSp>
      <p:sp>
        <p:nvSpPr>
          <p:cNvPr id="60" name="native-322">
            <a:extLst>
              <a:ext uri="{FF2B5EF4-FFF2-40B4-BE49-F238E27FC236}">
                <a16:creationId xmlns:a16="http://schemas.microsoft.com/office/drawing/2014/main" id="{DD96260B-AD62-4413-A4C6-068BF3EAC62A}"/>
              </a:ext>
            </a:extLst>
          </p:cNvPr>
          <p:cNvSpPr>
            <a:spLocks noGrp="1"/>
          </p:cNvSpPr>
          <p:nvPr/>
        </p:nvSpPr>
        <p:spPr>
          <a:xfrm>
            <a:off x="3067050" y="3743325"/>
            <a:ext cx="5486400" cy="238125"/>
          </a:xfrm>
          <a:prstGeom prst="rect">
            <a:avLst/>
          </a:prstGeom>
          <a:solidFill>
            <a:srgbClr val="FFFFFF"/>
          </a:solidFill>
          <a:ln w="0">
            <a:noFill/>
          </a:ln>
        </p:spPr>
        <p:txBody>
          <a:bodyPr anchor="ctr">
            <a:noAutofit/>
          </a:bodyPr>
          <a:lstStyle/>
          <a:p>
            <a:pPr algn="ctr">
              <a:defRPr sz="1575" b="0">
                <a:solidFill>
                  <a:srgbClr val="5D6C79"/>
                </a:solidFill>
                <a:latin typeface="Arial"/>
                <a:ea typeface="Arial"/>
                <a:cs typeface="Arial"/>
              </a:defRPr>
            </a:pPr>
            <a:r>
              <a:rPr sz="1575" b="0">
                <a:solidFill>
                  <a:srgbClr val="5D6C79"/>
                </a:solidFill>
                <a:latin typeface="Arial"/>
                <a:ea typeface="Arial"/>
                <a:cs typeface="Arial"/>
              </a:rPr>
              <a:t>synthea_jobs tracks status and timestamps</a:t>
            </a:r>
          </a:p>
        </p:txBody>
      </p:sp>
    </p:spTree>
    <p:extLst>
      <p:ext uri="{BB962C8B-B14F-4D97-AF65-F5344CB8AC3E}">
        <p14:creationId xmlns:p14="http://schemas.microsoft.com/office/powerpoint/2010/main" val="1088738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native-323">
            <a:extLst>
              <a:ext uri="{FF2B5EF4-FFF2-40B4-BE49-F238E27FC236}">
                <a16:creationId xmlns:a16="http://schemas.microsoft.com/office/drawing/2014/main" id="{BF4DC960-69FD-46D5-9BF5-38B49ADBD3D8}"/>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Authentication sequence</a:t>
            </a:r>
          </a:p>
        </p:txBody>
      </p:sp>
      <p:sp>
        <p:nvSpPr>
          <p:cNvPr id="2" name="native-324">
            <a:extLst>
              <a:ext uri="{FF2B5EF4-FFF2-40B4-BE49-F238E27FC236}">
                <a16:creationId xmlns:a16="http://schemas.microsoft.com/office/drawing/2014/main" id="{892BC884-BE83-40B4-A58E-4328E67DB6C9}"/>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Controller calls, password verification and JWT issuance</a:t>
            </a:r>
          </a:p>
        </p:txBody>
      </p:sp>
      <p:sp>
        <p:nvSpPr>
          <p:cNvPr id="3" name="native-325">
            <a:extLst>
              <a:ext uri="{FF2B5EF4-FFF2-40B4-BE49-F238E27FC236}">
                <a16:creationId xmlns:a16="http://schemas.microsoft.com/office/drawing/2014/main" id="{DE08B51B-3FA7-48A4-AF0E-126F5B216E2A}"/>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326">
            <a:extLst>
              <a:ext uri="{FF2B5EF4-FFF2-40B4-BE49-F238E27FC236}">
                <a16:creationId xmlns:a16="http://schemas.microsoft.com/office/drawing/2014/main" id="{323DA7C7-1EC2-48DA-A795-C3D9DFB51026}"/>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61" name="Straight Arrow Connector 60"/>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327">
            <a:extLst>
              <a:ext uri="{FF2B5EF4-FFF2-40B4-BE49-F238E27FC236}">
                <a16:creationId xmlns:a16="http://schemas.microsoft.com/office/drawing/2014/main" id="{11EFD0DE-7653-4C5B-8345-85D5F70DFEE6}"/>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JWT uses HS256 with 24-hour expiry. Invalid credentials return 401; a disabled account returns 403.</a:t>
            </a:r>
          </a:p>
        </p:txBody>
      </p:sp>
      <p:sp>
        <p:nvSpPr>
          <p:cNvPr id="7" name="native-328">
            <a:extLst>
              <a:ext uri="{FF2B5EF4-FFF2-40B4-BE49-F238E27FC236}">
                <a16:creationId xmlns:a16="http://schemas.microsoft.com/office/drawing/2014/main" id="{8C822DE0-138B-42DF-8AC7-2647A6B9B88F}"/>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14</a:t>
            </a:r>
          </a:p>
        </p:txBody>
      </p:sp>
      <p:sp>
        <p:nvSpPr>
          <p:cNvPr id="8" name="native-329">
            <a:extLst>
              <a:ext uri="{FF2B5EF4-FFF2-40B4-BE49-F238E27FC236}">
                <a16:creationId xmlns:a16="http://schemas.microsoft.com/office/drawing/2014/main" id="{C7EE8469-DC05-4FD9-AC9F-69C7041E08ED}"/>
              </a:ext>
            </a:extLst>
          </p:cNvPr>
          <p:cNvSpPr>
            <a:spLocks noGrp="1"/>
          </p:cNvSpPr>
          <p:nvPr/>
        </p:nvSpPr>
        <p:spPr>
          <a:xfrm>
            <a:off x="190500" y="1485900"/>
            <a:ext cx="2381250" cy="647700"/>
          </a:xfrm>
          <a:prstGeom prst="rect">
            <a:avLst/>
          </a:prstGeom>
          <a:solidFill>
            <a:srgbClr val="E2F2F1"/>
          </a:solidFill>
          <a:ln w="9525">
            <a:solidFill>
              <a:srgbClr val="B6C6D2"/>
            </a:solidFill>
          </a:ln>
        </p:spPr>
        <p:txBody>
          <a:bodyPr/>
          <a:lstStyle/>
          <a:p>
            <a:endParaRPr lang="en-US"/>
          </a:p>
        </p:txBody>
      </p:sp>
      <p:sp>
        <p:nvSpPr>
          <p:cNvPr id="9" name="native-330">
            <a:extLst>
              <a:ext uri="{FF2B5EF4-FFF2-40B4-BE49-F238E27FC236}">
                <a16:creationId xmlns:a16="http://schemas.microsoft.com/office/drawing/2014/main" id="{562F0047-914C-4E94-8E6F-8B8B1757CC85}"/>
              </a:ext>
            </a:extLst>
          </p:cNvPr>
          <p:cNvSpPr>
            <a:spLocks noGrp="1"/>
          </p:cNvSpPr>
          <p:nvPr/>
        </p:nvSpPr>
        <p:spPr>
          <a:xfrm>
            <a:off x="32385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Client</a:t>
            </a:r>
          </a:p>
        </p:txBody>
      </p:sp>
      <p:sp>
        <p:nvSpPr>
          <p:cNvPr id="10" name="native-331">
            <a:extLst>
              <a:ext uri="{FF2B5EF4-FFF2-40B4-BE49-F238E27FC236}">
                <a16:creationId xmlns:a16="http://schemas.microsoft.com/office/drawing/2014/main" id="{333BBB43-71B4-43EC-AD85-6713059DE2BF}"/>
              </a:ext>
            </a:extLst>
          </p:cNvPr>
          <p:cNvSpPr>
            <a:spLocks noGrp="1"/>
          </p:cNvSpPr>
          <p:nvPr/>
        </p:nvSpPr>
        <p:spPr>
          <a:xfrm>
            <a:off x="32385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POST /api/auth/login</a:t>
            </a:r>
          </a:p>
        </p:txBody>
      </p:sp>
      <p:sp>
        <p:nvSpPr>
          <p:cNvPr id="11" name="native-332">
            <a:extLst>
              <a:ext uri="{FF2B5EF4-FFF2-40B4-BE49-F238E27FC236}">
                <a16:creationId xmlns:a16="http://schemas.microsoft.com/office/drawing/2014/main" id="{74E637DA-CDDA-424E-8A5B-00DFF8B53736}"/>
              </a:ext>
            </a:extLst>
          </p:cNvPr>
          <p:cNvSpPr>
            <a:spLocks noGrp="1"/>
          </p:cNvSpPr>
          <p:nvPr/>
        </p:nvSpPr>
        <p:spPr>
          <a:xfrm>
            <a:off x="1376363" y="2128838"/>
            <a:ext cx="9525" cy="9525"/>
          </a:xfrm>
          <a:prstGeom prst="rect">
            <a:avLst/>
          </a:prstGeom>
          <a:noFill/>
          <a:ln w="0">
            <a:noFill/>
          </a:ln>
        </p:spPr>
        <p:txBody>
          <a:bodyPr/>
          <a:lstStyle/>
          <a:p>
            <a:endParaRPr lang="en-US"/>
          </a:p>
        </p:txBody>
      </p:sp>
      <p:sp>
        <p:nvSpPr>
          <p:cNvPr id="12" name="native-333">
            <a:extLst>
              <a:ext uri="{FF2B5EF4-FFF2-40B4-BE49-F238E27FC236}">
                <a16:creationId xmlns:a16="http://schemas.microsoft.com/office/drawing/2014/main" id="{E033A2A3-E78C-48D4-AD52-838563DA7D6D}"/>
              </a:ext>
            </a:extLst>
          </p:cNvPr>
          <p:cNvSpPr>
            <a:spLocks noGrp="1"/>
          </p:cNvSpPr>
          <p:nvPr/>
        </p:nvSpPr>
        <p:spPr>
          <a:xfrm>
            <a:off x="1376363" y="5948363"/>
            <a:ext cx="9525" cy="9525"/>
          </a:xfrm>
          <a:prstGeom prst="rect">
            <a:avLst/>
          </a:prstGeom>
          <a:noFill/>
          <a:ln w="0">
            <a:noFill/>
          </a:ln>
        </p:spPr>
        <p:txBody>
          <a:bodyPr/>
          <a:lstStyle/>
          <a:p>
            <a:endParaRPr lang="en-US"/>
          </a:p>
        </p:txBody>
      </p:sp>
      <p:cxnSp>
        <p:nvCxnSpPr>
          <p:cNvPr id="69" name="Straight Arrow Connector 68"/>
          <p:cNvCxnSpPr>
            <a:stCxn id="11" idx="3"/>
            <a:endCxn id="12" idx="1"/>
          </p:cNvCxnSpPr>
          <p:nvPr/>
        </p:nvCxnSpPr>
        <p:spPr>
          <a:xfrm flipH="1">
            <a:off x="1376363" y="2133601"/>
            <a:ext cx="9525" cy="3819525"/>
          </a:xfrm>
          <a:prstGeom prst="straightConnector1">
            <a:avLst/>
          </a:prstGeom>
          <a:ln w="14288">
            <a:solidFill>
              <a:srgbClr val="B6C6D2"/>
            </a:solidFill>
            <a:prstDash val="dash"/>
          </a:ln>
        </p:spPr>
      </p:cxnSp>
      <p:sp>
        <p:nvSpPr>
          <p:cNvPr id="14" name="native-334">
            <a:extLst>
              <a:ext uri="{FF2B5EF4-FFF2-40B4-BE49-F238E27FC236}">
                <a16:creationId xmlns:a16="http://schemas.microsoft.com/office/drawing/2014/main" id="{CF96CB52-EEFC-40D4-894B-D46C985DE711}"/>
              </a:ext>
            </a:extLst>
          </p:cNvPr>
          <p:cNvSpPr>
            <a:spLocks noGrp="1"/>
          </p:cNvSpPr>
          <p:nvPr/>
        </p:nvSpPr>
        <p:spPr>
          <a:xfrm>
            <a:off x="3333750" y="1485900"/>
            <a:ext cx="2381250" cy="647700"/>
          </a:xfrm>
          <a:prstGeom prst="rect">
            <a:avLst/>
          </a:prstGeom>
          <a:solidFill>
            <a:srgbClr val="E8EFF5"/>
          </a:solidFill>
          <a:ln w="9525">
            <a:solidFill>
              <a:srgbClr val="B6C6D2"/>
            </a:solidFill>
          </a:ln>
        </p:spPr>
        <p:txBody>
          <a:bodyPr/>
          <a:lstStyle/>
          <a:p>
            <a:endParaRPr lang="en-US"/>
          </a:p>
        </p:txBody>
      </p:sp>
      <p:sp>
        <p:nvSpPr>
          <p:cNvPr id="15" name="native-335">
            <a:extLst>
              <a:ext uri="{FF2B5EF4-FFF2-40B4-BE49-F238E27FC236}">
                <a16:creationId xmlns:a16="http://schemas.microsoft.com/office/drawing/2014/main" id="{630E5ECB-60AC-4943-B7C0-8A1F3F2C85AE}"/>
              </a:ext>
            </a:extLst>
          </p:cNvPr>
          <p:cNvSpPr>
            <a:spLocks noGrp="1"/>
          </p:cNvSpPr>
          <p:nvPr/>
        </p:nvSpPr>
        <p:spPr>
          <a:xfrm>
            <a:off x="346710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AuthController</a:t>
            </a:r>
          </a:p>
        </p:txBody>
      </p:sp>
      <p:sp>
        <p:nvSpPr>
          <p:cNvPr id="16" name="native-336">
            <a:extLst>
              <a:ext uri="{FF2B5EF4-FFF2-40B4-BE49-F238E27FC236}">
                <a16:creationId xmlns:a16="http://schemas.microsoft.com/office/drawing/2014/main" id="{38AA74D7-AD39-4777-A2BD-E3546100DC3C}"/>
              </a:ext>
            </a:extLst>
          </p:cNvPr>
          <p:cNvSpPr>
            <a:spLocks noGrp="1"/>
          </p:cNvSpPr>
          <p:nvPr/>
        </p:nvSpPr>
        <p:spPr>
          <a:xfrm>
            <a:off x="346710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Login endpoint</a:t>
            </a:r>
          </a:p>
        </p:txBody>
      </p:sp>
      <p:sp>
        <p:nvSpPr>
          <p:cNvPr id="17" name="native-337">
            <a:extLst>
              <a:ext uri="{FF2B5EF4-FFF2-40B4-BE49-F238E27FC236}">
                <a16:creationId xmlns:a16="http://schemas.microsoft.com/office/drawing/2014/main" id="{81859570-AEF9-40D0-A312-076CD26DD091}"/>
              </a:ext>
            </a:extLst>
          </p:cNvPr>
          <p:cNvSpPr>
            <a:spLocks noGrp="1"/>
          </p:cNvSpPr>
          <p:nvPr/>
        </p:nvSpPr>
        <p:spPr>
          <a:xfrm>
            <a:off x="4519613" y="2128838"/>
            <a:ext cx="9525" cy="9525"/>
          </a:xfrm>
          <a:prstGeom prst="rect">
            <a:avLst/>
          </a:prstGeom>
          <a:noFill/>
          <a:ln w="0">
            <a:noFill/>
          </a:ln>
        </p:spPr>
        <p:txBody>
          <a:bodyPr/>
          <a:lstStyle/>
          <a:p>
            <a:endParaRPr lang="en-US"/>
          </a:p>
        </p:txBody>
      </p:sp>
      <p:sp>
        <p:nvSpPr>
          <p:cNvPr id="18" name="native-338">
            <a:extLst>
              <a:ext uri="{FF2B5EF4-FFF2-40B4-BE49-F238E27FC236}">
                <a16:creationId xmlns:a16="http://schemas.microsoft.com/office/drawing/2014/main" id="{FCCD86D1-8C1F-4A84-BC2E-239913AB87BD}"/>
              </a:ext>
            </a:extLst>
          </p:cNvPr>
          <p:cNvSpPr>
            <a:spLocks noGrp="1"/>
          </p:cNvSpPr>
          <p:nvPr/>
        </p:nvSpPr>
        <p:spPr>
          <a:xfrm>
            <a:off x="4519613" y="5948363"/>
            <a:ext cx="9525" cy="9525"/>
          </a:xfrm>
          <a:prstGeom prst="rect">
            <a:avLst/>
          </a:prstGeom>
          <a:noFill/>
          <a:ln w="0">
            <a:noFill/>
          </a:ln>
        </p:spPr>
        <p:txBody>
          <a:bodyPr/>
          <a:lstStyle/>
          <a:p>
            <a:endParaRPr lang="en-US"/>
          </a:p>
        </p:txBody>
      </p:sp>
      <p:cxnSp>
        <p:nvCxnSpPr>
          <p:cNvPr id="75" name="Straight Arrow Connector 74"/>
          <p:cNvCxnSpPr>
            <a:stCxn id="17" idx="3"/>
            <a:endCxn id="18" idx="1"/>
          </p:cNvCxnSpPr>
          <p:nvPr/>
        </p:nvCxnSpPr>
        <p:spPr>
          <a:xfrm flipH="1">
            <a:off x="4519613" y="2133601"/>
            <a:ext cx="9525" cy="3819525"/>
          </a:xfrm>
          <a:prstGeom prst="straightConnector1">
            <a:avLst/>
          </a:prstGeom>
          <a:ln w="14288">
            <a:solidFill>
              <a:srgbClr val="B6C6D2"/>
            </a:solidFill>
            <a:prstDash val="dash"/>
          </a:ln>
        </p:spPr>
      </p:cxnSp>
      <p:sp>
        <p:nvSpPr>
          <p:cNvPr id="20" name="native-339">
            <a:extLst>
              <a:ext uri="{FF2B5EF4-FFF2-40B4-BE49-F238E27FC236}">
                <a16:creationId xmlns:a16="http://schemas.microsoft.com/office/drawing/2014/main" id="{3A3B4135-2685-41F2-B61B-87D4766A9DA7}"/>
              </a:ext>
            </a:extLst>
          </p:cNvPr>
          <p:cNvSpPr>
            <a:spLocks noGrp="1"/>
          </p:cNvSpPr>
          <p:nvPr/>
        </p:nvSpPr>
        <p:spPr>
          <a:xfrm>
            <a:off x="6477000" y="1485900"/>
            <a:ext cx="2381250" cy="647700"/>
          </a:xfrm>
          <a:prstGeom prst="rect">
            <a:avLst/>
          </a:prstGeom>
          <a:solidFill>
            <a:srgbClr val="E8EFF5"/>
          </a:solidFill>
          <a:ln w="9525">
            <a:solidFill>
              <a:srgbClr val="B6C6D2"/>
            </a:solidFill>
          </a:ln>
        </p:spPr>
        <p:txBody>
          <a:bodyPr/>
          <a:lstStyle/>
          <a:p>
            <a:endParaRPr lang="en-US"/>
          </a:p>
        </p:txBody>
      </p:sp>
      <p:sp>
        <p:nvSpPr>
          <p:cNvPr id="21" name="native-340">
            <a:extLst>
              <a:ext uri="{FF2B5EF4-FFF2-40B4-BE49-F238E27FC236}">
                <a16:creationId xmlns:a16="http://schemas.microsoft.com/office/drawing/2014/main" id="{7308D092-2020-4FDD-A1BF-A5B318F685D3}"/>
              </a:ext>
            </a:extLst>
          </p:cNvPr>
          <p:cNvSpPr>
            <a:spLocks noGrp="1"/>
          </p:cNvSpPr>
          <p:nvPr/>
        </p:nvSpPr>
        <p:spPr>
          <a:xfrm>
            <a:off x="661035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UserService</a:t>
            </a:r>
          </a:p>
        </p:txBody>
      </p:sp>
      <p:sp>
        <p:nvSpPr>
          <p:cNvPr id="22" name="native-341">
            <a:extLst>
              <a:ext uri="{FF2B5EF4-FFF2-40B4-BE49-F238E27FC236}">
                <a16:creationId xmlns:a16="http://schemas.microsoft.com/office/drawing/2014/main" id="{DEF05D24-1DBE-45D4-B226-250AD2B34236}"/>
              </a:ext>
            </a:extLst>
          </p:cNvPr>
          <p:cNvSpPr>
            <a:spLocks noGrp="1"/>
          </p:cNvSpPr>
          <p:nvPr/>
        </p:nvSpPr>
        <p:spPr>
          <a:xfrm>
            <a:off x="661035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Account lookup</a:t>
            </a:r>
          </a:p>
        </p:txBody>
      </p:sp>
      <p:sp>
        <p:nvSpPr>
          <p:cNvPr id="23" name="native-342">
            <a:extLst>
              <a:ext uri="{FF2B5EF4-FFF2-40B4-BE49-F238E27FC236}">
                <a16:creationId xmlns:a16="http://schemas.microsoft.com/office/drawing/2014/main" id="{8EF4BE94-003F-422B-A3E6-F3C4652CDC99}"/>
              </a:ext>
            </a:extLst>
          </p:cNvPr>
          <p:cNvSpPr>
            <a:spLocks noGrp="1"/>
          </p:cNvSpPr>
          <p:nvPr/>
        </p:nvSpPr>
        <p:spPr>
          <a:xfrm>
            <a:off x="7662863" y="2128838"/>
            <a:ext cx="9525" cy="9525"/>
          </a:xfrm>
          <a:prstGeom prst="rect">
            <a:avLst/>
          </a:prstGeom>
          <a:noFill/>
          <a:ln w="0">
            <a:noFill/>
          </a:ln>
        </p:spPr>
        <p:txBody>
          <a:bodyPr/>
          <a:lstStyle/>
          <a:p>
            <a:endParaRPr lang="en-US"/>
          </a:p>
        </p:txBody>
      </p:sp>
      <p:sp>
        <p:nvSpPr>
          <p:cNvPr id="24" name="native-343">
            <a:extLst>
              <a:ext uri="{FF2B5EF4-FFF2-40B4-BE49-F238E27FC236}">
                <a16:creationId xmlns:a16="http://schemas.microsoft.com/office/drawing/2014/main" id="{4468F24A-F34A-4DCF-B159-6E5627AFBE5F}"/>
              </a:ext>
            </a:extLst>
          </p:cNvPr>
          <p:cNvSpPr>
            <a:spLocks noGrp="1"/>
          </p:cNvSpPr>
          <p:nvPr/>
        </p:nvSpPr>
        <p:spPr>
          <a:xfrm>
            <a:off x="7662863" y="5948363"/>
            <a:ext cx="9525" cy="9525"/>
          </a:xfrm>
          <a:prstGeom prst="rect">
            <a:avLst/>
          </a:prstGeom>
          <a:noFill/>
          <a:ln w="0">
            <a:noFill/>
          </a:ln>
        </p:spPr>
        <p:txBody>
          <a:bodyPr/>
          <a:lstStyle/>
          <a:p>
            <a:endParaRPr lang="en-US"/>
          </a:p>
        </p:txBody>
      </p:sp>
      <p:cxnSp>
        <p:nvCxnSpPr>
          <p:cNvPr id="81" name="Straight Arrow Connector 80"/>
          <p:cNvCxnSpPr>
            <a:stCxn id="23" idx="3"/>
            <a:endCxn id="24" idx="1"/>
          </p:cNvCxnSpPr>
          <p:nvPr/>
        </p:nvCxnSpPr>
        <p:spPr>
          <a:xfrm flipH="1">
            <a:off x="7662863" y="2133601"/>
            <a:ext cx="9525" cy="3819525"/>
          </a:xfrm>
          <a:prstGeom prst="straightConnector1">
            <a:avLst/>
          </a:prstGeom>
          <a:ln w="14288">
            <a:solidFill>
              <a:srgbClr val="B6C6D2"/>
            </a:solidFill>
            <a:prstDash val="dash"/>
          </a:ln>
        </p:spPr>
      </p:cxnSp>
      <p:sp>
        <p:nvSpPr>
          <p:cNvPr id="26" name="native-344">
            <a:extLst>
              <a:ext uri="{FF2B5EF4-FFF2-40B4-BE49-F238E27FC236}">
                <a16:creationId xmlns:a16="http://schemas.microsoft.com/office/drawing/2014/main" id="{679F6516-B4D8-4904-94E0-82ECBED2C9AB}"/>
              </a:ext>
            </a:extLst>
          </p:cNvPr>
          <p:cNvSpPr>
            <a:spLocks noGrp="1"/>
          </p:cNvSpPr>
          <p:nvPr/>
        </p:nvSpPr>
        <p:spPr>
          <a:xfrm>
            <a:off x="9620250" y="1485900"/>
            <a:ext cx="2381250" cy="647700"/>
          </a:xfrm>
          <a:prstGeom prst="rect">
            <a:avLst/>
          </a:prstGeom>
          <a:solidFill>
            <a:srgbClr val="E8EFF5"/>
          </a:solidFill>
          <a:ln w="9525">
            <a:solidFill>
              <a:srgbClr val="B6C6D2"/>
            </a:solidFill>
          </a:ln>
        </p:spPr>
        <p:txBody>
          <a:bodyPr/>
          <a:lstStyle/>
          <a:p>
            <a:endParaRPr lang="en-US"/>
          </a:p>
        </p:txBody>
      </p:sp>
      <p:sp>
        <p:nvSpPr>
          <p:cNvPr id="27" name="native-345">
            <a:extLst>
              <a:ext uri="{FF2B5EF4-FFF2-40B4-BE49-F238E27FC236}">
                <a16:creationId xmlns:a16="http://schemas.microsoft.com/office/drawing/2014/main" id="{DB75ED92-E5D3-4ECC-B96A-D60C7B4BDD52}"/>
              </a:ext>
            </a:extLst>
          </p:cNvPr>
          <p:cNvSpPr>
            <a:spLocks noGrp="1"/>
          </p:cNvSpPr>
          <p:nvPr/>
        </p:nvSpPr>
        <p:spPr>
          <a:xfrm>
            <a:off x="9753600"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JwtUtil</a:t>
            </a:r>
          </a:p>
        </p:txBody>
      </p:sp>
      <p:sp>
        <p:nvSpPr>
          <p:cNvPr id="28" name="native-346">
            <a:extLst>
              <a:ext uri="{FF2B5EF4-FFF2-40B4-BE49-F238E27FC236}">
                <a16:creationId xmlns:a16="http://schemas.microsoft.com/office/drawing/2014/main" id="{7759C9FF-C523-4ABD-9566-19FDCDC51508}"/>
              </a:ext>
            </a:extLst>
          </p:cNvPr>
          <p:cNvSpPr>
            <a:spLocks noGrp="1"/>
          </p:cNvSpPr>
          <p:nvPr/>
        </p:nvSpPr>
        <p:spPr>
          <a:xfrm>
            <a:off x="9753600"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Token signer</a:t>
            </a:r>
          </a:p>
        </p:txBody>
      </p:sp>
      <p:sp>
        <p:nvSpPr>
          <p:cNvPr id="29" name="native-347">
            <a:extLst>
              <a:ext uri="{FF2B5EF4-FFF2-40B4-BE49-F238E27FC236}">
                <a16:creationId xmlns:a16="http://schemas.microsoft.com/office/drawing/2014/main" id="{99CD7DA2-B8E9-4C85-BA21-C6028B80D138}"/>
              </a:ext>
            </a:extLst>
          </p:cNvPr>
          <p:cNvSpPr>
            <a:spLocks noGrp="1"/>
          </p:cNvSpPr>
          <p:nvPr/>
        </p:nvSpPr>
        <p:spPr>
          <a:xfrm>
            <a:off x="10806113" y="2128838"/>
            <a:ext cx="9525" cy="9525"/>
          </a:xfrm>
          <a:prstGeom prst="rect">
            <a:avLst/>
          </a:prstGeom>
          <a:noFill/>
          <a:ln w="0">
            <a:noFill/>
          </a:ln>
        </p:spPr>
        <p:txBody>
          <a:bodyPr/>
          <a:lstStyle/>
          <a:p>
            <a:endParaRPr lang="en-US"/>
          </a:p>
        </p:txBody>
      </p:sp>
      <p:sp>
        <p:nvSpPr>
          <p:cNvPr id="30" name="native-348">
            <a:extLst>
              <a:ext uri="{FF2B5EF4-FFF2-40B4-BE49-F238E27FC236}">
                <a16:creationId xmlns:a16="http://schemas.microsoft.com/office/drawing/2014/main" id="{ECB13AB0-1FB8-45A5-8C65-4C6859908E96}"/>
              </a:ext>
            </a:extLst>
          </p:cNvPr>
          <p:cNvSpPr>
            <a:spLocks noGrp="1"/>
          </p:cNvSpPr>
          <p:nvPr/>
        </p:nvSpPr>
        <p:spPr>
          <a:xfrm>
            <a:off x="10806113" y="5948363"/>
            <a:ext cx="9525" cy="9525"/>
          </a:xfrm>
          <a:prstGeom prst="rect">
            <a:avLst/>
          </a:prstGeom>
          <a:noFill/>
          <a:ln w="0">
            <a:noFill/>
          </a:ln>
        </p:spPr>
        <p:txBody>
          <a:bodyPr/>
          <a:lstStyle/>
          <a:p>
            <a:endParaRPr lang="en-US"/>
          </a:p>
        </p:txBody>
      </p:sp>
      <p:cxnSp>
        <p:nvCxnSpPr>
          <p:cNvPr id="87" name="Straight Arrow Connector 86"/>
          <p:cNvCxnSpPr>
            <a:stCxn id="29" idx="3"/>
            <a:endCxn id="30" idx="1"/>
          </p:cNvCxnSpPr>
          <p:nvPr/>
        </p:nvCxnSpPr>
        <p:spPr>
          <a:xfrm flipH="1">
            <a:off x="10806113" y="2133601"/>
            <a:ext cx="9525" cy="3819525"/>
          </a:xfrm>
          <a:prstGeom prst="straightConnector1">
            <a:avLst/>
          </a:prstGeom>
          <a:ln w="14288">
            <a:solidFill>
              <a:srgbClr val="B6C6D2"/>
            </a:solidFill>
            <a:prstDash val="dash"/>
          </a:ln>
        </p:spPr>
      </p:cxnSp>
      <p:sp>
        <p:nvSpPr>
          <p:cNvPr id="32" name="native-349">
            <a:extLst>
              <a:ext uri="{FF2B5EF4-FFF2-40B4-BE49-F238E27FC236}">
                <a16:creationId xmlns:a16="http://schemas.microsoft.com/office/drawing/2014/main" id="{82955A2E-04E5-4551-B4D4-BC0A30E12A64}"/>
              </a:ext>
            </a:extLst>
          </p:cNvPr>
          <p:cNvSpPr>
            <a:spLocks noGrp="1"/>
          </p:cNvSpPr>
          <p:nvPr/>
        </p:nvSpPr>
        <p:spPr>
          <a:xfrm>
            <a:off x="1376363" y="2538413"/>
            <a:ext cx="9525" cy="9525"/>
          </a:xfrm>
          <a:prstGeom prst="rect">
            <a:avLst/>
          </a:prstGeom>
          <a:noFill/>
          <a:ln w="0">
            <a:noFill/>
          </a:ln>
        </p:spPr>
        <p:txBody>
          <a:bodyPr/>
          <a:lstStyle/>
          <a:p>
            <a:endParaRPr lang="en-US"/>
          </a:p>
        </p:txBody>
      </p:sp>
      <p:sp>
        <p:nvSpPr>
          <p:cNvPr id="33" name="native-350">
            <a:extLst>
              <a:ext uri="{FF2B5EF4-FFF2-40B4-BE49-F238E27FC236}">
                <a16:creationId xmlns:a16="http://schemas.microsoft.com/office/drawing/2014/main" id="{8B60AE02-186D-47AB-BF21-D5436AB62283}"/>
              </a:ext>
            </a:extLst>
          </p:cNvPr>
          <p:cNvSpPr>
            <a:spLocks noGrp="1"/>
          </p:cNvSpPr>
          <p:nvPr/>
        </p:nvSpPr>
        <p:spPr>
          <a:xfrm>
            <a:off x="4519613" y="2538413"/>
            <a:ext cx="9525" cy="9525"/>
          </a:xfrm>
          <a:prstGeom prst="rect">
            <a:avLst/>
          </a:prstGeom>
          <a:noFill/>
          <a:ln w="0">
            <a:noFill/>
          </a:ln>
        </p:spPr>
        <p:txBody>
          <a:bodyPr/>
          <a:lstStyle/>
          <a:p>
            <a:endParaRPr lang="en-US"/>
          </a:p>
        </p:txBody>
      </p:sp>
      <p:cxnSp>
        <p:nvCxnSpPr>
          <p:cNvPr id="90" name="Straight Arrow Connector 89"/>
          <p:cNvCxnSpPr>
            <a:stCxn id="32" idx="3"/>
            <a:endCxn id="33" idx="1"/>
          </p:cNvCxnSpPr>
          <p:nvPr/>
        </p:nvCxnSpPr>
        <p:spPr>
          <a:xfrm>
            <a:off x="1385888" y="2543176"/>
            <a:ext cx="3133725" cy="0"/>
          </a:xfrm>
          <a:prstGeom prst="straightConnector1">
            <a:avLst/>
          </a:prstGeom>
          <a:ln w="19050">
            <a:solidFill>
              <a:srgbClr val="0F8B8D"/>
            </a:solidFill>
            <a:prstDash val="solid"/>
            <a:tailEnd type="triangle" w="med" len="med"/>
          </a:ln>
        </p:spPr>
      </p:cxnSp>
      <p:sp>
        <p:nvSpPr>
          <p:cNvPr id="35" name="native-351">
            <a:extLst>
              <a:ext uri="{FF2B5EF4-FFF2-40B4-BE49-F238E27FC236}">
                <a16:creationId xmlns:a16="http://schemas.microsoft.com/office/drawing/2014/main" id="{E511F9E9-58F7-47FC-9235-EDB0F6019464}"/>
              </a:ext>
            </a:extLst>
          </p:cNvPr>
          <p:cNvSpPr>
            <a:spLocks noGrp="1"/>
          </p:cNvSpPr>
          <p:nvPr/>
        </p:nvSpPr>
        <p:spPr>
          <a:xfrm>
            <a:off x="1476375" y="227647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username + password</a:t>
            </a:r>
          </a:p>
        </p:txBody>
      </p:sp>
      <p:sp>
        <p:nvSpPr>
          <p:cNvPr id="36" name="native-352">
            <a:extLst>
              <a:ext uri="{FF2B5EF4-FFF2-40B4-BE49-F238E27FC236}">
                <a16:creationId xmlns:a16="http://schemas.microsoft.com/office/drawing/2014/main" id="{B3704FA1-A641-46EA-9C32-AFBFC1F34115}"/>
              </a:ext>
            </a:extLst>
          </p:cNvPr>
          <p:cNvSpPr>
            <a:spLocks noGrp="1"/>
          </p:cNvSpPr>
          <p:nvPr/>
        </p:nvSpPr>
        <p:spPr>
          <a:xfrm>
            <a:off x="4519613" y="3033713"/>
            <a:ext cx="9525" cy="9525"/>
          </a:xfrm>
          <a:prstGeom prst="rect">
            <a:avLst/>
          </a:prstGeom>
          <a:noFill/>
          <a:ln w="0">
            <a:noFill/>
          </a:ln>
        </p:spPr>
        <p:txBody>
          <a:bodyPr/>
          <a:lstStyle/>
          <a:p>
            <a:endParaRPr lang="en-US"/>
          </a:p>
        </p:txBody>
      </p:sp>
      <p:sp>
        <p:nvSpPr>
          <p:cNvPr id="37" name="native-353">
            <a:extLst>
              <a:ext uri="{FF2B5EF4-FFF2-40B4-BE49-F238E27FC236}">
                <a16:creationId xmlns:a16="http://schemas.microsoft.com/office/drawing/2014/main" id="{41D086F5-E5B0-4E6C-B205-95FCB9720946}"/>
              </a:ext>
            </a:extLst>
          </p:cNvPr>
          <p:cNvSpPr>
            <a:spLocks noGrp="1"/>
          </p:cNvSpPr>
          <p:nvPr/>
        </p:nvSpPr>
        <p:spPr>
          <a:xfrm>
            <a:off x="7662863" y="3033713"/>
            <a:ext cx="9525" cy="9525"/>
          </a:xfrm>
          <a:prstGeom prst="rect">
            <a:avLst/>
          </a:prstGeom>
          <a:noFill/>
          <a:ln w="0">
            <a:noFill/>
          </a:ln>
        </p:spPr>
        <p:txBody>
          <a:bodyPr/>
          <a:lstStyle/>
          <a:p>
            <a:endParaRPr lang="en-US"/>
          </a:p>
        </p:txBody>
      </p:sp>
      <p:cxnSp>
        <p:nvCxnSpPr>
          <p:cNvPr id="94" name="Straight Arrow Connector 93"/>
          <p:cNvCxnSpPr>
            <a:stCxn id="36" idx="3"/>
            <a:endCxn id="37" idx="1"/>
          </p:cNvCxnSpPr>
          <p:nvPr/>
        </p:nvCxnSpPr>
        <p:spPr>
          <a:xfrm>
            <a:off x="4529138" y="3038476"/>
            <a:ext cx="3133725" cy="0"/>
          </a:xfrm>
          <a:prstGeom prst="straightConnector1">
            <a:avLst/>
          </a:prstGeom>
          <a:ln w="19050">
            <a:solidFill>
              <a:srgbClr val="0F8B8D"/>
            </a:solidFill>
            <a:prstDash val="solid"/>
            <a:tailEnd type="triangle" w="med" len="med"/>
          </a:ln>
        </p:spPr>
      </p:cxnSp>
      <p:sp>
        <p:nvSpPr>
          <p:cNvPr id="39" name="native-354">
            <a:extLst>
              <a:ext uri="{FF2B5EF4-FFF2-40B4-BE49-F238E27FC236}">
                <a16:creationId xmlns:a16="http://schemas.microsoft.com/office/drawing/2014/main" id="{9CE42366-A15B-40D3-8A14-AEC91D147E3D}"/>
              </a:ext>
            </a:extLst>
          </p:cNvPr>
          <p:cNvSpPr>
            <a:spLocks noGrp="1"/>
          </p:cNvSpPr>
          <p:nvPr/>
        </p:nvSpPr>
        <p:spPr>
          <a:xfrm>
            <a:off x="4619625" y="2771775"/>
            <a:ext cx="295275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findByUsername(username)</a:t>
            </a:r>
          </a:p>
        </p:txBody>
      </p:sp>
      <p:sp>
        <p:nvSpPr>
          <p:cNvPr id="40" name="native-355">
            <a:extLst>
              <a:ext uri="{FF2B5EF4-FFF2-40B4-BE49-F238E27FC236}">
                <a16:creationId xmlns:a16="http://schemas.microsoft.com/office/drawing/2014/main" id="{7538E551-C6D0-498B-9312-837BA4333E4D}"/>
              </a:ext>
            </a:extLst>
          </p:cNvPr>
          <p:cNvSpPr>
            <a:spLocks noGrp="1"/>
          </p:cNvSpPr>
          <p:nvPr/>
        </p:nvSpPr>
        <p:spPr>
          <a:xfrm>
            <a:off x="7662863" y="3529013"/>
            <a:ext cx="9525" cy="9525"/>
          </a:xfrm>
          <a:prstGeom prst="rect">
            <a:avLst/>
          </a:prstGeom>
          <a:noFill/>
          <a:ln w="0">
            <a:noFill/>
          </a:ln>
        </p:spPr>
        <p:txBody>
          <a:bodyPr/>
          <a:lstStyle/>
          <a:p>
            <a:endParaRPr lang="en-US"/>
          </a:p>
        </p:txBody>
      </p:sp>
      <p:sp>
        <p:nvSpPr>
          <p:cNvPr id="41" name="native-356">
            <a:extLst>
              <a:ext uri="{FF2B5EF4-FFF2-40B4-BE49-F238E27FC236}">
                <a16:creationId xmlns:a16="http://schemas.microsoft.com/office/drawing/2014/main" id="{2A9F233D-B334-4068-B4DB-FC20F271DB90}"/>
              </a:ext>
            </a:extLst>
          </p:cNvPr>
          <p:cNvSpPr>
            <a:spLocks noGrp="1"/>
          </p:cNvSpPr>
          <p:nvPr/>
        </p:nvSpPr>
        <p:spPr>
          <a:xfrm>
            <a:off x="4519613" y="3529013"/>
            <a:ext cx="9525" cy="9525"/>
          </a:xfrm>
          <a:prstGeom prst="rect">
            <a:avLst/>
          </a:prstGeom>
          <a:noFill/>
          <a:ln w="0">
            <a:noFill/>
          </a:ln>
        </p:spPr>
        <p:txBody>
          <a:bodyPr/>
          <a:lstStyle/>
          <a:p>
            <a:endParaRPr lang="en-US"/>
          </a:p>
        </p:txBody>
      </p:sp>
      <p:cxnSp>
        <p:nvCxnSpPr>
          <p:cNvPr id="98" name="Straight Arrow Connector 97"/>
          <p:cNvCxnSpPr>
            <a:stCxn id="40" idx="3"/>
            <a:endCxn id="41" idx="1"/>
          </p:cNvCxnSpPr>
          <p:nvPr/>
        </p:nvCxnSpPr>
        <p:spPr>
          <a:xfrm flipH="1">
            <a:off x="4519613" y="3533776"/>
            <a:ext cx="3152775" cy="0"/>
          </a:xfrm>
          <a:prstGeom prst="straightConnector1">
            <a:avLst/>
          </a:prstGeom>
          <a:ln w="19050">
            <a:solidFill>
              <a:srgbClr val="3478B9"/>
            </a:solidFill>
            <a:prstDash val="dash"/>
            <a:tailEnd type="triangle" w="med" len="med"/>
          </a:ln>
        </p:spPr>
      </p:cxnSp>
      <p:sp>
        <p:nvSpPr>
          <p:cNvPr id="43" name="native-357">
            <a:extLst>
              <a:ext uri="{FF2B5EF4-FFF2-40B4-BE49-F238E27FC236}">
                <a16:creationId xmlns:a16="http://schemas.microsoft.com/office/drawing/2014/main" id="{9F0029C7-1A42-4642-B6FB-0229A896A583}"/>
              </a:ext>
            </a:extLst>
          </p:cNvPr>
          <p:cNvSpPr>
            <a:spLocks noGrp="1"/>
          </p:cNvSpPr>
          <p:nvPr/>
        </p:nvSpPr>
        <p:spPr>
          <a:xfrm>
            <a:off x="4619625" y="3267075"/>
            <a:ext cx="295275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AppUser + BCrypt hash</a:t>
            </a:r>
          </a:p>
        </p:txBody>
      </p:sp>
      <p:sp>
        <p:nvSpPr>
          <p:cNvPr id="44" name="native-358">
            <a:extLst>
              <a:ext uri="{FF2B5EF4-FFF2-40B4-BE49-F238E27FC236}">
                <a16:creationId xmlns:a16="http://schemas.microsoft.com/office/drawing/2014/main" id="{DCAA2E1C-D1D5-446B-AD25-F169C9C5D4E9}"/>
              </a:ext>
            </a:extLst>
          </p:cNvPr>
          <p:cNvSpPr>
            <a:spLocks noGrp="1"/>
          </p:cNvSpPr>
          <p:nvPr/>
        </p:nvSpPr>
        <p:spPr>
          <a:xfrm>
            <a:off x="4519613" y="4024313"/>
            <a:ext cx="9525" cy="9525"/>
          </a:xfrm>
          <a:prstGeom prst="rect">
            <a:avLst/>
          </a:prstGeom>
          <a:noFill/>
          <a:ln w="0">
            <a:noFill/>
          </a:ln>
        </p:spPr>
        <p:txBody>
          <a:bodyPr/>
          <a:lstStyle/>
          <a:p>
            <a:endParaRPr lang="en-US"/>
          </a:p>
        </p:txBody>
      </p:sp>
      <p:sp>
        <p:nvSpPr>
          <p:cNvPr id="45" name="native-359">
            <a:extLst>
              <a:ext uri="{FF2B5EF4-FFF2-40B4-BE49-F238E27FC236}">
                <a16:creationId xmlns:a16="http://schemas.microsoft.com/office/drawing/2014/main" id="{68107FE3-198E-45F3-9CEE-58528349148F}"/>
              </a:ext>
            </a:extLst>
          </p:cNvPr>
          <p:cNvSpPr>
            <a:spLocks noGrp="1"/>
          </p:cNvSpPr>
          <p:nvPr/>
        </p:nvSpPr>
        <p:spPr>
          <a:xfrm>
            <a:off x="10806113" y="4024313"/>
            <a:ext cx="9525" cy="9525"/>
          </a:xfrm>
          <a:prstGeom prst="rect">
            <a:avLst/>
          </a:prstGeom>
          <a:noFill/>
          <a:ln w="0">
            <a:noFill/>
          </a:ln>
        </p:spPr>
        <p:txBody>
          <a:bodyPr/>
          <a:lstStyle/>
          <a:p>
            <a:endParaRPr lang="en-US"/>
          </a:p>
        </p:txBody>
      </p:sp>
      <p:cxnSp>
        <p:nvCxnSpPr>
          <p:cNvPr id="102" name="Straight Arrow Connector 101"/>
          <p:cNvCxnSpPr>
            <a:stCxn id="44" idx="3"/>
            <a:endCxn id="45" idx="1"/>
          </p:cNvCxnSpPr>
          <p:nvPr/>
        </p:nvCxnSpPr>
        <p:spPr>
          <a:xfrm>
            <a:off x="4529138" y="4029076"/>
            <a:ext cx="6276975" cy="0"/>
          </a:xfrm>
          <a:prstGeom prst="straightConnector1">
            <a:avLst/>
          </a:prstGeom>
          <a:ln w="19050">
            <a:solidFill>
              <a:srgbClr val="0F8B8D"/>
            </a:solidFill>
            <a:prstDash val="solid"/>
            <a:tailEnd type="triangle" w="med" len="med"/>
          </a:ln>
        </p:spPr>
      </p:cxnSp>
      <p:sp>
        <p:nvSpPr>
          <p:cNvPr id="47" name="native-360">
            <a:extLst>
              <a:ext uri="{FF2B5EF4-FFF2-40B4-BE49-F238E27FC236}">
                <a16:creationId xmlns:a16="http://schemas.microsoft.com/office/drawing/2014/main" id="{E1A4C875-52FC-45F0-8509-950041218A41}"/>
              </a:ext>
            </a:extLst>
          </p:cNvPr>
          <p:cNvSpPr>
            <a:spLocks noGrp="1"/>
          </p:cNvSpPr>
          <p:nvPr/>
        </p:nvSpPr>
        <p:spPr>
          <a:xfrm>
            <a:off x="4619625" y="3762375"/>
            <a:ext cx="6096000" cy="238125"/>
          </a:xfrm>
          <a:prstGeom prst="rect">
            <a:avLst/>
          </a:prstGeom>
          <a:solidFill>
            <a:srgbClr val="FFFFFF"/>
          </a:solidFill>
          <a:ln w="0">
            <a:noFill/>
          </a:ln>
        </p:spPr>
        <p:txBody>
          <a:bodyPr anchor="ctr">
            <a:noAutofit/>
          </a:bodyPr>
          <a:lstStyle/>
          <a:p>
            <a:pPr algn="ctr">
              <a:defRPr sz="1275" b="0">
                <a:solidFill>
                  <a:srgbClr val="10243A"/>
                </a:solidFill>
                <a:latin typeface="Arial"/>
                <a:ea typeface="Arial"/>
                <a:cs typeface="Arial"/>
              </a:defRPr>
            </a:pPr>
            <a:r>
              <a:rPr sz="1275" b="0">
                <a:solidFill>
                  <a:srgbClr val="10243A"/>
                </a:solidFill>
                <a:latin typeface="Arial"/>
                <a:ea typeface="Arial"/>
                <a:cs typeface="Arial"/>
              </a:rPr>
              <a:t>generateToken(username, role)</a:t>
            </a:r>
          </a:p>
        </p:txBody>
      </p:sp>
      <p:sp>
        <p:nvSpPr>
          <p:cNvPr id="48" name="native-361">
            <a:extLst>
              <a:ext uri="{FF2B5EF4-FFF2-40B4-BE49-F238E27FC236}">
                <a16:creationId xmlns:a16="http://schemas.microsoft.com/office/drawing/2014/main" id="{B35FED56-7477-40F7-A903-FA20707A706A}"/>
              </a:ext>
            </a:extLst>
          </p:cNvPr>
          <p:cNvSpPr>
            <a:spLocks noGrp="1"/>
          </p:cNvSpPr>
          <p:nvPr/>
        </p:nvSpPr>
        <p:spPr>
          <a:xfrm>
            <a:off x="10806113" y="4519613"/>
            <a:ext cx="9525" cy="9525"/>
          </a:xfrm>
          <a:prstGeom prst="rect">
            <a:avLst/>
          </a:prstGeom>
          <a:noFill/>
          <a:ln w="0">
            <a:noFill/>
          </a:ln>
        </p:spPr>
        <p:txBody>
          <a:bodyPr/>
          <a:lstStyle/>
          <a:p>
            <a:endParaRPr lang="en-US"/>
          </a:p>
        </p:txBody>
      </p:sp>
      <p:sp>
        <p:nvSpPr>
          <p:cNvPr id="49" name="native-362">
            <a:extLst>
              <a:ext uri="{FF2B5EF4-FFF2-40B4-BE49-F238E27FC236}">
                <a16:creationId xmlns:a16="http://schemas.microsoft.com/office/drawing/2014/main" id="{9E0A668F-1547-44F4-ABA0-38C78A4D8C23}"/>
              </a:ext>
            </a:extLst>
          </p:cNvPr>
          <p:cNvSpPr>
            <a:spLocks noGrp="1"/>
          </p:cNvSpPr>
          <p:nvPr/>
        </p:nvSpPr>
        <p:spPr>
          <a:xfrm>
            <a:off x="4519613" y="4519613"/>
            <a:ext cx="9525" cy="9525"/>
          </a:xfrm>
          <a:prstGeom prst="rect">
            <a:avLst/>
          </a:prstGeom>
          <a:noFill/>
          <a:ln w="0">
            <a:noFill/>
          </a:ln>
        </p:spPr>
        <p:txBody>
          <a:bodyPr/>
          <a:lstStyle/>
          <a:p>
            <a:endParaRPr lang="en-US"/>
          </a:p>
        </p:txBody>
      </p:sp>
      <p:cxnSp>
        <p:nvCxnSpPr>
          <p:cNvPr id="106" name="Straight Arrow Connector 105"/>
          <p:cNvCxnSpPr>
            <a:stCxn id="48" idx="3"/>
            <a:endCxn id="49" idx="1"/>
          </p:cNvCxnSpPr>
          <p:nvPr/>
        </p:nvCxnSpPr>
        <p:spPr>
          <a:xfrm flipH="1">
            <a:off x="4519613" y="4524376"/>
            <a:ext cx="6296025" cy="0"/>
          </a:xfrm>
          <a:prstGeom prst="straightConnector1">
            <a:avLst/>
          </a:prstGeom>
          <a:ln w="19050">
            <a:solidFill>
              <a:srgbClr val="3478B9"/>
            </a:solidFill>
            <a:prstDash val="dash"/>
            <a:tailEnd type="triangle" w="med" len="med"/>
          </a:ln>
        </p:spPr>
      </p:cxnSp>
      <p:sp>
        <p:nvSpPr>
          <p:cNvPr id="51" name="native-363">
            <a:extLst>
              <a:ext uri="{FF2B5EF4-FFF2-40B4-BE49-F238E27FC236}">
                <a16:creationId xmlns:a16="http://schemas.microsoft.com/office/drawing/2014/main" id="{06980BF9-6E31-4474-BC26-1EF2262A0F71}"/>
              </a:ext>
            </a:extLst>
          </p:cNvPr>
          <p:cNvSpPr>
            <a:spLocks noGrp="1"/>
          </p:cNvSpPr>
          <p:nvPr/>
        </p:nvSpPr>
        <p:spPr>
          <a:xfrm>
            <a:off x="4619625" y="4257675"/>
            <a:ext cx="609600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Signed JWT, exp = 24h</a:t>
            </a:r>
          </a:p>
        </p:txBody>
      </p:sp>
      <p:sp>
        <p:nvSpPr>
          <p:cNvPr id="52" name="native-364">
            <a:extLst>
              <a:ext uri="{FF2B5EF4-FFF2-40B4-BE49-F238E27FC236}">
                <a16:creationId xmlns:a16="http://schemas.microsoft.com/office/drawing/2014/main" id="{BF088CF9-166A-490B-A3CD-C94EEE217FD6}"/>
              </a:ext>
            </a:extLst>
          </p:cNvPr>
          <p:cNvSpPr>
            <a:spLocks noGrp="1"/>
          </p:cNvSpPr>
          <p:nvPr/>
        </p:nvSpPr>
        <p:spPr>
          <a:xfrm>
            <a:off x="4519613" y="5014913"/>
            <a:ext cx="9525" cy="9525"/>
          </a:xfrm>
          <a:prstGeom prst="rect">
            <a:avLst/>
          </a:prstGeom>
          <a:noFill/>
          <a:ln w="0">
            <a:noFill/>
          </a:ln>
        </p:spPr>
        <p:txBody>
          <a:bodyPr/>
          <a:lstStyle/>
          <a:p>
            <a:endParaRPr lang="en-US"/>
          </a:p>
        </p:txBody>
      </p:sp>
      <p:sp>
        <p:nvSpPr>
          <p:cNvPr id="53" name="native-365">
            <a:extLst>
              <a:ext uri="{FF2B5EF4-FFF2-40B4-BE49-F238E27FC236}">
                <a16:creationId xmlns:a16="http://schemas.microsoft.com/office/drawing/2014/main" id="{4D460C49-D923-4B42-A617-0F68FB4EA484}"/>
              </a:ext>
            </a:extLst>
          </p:cNvPr>
          <p:cNvSpPr>
            <a:spLocks noGrp="1"/>
          </p:cNvSpPr>
          <p:nvPr/>
        </p:nvSpPr>
        <p:spPr>
          <a:xfrm>
            <a:off x="1376363" y="5014913"/>
            <a:ext cx="9525" cy="9525"/>
          </a:xfrm>
          <a:prstGeom prst="rect">
            <a:avLst/>
          </a:prstGeom>
          <a:noFill/>
          <a:ln w="0">
            <a:noFill/>
          </a:ln>
        </p:spPr>
        <p:txBody>
          <a:bodyPr/>
          <a:lstStyle/>
          <a:p>
            <a:endParaRPr lang="en-US"/>
          </a:p>
        </p:txBody>
      </p:sp>
      <p:cxnSp>
        <p:nvCxnSpPr>
          <p:cNvPr id="110" name="Straight Arrow Connector 109"/>
          <p:cNvCxnSpPr>
            <a:stCxn id="52" idx="3"/>
            <a:endCxn id="53" idx="1"/>
          </p:cNvCxnSpPr>
          <p:nvPr/>
        </p:nvCxnSpPr>
        <p:spPr>
          <a:xfrm flipH="1">
            <a:off x="1376363" y="5019676"/>
            <a:ext cx="3152775" cy="0"/>
          </a:xfrm>
          <a:prstGeom prst="straightConnector1">
            <a:avLst/>
          </a:prstGeom>
          <a:ln w="19050">
            <a:solidFill>
              <a:srgbClr val="3478B9"/>
            </a:solidFill>
            <a:prstDash val="dash"/>
            <a:tailEnd type="triangle" w="med" len="med"/>
          </a:ln>
        </p:spPr>
      </p:cxnSp>
      <p:sp>
        <p:nvSpPr>
          <p:cNvPr id="55" name="native-366">
            <a:extLst>
              <a:ext uri="{FF2B5EF4-FFF2-40B4-BE49-F238E27FC236}">
                <a16:creationId xmlns:a16="http://schemas.microsoft.com/office/drawing/2014/main" id="{C9ED4E3F-3A5C-4F6D-A416-DCFBDE219ED0}"/>
              </a:ext>
            </a:extLst>
          </p:cNvPr>
          <p:cNvSpPr>
            <a:spLocks noGrp="1"/>
          </p:cNvSpPr>
          <p:nvPr/>
        </p:nvSpPr>
        <p:spPr>
          <a:xfrm>
            <a:off x="1476375" y="4752975"/>
            <a:ext cx="2952750" cy="238125"/>
          </a:xfrm>
          <a:prstGeom prst="rect">
            <a:avLst/>
          </a:prstGeom>
          <a:solidFill>
            <a:srgbClr val="FFFFFF"/>
          </a:solidFill>
          <a:ln w="0">
            <a:noFill/>
          </a:ln>
        </p:spPr>
        <p:txBody>
          <a:bodyPr anchor="ctr">
            <a:noAutofit/>
          </a:bodyPr>
          <a:lstStyle/>
          <a:p>
            <a:pPr algn="ctr">
              <a:defRPr sz="1275" b="0">
                <a:solidFill>
                  <a:srgbClr val="3478B9"/>
                </a:solidFill>
                <a:latin typeface="Arial"/>
                <a:ea typeface="Arial"/>
                <a:cs typeface="Arial"/>
              </a:defRPr>
            </a:pPr>
            <a:r>
              <a:rPr sz="1275" b="0">
                <a:solidFill>
                  <a:srgbClr val="3478B9"/>
                </a:solidFill>
                <a:latin typeface="Arial"/>
                <a:ea typeface="Arial"/>
                <a:cs typeface="Arial"/>
              </a:rPr>
              <a:t>token, username, role</a:t>
            </a:r>
          </a:p>
        </p:txBody>
      </p:sp>
      <p:sp>
        <p:nvSpPr>
          <p:cNvPr id="56" name="native-367">
            <a:extLst>
              <a:ext uri="{FF2B5EF4-FFF2-40B4-BE49-F238E27FC236}">
                <a16:creationId xmlns:a16="http://schemas.microsoft.com/office/drawing/2014/main" id="{6FFB44A4-7A9C-41BF-9677-8B4887505C6D}"/>
              </a:ext>
            </a:extLst>
          </p:cNvPr>
          <p:cNvSpPr>
            <a:spLocks noGrp="1"/>
          </p:cNvSpPr>
          <p:nvPr/>
        </p:nvSpPr>
        <p:spPr>
          <a:xfrm>
            <a:off x="571500" y="5810250"/>
            <a:ext cx="11049000" cy="304800"/>
          </a:xfrm>
          <a:prstGeom prst="rect">
            <a:avLst/>
          </a:prstGeom>
          <a:noFill/>
          <a:ln w="0">
            <a:noFill/>
          </a:ln>
        </p:spPr>
        <p:txBody>
          <a:bodyPr anchor="ctr">
            <a:noAutofit/>
          </a:bodyPr>
          <a:lstStyle/>
          <a:p>
            <a:pPr algn="l">
              <a:defRPr sz="1350" b="0">
                <a:solidFill>
                  <a:srgbClr val="5D6C79"/>
                </a:solidFill>
                <a:latin typeface="Arial"/>
                <a:ea typeface="Arial"/>
                <a:cs typeface="Arial"/>
              </a:defRPr>
            </a:pPr>
            <a:r>
              <a:rPr sz="1350" b="0">
                <a:solidFill>
                  <a:srgbClr val="5D6C79"/>
                </a:solidFill>
                <a:latin typeface="Arial"/>
                <a:ea typeface="Arial"/>
                <a:cs typeface="Arial"/>
              </a:rPr>
              <a:t>AuthController checks BCrypt.matches(...) and the enabled flag before issuing a token.</a:t>
            </a:r>
          </a:p>
        </p:txBody>
      </p:sp>
    </p:spTree>
    <p:extLst>
      <p:ext uri="{BB962C8B-B14F-4D97-AF65-F5344CB8AC3E}">
        <p14:creationId xmlns:p14="http://schemas.microsoft.com/office/powerpoint/2010/main" val="593943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JWT Isolation &amp; Session Management</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Security best practices for environment integrity and access control</a:t>
            </a:r>
            <a:endParaRPr lang="en-US" dirty="0"/>
          </a:p>
        </p:txBody>
      </p:sp>
      <p:sp>
        <p:nvSpPr>
          <p:cNvPr id="5" name="Text 3"/>
          <p:cNvSpPr/>
          <p:nvPr/>
        </p:nvSpPr>
        <p:spPr>
          <a:xfrm>
            <a:off x="5429250" y="2377976"/>
            <a:ext cx="6635651" cy="3379143"/>
          </a:xfrm>
          <a:prstGeom prst="rect">
            <a:avLst/>
          </a:prstGeom>
          <a:noFill/>
          <a:ln>
            <a:miter lim="800000"/>
          </a:ln>
        </p:spPr>
        <p:txBody>
          <a:bodyPr wrap="square" lIns="0" tIns="0" rIns="0" bIns="0" rtlCol="0" anchor="t"/>
          <a:lstStyle/>
          <a:p>
            <a:pPr marL="241300" indent="-241300" algn="l" fontAlgn="ctr">
              <a:lnSpc>
                <a:spcPts val="2246"/>
              </a:lnSpc>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Environment Secret Management</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Dev and production use APP_JWT_SECRET. Staging uses</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STAGING_APP_JWT_SECRET. Replace committed placeholders.</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Cross-environment tokens return 401 in the reference.</a:t>
            </a:r>
            <a:endParaRPr lang="en-US" dirty="0"/>
          </a:p>
          <a:p>
            <a:pPr marL="241300" indent="-241300" algn="l" fontAlgn="ctr">
              <a:lnSpc>
                <a:spcPts val="2246"/>
              </a:lnSpc>
              <a:spcBef>
                <a:spcPts val="2055"/>
              </a:spcBef>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401 Unauthorized Handling</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Trigger immediate session clearance and redirect to login when a token</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is found to be invalid or expired.</a:t>
            </a:r>
            <a:endParaRPr lang="en-US" dirty="0"/>
          </a:p>
          <a:p>
            <a:pPr marL="241300" indent="-241300" algn="l" fontAlgn="ctr">
              <a:lnSpc>
                <a:spcPts val="2246"/>
              </a:lnSpc>
              <a:spcBef>
                <a:spcPts val="2055"/>
              </a:spcBef>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403 Forbidden Logic</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Maintain active session state when an authenticated user attempts to</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access a resource beyond their permission level.</a:t>
            </a:r>
            <a:endParaRPr lang="en-US" dirty="0"/>
          </a:p>
        </p:txBody>
      </p:sp>
      <p:pic>
        <p:nvPicPr>
          <p:cNvPr id="7" name="Picture 6">
            <a:extLst>
              <a:ext uri="{FF2B5EF4-FFF2-40B4-BE49-F238E27FC236}">
                <a16:creationId xmlns:a16="http://schemas.microsoft.com/office/drawing/2014/main" id="{FA484F8F-0F3A-2970-465E-348FB400C6D3}"/>
              </a:ext>
            </a:extLst>
          </p:cNvPr>
          <p:cNvPicPr>
            <a:picLocks noChangeAspect="1"/>
          </p:cNvPicPr>
          <p:nvPr/>
        </p:nvPicPr>
        <p:blipFill>
          <a:blip r:embed="rId3"/>
          <a:stretch>
            <a:fillRect/>
          </a:stretch>
        </p:blipFill>
        <p:spPr>
          <a:xfrm>
            <a:off x="824248" y="1993511"/>
            <a:ext cx="3877614" cy="387761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Roles and Access Boundaries</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Capability Matrix and Security Architecture Overview</a:t>
            </a:r>
            <a:endParaRPr lang="en-US" dirty="0"/>
          </a:p>
        </p:txBody>
      </p:sp>
      <p:sp>
        <p:nvSpPr>
          <p:cNvPr id="4" name="Shape 2"/>
          <p:cNvSpPr/>
          <p:nvPr/>
        </p:nvSpPr>
        <p:spPr>
          <a:xfrm>
            <a:off x="476250" y="1743075"/>
            <a:ext cx="11239500" cy="3667125"/>
          </a:xfrm>
          <a:prstGeom prst="roundRect">
            <a:avLst>
              <a:gd name="adj" fmla="val 2494"/>
            </a:avLst>
          </a:prstGeom>
          <a:solidFill>
            <a:srgbClr val="000000">
              <a:alpha val="0"/>
            </a:srgbClr>
          </a:solidFill>
          <a:ln>
            <a:miter lim="800000"/>
          </a:ln>
        </p:spPr>
        <p:txBody>
          <a:bodyPr/>
          <a:lstStyle/>
          <a:p>
            <a:endParaRPr lang="en-US"/>
          </a:p>
        </p:txBody>
      </p:sp>
      <p:pic>
        <p:nvPicPr>
          <p:cNvPr id="5" name="Image 0" descr="-4c56f75e.png"/>
          <p:cNvPicPr>
            <a:picLocks noChangeAspect="1"/>
          </p:cNvPicPr>
          <p:nvPr/>
        </p:nvPicPr>
        <p:blipFill>
          <a:blip r:embed="rId3"/>
          <a:stretch>
            <a:fillRect/>
          </a:stretch>
        </p:blipFill>
        <p:spPr>
          <a:xfrm>
            <a:off x="476250" y="1743075"/>
            <a:ext cx="11249025" cy="3676650"/>
          </a:xfrm>
          <a:prstGeom prst="rect">
            <a:avLst/>
          </a:prstGeom>
        </p:spPr>
      </p:pic>
      <p:pic>
        <p:nvPicPr>
          <p:cNvPr id="6" name="Image 1" descr="-6ee2fede.png"/>
          <p:cNvPicPr>
            <a:picLocks noChangeAspect="1"/>
          </p:cNvPicPr>
          <p:nvPr/>
        </p:nvPicPr>
        <p:blipFill>
          <a:blip r:embed="rId4"/>
          <a:stretch>
            <a:fillRect/>
          </a:stretch>
        </p:blipFill>
        <p:spPr>
          <a:xfrm>
            <a:off x="476250" y="1743075"/>
            <a:ext cx="11239500" cy="3667125"/>
          </a:xfrm>
          <a:prstGeom prst="rect">
            <a:avLst/>
          </a:prstGeom>
        </p:spPr>
      </p:pic>
      <p:sp>
        <p:nvSpPr>
          <p:cNvPr id="7" name="Text 3"/>
          <p:cNvSpPr/>
          <p:nvPr/>
        </p:nvSpPr>
        <p:spPr>
          <a:xfrm>
            <a:off x="476250" y="1743075"/>
            <a:ext cx="2474661" cy="1128346"/>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Role</a:t>
            </a:r>
            <a:endParaRPr lang="en-US" dirty="0"/>
          </a:p>
        </p:txBody>
      </p:sp>
      <p:sp>
        <p:nvSpPr>
          <p:cNvPr id="8" name="Text 4"/>
          <p:cNvSpPr/>
          <p:nvPr/>
        </p:nvSpPr>
        <p:spPr>
          <a:xfrm>
            <a:off x="2950911" y="1743075"/>
            <a:ext cx="2779488" cy="1128346"/>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User Management</a:t>
            </a:r>
            <a:endParaRPr lang="en-US" dirty="0"/>
          </a:p>
        </p:txBody>
      </p:sp>
      <p:sp>
        <p:nvSpPr>
          <p:cNvPr id="9" name="Text 5"/>
          <p:cNvSpPr/>
          <p:nvPr/>
        </p:nvSpPr>
        <p:spPr>
          <a:xfrm>
            <a:off x="5730399" y="1743075"/>
            <a:ext cx="2138776" cy="1128346"/>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FHIR Access</a:t>
            </a:r>
            <a:endParaRPr lang="en-US" dirty="0"/>
          </a:p>
        </p:txBody>
      </p:sp>
      <p:sp>
        <p:nvSpPr>
          <p:cNvPr id="10" name="Text 6"/>
          <p:cNvSpPr/>
          <p:nvPr/>
        </p:nvSpPr>
        <p:spPr>
          <a:xfrm>
            <a:off x="7869175" y="1743075"/>
            <a:ext cx="1760521" cy="1128346"/>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Statistics</a:t>
            </a:r>
            <a:endParaRPr lang="en-US" dirty="0"/>
          </a:p>
        </p:txBody>
      </p:sp>
      <p:sp>
        <p:nvSpPr>
          <p:cNvPr id="11" name="Text 7"/>
          <p:cNvSpPr/>
          <p:nvPr/>
        </p:nvSpPr>
        <p:spPr>
          <a:xfrm>
            <a:off x="9629696" y="1743075"/>
            <a:ext cx="2086054" cy="1128346"/>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API Console</a:t>
            </a:r>
            <a:endParaRPr lang="en-US" dirty="0"/>
          </a:p>
        </p:txBody>
      </p:sp>
      <p:sp>
        <p:nvSpPr>
          <p:cNvPr id="12" name="Text 8"/>
          <p:cNvSpPr/>
          <p:nvPr/>
        </p:nvSpPr>
        <p:spPr>
          <a:xfrm>
            <a:off x="476250" y="2871421"/>
            <a:ext cx="2474661"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ADMIN</a:t>
            </a:r>
            <a:endParaRPr lang="en-US" dirty="0"/>
          </a:p>
        </p:txBody>
      </p:sp>
      <p:sp>
        <p:nvSpPr>
          <p:cNvPr id="13" name="Text 9"/>
          <p:cNvSpPr/>
          <p:nvPr/>
        </p:nvSpPr>
        <p:spPr>
          <a:xfrm>
            <a:off x="2950911" y="2871421"/>
            <a:ext cx="2779488"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Full Access</a:t>
            </a:r>
            <a:endParaRPr lang="en-US" dirty="0"/>
          </a:p>
        </p:txBody>
      </p:sp>
      <p:sp>
        <p:nvSpPr>
          <p:cNvPr id="14" name="Text 10"/>
          <p:cNvSpPr/>
          <p:nvPr/>
        </p:nvSpPr>
        <p:spPr>
          <a:xfrm>
            <a:off x="5730399" y="2871421"/>
            <a:ext cx="2138776"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CRUD</a:t>
            </a:r>
            <a:endParaRPr lang="en-US" dirty="0"/>
          </a:p>
        </p:txBody>
      </p:sp>
      <p:sp>
        <p:nvSpPr>
          <p:cNvPr id="15" name="Text 11"/>
          <p:cNvSpPr/>
          <p:nvPr/>
        </p:nvSpPr>
        <p:spPr>
          <a:xfrm>
            <a:off x="7869175" y="2871421"/>
            <a:ext cx="1760521"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View</a:t>
            </a:r>
            <a:endParaRPr lang="en-US" dirty="0"/>
          </a:p>
        </p:txBody>
      </p:sp>
      <p:sp>
        <p:nvSpPr>
          <p:cNvPr id="16" name="Text 12"/>
          <p:cNvSpPr/>
          <p:nvPr/>
        </p:nvSpPr>
        <p:spPr>
          <a:xfrm>
            <a:off x="9629696" y="2871421"/>
            <a:ext cx="2086054"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Full Access</a:t>
            </a:r>
            <a:endParaRPr lang="en-US" dirty="0"/>
          </a:p>
        </p:txBody>
      </p:sp>
      <p:sp>
        <p:nvSpPr>
          <p:cNvPr id="17" name="Text 13"/>
          <p:cNvSpPr/>
          <p:nvPr/>
        </p:nvSpPr>
        <p:spPr>
          <a:xfrm>
            <a:off x="476250" y="3717681"/>
            <a:ext cx="2474661"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PRACTITIONER</a:t>
            </a:r>
            <a:endParaRPr lang="en-US" dirty="0"/>
          </a:p>
        </p:txBody>
      </p:sp>
      <p:sp>
        <p:nvSpPr>
          <p:cNvPr id="18" name="Text 14"/>
          <p:cNvSpPr/>
          <p:nvPr/>
        </p:nvSpPr>
        <p:spPr>
          <a:xfrm>
            <a:off x="2950911" y="3717681"/>
            <a:ext cx="2779488"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No access</a:t>
            </a:r>
            <a:endParaRPr lang="en-US" dirty="0"/>
          </a:p>
        </p:txBody>
      </p:sp>
      <p:sp>
        <p:nvSpPr>
          <p:cNvPr id="19" name="Text 15"/>
          <p:cNvSpPr/>
          <p:nvPr/>
        </p:nvSpPr>
        <p:spPr>
          <a:xfrm>
            <a:off x="5730399" y="3717681"/>
            <a:ext cx="2138776"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Read/Write</a:t>
            </a:r>
            <a:endParaRPr lang="en-US" dirty="0"/>
          </a:p>
        </p:txBody>
      </p:sp>
      <p:sp>
        <p:nvSpPr>
          <p:cNvPr id="20" name="Text 16"/>
          <p:cNvSpPr/>
          <p:nvPr/>
        </p:nvSpPr>
        <p:spPr>
          <a:xfrm>
            <a:off x="7869175" y="3717681"/>
            <a:ext cx="1760521"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View</a:t>
            </a:r>
            <a:endParaRPr lang="en-US" dirty="0"/>
          </a:p>
        </p:txBody>
      </p:sp>
      <p:sp>
        <p:nvSpPr>
          <p:cNvPr id="21" name="Text 17"/>
          <p:cNvSpPr/>
          <p:nvPr/>
        </p:nvSpPr>
        <p:spPr>
          <a:xfrm>
            <a:off x="9629696" y="3717681"/>
            <a:ext cx="2086054"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Not specified</a:t>
            </a:r>
            <a:endParaRPr lang="en-US" dirty="0"/>
          </a:p>
        </p:txBody>
      </p:sp>
      <p:sp>
        <p:nvSpPr>
          <p:cNvPr id="22" name="Text 18"/>
          <p:cNvSpPr/>
          <p:nvPr/>
        </p:nvSpPr>
        <p:spPr>
          <a:xfrm>
            <a:off x="476250" y="4563940"/>
            <a:ext cx="2474661"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READONLY</a:t>
            </a:r>
            <a:endParaRPr lang="en-US" dirty="0"/>
          </a:p>
        </p:txBody>
      </p:sp>
      <p:sp>
        <p:nvSpPr>
          <p:cNvPr id="23" name="Text 19"/>
          <p:cNvSpPr/>
          <p:nvPr/>
        </p:nvSpPr>
        <p:spPr>
          <a:xfrm>
            <a:off x="2950911" y="4563940"/>
            <a:ext cx="2779488"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No access</a:t>
            </a:r>
            <a:endParaRPr lang="en-US" dirty="0"/>
          </a:p>
        </p:txBody>
      </p:sp>
      <p:sp>
        <p:nvSpPr>
          <p:cNvPr id="24" name="Text 20"/>
          <p:cNvSpPr/>
          <p:nvPr/>
        </p:nvSpPr>
        <p:spPr>
          <a:xfrm>
            <a:off x="5730399" y="4563940"/>
            <a:ext cx="2138776"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Read-Only</a:t>
            </a:r>
            <a:endParaRPr lang="en-US" dirty="0"/>
          </a:p>
        </p:txBody>
      </p:sp>
      <p:sp>
        <p:nvSpPr>
          <p:cNvPr id="25" name="Text 21"/>
          <p:cNvSpPr/>
          <p:nvPr/>
        </p:nvSpPr>
        <p:spPr>
          <a:xfrm>
            <a:off x="7869175" y="4563940"/>
            <a:ext cx="1760521"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View</a:t>
            </a:r>
            <a:endParaRPr lang="en-US" dirty="0"/>
          </a:p>
        </p:txBody>
      </p:sp>
      <p:sp>
        <p:nvSpPr>
          <p:cNvPr id="26" name="Text 22"/>
          <p:cNvSpPr/>
          <p:nvPr/>
        </p:nvSpPr>
        <p:spPr>
          <a:xfrm>
            <a:off x="9629696" y="4563940"/>
            <a:ext cx="2086054" cy="846260"/>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Not specified</a:t>
            </a:r>
            <a:endParaRPr lang="en-US" dirty="0"/>
          </a:p>
        </p:txBody>
      </p:sp>
      <p:sp>
        <p:nvSpPr>
          <p:cNvPr id="27" name="Shape 23"/>
          <p:cNvSpPr/>
          <p:nvPr/>
        </p:nvSpPr>
        <p:spPr>
          <a:xfrm>
            <a:off x="0" y="5886450"/>
            <a:ext cx="12192000" cy="971550"/>
          </a:xfrm>
          <a:prstGeom prst="rect">
            <a:avLst/>
          </a:prstGeom>
          <a:solidFill>
            <a:srgbClr val="222222"/>
          </a:solidFill>
          <a:ln>
            <a:miter lim="800000"/>
          </a:ln>
        </p:spPr>
        <p:txBody>
          <a:bodyPr/>
          <a:lstStyle/>
          <a:p>
            <a:endParaRPr lang="en-US"/>
          </a:p>
        </p:txBody>
      </p:sp>
      <p:sp>
        <p:nvSpPr>
          <p:cNvPr id="28" name="Text 24"/>
          <p:cNvSpPr/>
          <p:nvPr/>
        </p:nvSpPr>
        <p:spPr>
          <a:xfrm>
            <a:off x="2371725" y="6129040"/>
            <a:ext cx="7448550" cy="482798"/>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Critical Security Note: The /fhir/** endpoint is currently configured as permitAll;</a:t>
            </a:r>
            <a:br>
              <a:rPr lang="en-US" sz="1650" b="1" kern="0" spc="-99" dirty="0">
                <a:solidFill>
                  <a:srgbClr val="FFFFFF"/>
                </a:solidFill>
                <a:latin typeface="Arial" pitchFamily="34" charset="0"/>
                <a:ea typeface="Arial" pitchFamily="34" charset="-122"/>
                <a:cs typeface="Arial" pitchFamily="34" charset="-120"/>
              </a:rPr>
            </a:br>
            <a:r>
              <a:rPr lang="en-US" sz="1650" b="1" kern="0" spc="-99" dirty="0">
                <a:solidFill>
                  <a:srgbClr val="FFFFFF"/>
                </a:solidFill>
                <a:latin typeface="Arial" pitchFamily="34" charset="0"/>
                <a:ea typeface="Arial" pitchFamily="34" charset="-122"/>
                <a:cs typeface="Arial" pitchFamily="34" charset="-120"/>
              </a:rPr>
              <a:t>raw FHIR API access remains unauthenticated despite UI login requirements.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Security Controls &amp; Current Exposure</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Assessment of implemented protective measures and identified security gaps</a:t>
            </a:r>
            <a:endParaRPr lang="en-US" dirty="0"/>
          </a:p>
        </p:txBody>
      </p:sp>
      <p:sp>
        <p:nvSpPr>
          <p:cNvPr id="4" name="Shape 2"/>
          <p:cNvSpPr/>
          <p:nvPr/>
        </p:nvSpPr>
        <p:spPr>
          <a:xfrm>
            <a:off x="2762250" y="2267664"/>
            <a:ext cx="1428750" cy="1428750"/>
          </a:xfrm>
          <a:prstGeom prst="roundRect">
            <a:avLst>
              <a:gd name="adj" fmla="val 6400"/>
            </a:avLst>
          </a:prstGeom>
          <a:solidFill>
            <a:srgbClr val="0F8B8D">
              <a:alpha val="30000"/>
            </a:srgbClr>
          </a:solidFill>
          <a:ln>
            <a:miter lim="800000"/>
          </a:ln>
        </p:spPr>
        <p:txBody>
          <a:bodyPr/>
          <a:lstStyle/>
          <a:p>
            <a:endParaRPr lang="en-US"/>
          </a:p>
        </p:txBody>
      </p:sp>
      <p:pic>
        <p:nvPicPr>
          <p:cNvPr id="5" name="Image 0" descr="-660cca1e.png"/>
          <p:cNvPicPr>
            <a:picLocks noChangeAspect="1"/>
          </p:cNvPicPr>
          <p:nvPr/>
        </p:nvPicPr>
        <p:blipFill>
          <a:blip r:embed="rId3"/>
          <a:stretch>
            <a:fillRect/>
          </a:stretch>
        </p:blipFill>
        <p:spPr>
          <a:xfrm>
            <a:off x="3191995" y="2647055"/>
            <a:ext cx="571500" cy="676275"/>
          </a:xfrm>
          <a:prstGeom prst="rect">
            <a:avLst/>
          </a:prstGeom>
        </p:spPr>
      </p:pic>
      <p:sp>
        <p:nvSpPr>
          <p:cNvPr id="6" name="Text 3"/>
          <p:cNvSpPr/>
          <p:nvPr/>
        </p:nvSpPr>
        <p:spPr>
          <a:xfrm>
            <a:off x="1433513" y="3792260"/>
            <a:ext cx="4086225" cy="263277"/>
          </a:xfrm>
          <a:prstGeom prst="rect">
            <a:avLst/>
          </a:prstGeom>
          <a:noFill/>
          <a:ln>
            <a:miter lim="800000"/>
          </a:ln>
        </p:spPr>
        <p:txBody>
          <a:bodyPr wrap="square" lIns="0" tIns="0" rIns="0" bIns="0" rtlCol="0" anchor="t"/>
          <a:lstStyle/>
          <a:p>
            <a:pPr algn="ctr" fontAlgn="ctr">
              <a:lnSpc>
                <a:spcPts val="2074"/>
              </a:lnSpc>
            </a:pPr>
            <a:r>
              <a:rPr lang="en-US" sz="1800" b="1" kern="0" spc="-108" dirty="0">
                <a:solidFill>
                  <a:srgbClr val="333333"/>
                </a:solidFill>
                <a:latin typeface="Arial" pitchFamily="34" charset="0"/>
                <a:ea typeface="Arial" pitchFamily="34" charset="-122"/>
                <a:cs typeface="Arial" pitchFamily="34" charset="-120"/>
              </a:rPr>
              <a:t>Implemented Security Controls</a:t>
            </a:r>
            <a:endParaRPr lang="en-US" dirty="0"/>
          </a:p>
        </p:txBody>
      </p:sp>
      <p:sp>
        <p:nvSpPr>
          <p:cNvPr id="7" name="Text 4"/>
          <p:cNvSpPr/>
          <p:nvPr/>
        </p:nvSpPr>
        <p:spPr>
          <a:xfrm>
            <a:off x="1297067" y="4134416"/>
            <a:ext cx="4359116" cy="1042392"/>
          </a:xfrm>
          <a:prstGeom prst="rect">
            <a:avLst/>
          </a:prstGeom>
          <a:noFill/>
          <a:ln>
            <a:miter lim="800000"/>
          </a:ln>
        </p:spPr>
        <p:txBody>
          <a:bodyPr wrap="square" lIns="0" tIns="0" rIns="0" bIns="0" rtlCol="0" anchor="t"/>
          <a:lstStyle/>
          <a:p>
            <a:pPr algn="ctr"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Includes BCrypt password hashing, restricted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ADMIN access, authenticated MongoDB, local</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network isolation, and environment-specific</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JWT secrets.</a:t>
            </a:r>
            <a:endParaRPr lang="en-US" dirty="0"/>
          </a:p>
        </p:txBody>
      </p:sp>
      <p:sp>
        <p:nvSpPr>
          <p:cNvPr id="8" name="Shape 5"/>
          <p:cNvSpPr/>
          <p:nvPr/>
        </p:nvSpPr>
        <p:spPr>
          <a:xfrm>
            <a:off x="8001000" y="2267664"/>
            <a:ext cx="1428750" cy="1428750"/>
          </a:xfrm>
          <a:prstGeom prst="roundRect">
            <a:avLst>
              <a:gd name="adj" fmla="val 6400"/>
            </a:avLst>
          </a:prstGeom>
          <a:solidFill>
            <a:srgbClr val="3478B9">
              <a:alpha val="30000"/>
            </a:srgbClr>
          </a:solidFill>
          <a:ln>
            <a:miter lim="800000"/>
          </a:ln>
        </p:spPr>
        <p:txBody>
          <a:bodyPr/>
          <a:lstStyle/>
          <a:p>
            <a:endParaRPr lang="en-US"/>
          </a:p>
        </p:txBody>
      </p:sp>
      <p:pic>
        <p:nvPicPr>
          <p:cNvPr id="9" name="Image 1" descr="18d4f5e2.png"/>
          <p:cNvPicPr>
            <a:picLocks noChangeAspect="1"/>
          </p:cNvPicPr>
          <p:nvPr/>
        </p:nvPicPr>
        <p:blipFill>
          <a:blip r:embed="rId4"/>
          <a:stretch>
            <a:fillRect/>
          </a:stretch>
        </p:blipFill>
        <p:spPr>
          <a:xfrm>
            <a:off x="8388858" y="2613571"/>
            <a:ext cx="647700" cy="742950"/>
          </a:xfrm>
          <a:prstGeom prst="rect">
            <a:avLst/>
          </a:prstGeom>
        </p:spPr>
      </p:pic>
      <p:sp>
        <p:nvSpPr>
          <p:cNvPr id="10" name="Text 6"/>
          <p:cNvSpPr/>
          <p:nvPr/>
        </p:nvSpPr>
        <p:spPr>
          <a:xfrm>
            <a:off x="6667500" y="3792260"/>
            <a:ext cx="4095750" cy="263277"/>
          </a:xfrm>
          <a:prstGeom prst="rect">
            <a:avLst/>
          </a:prstGeom>
          <a:noFill/>
          <a:ln>
            <a:miter lim="800000"/>
          </a:ln>
        </p:spPr>
        <p:txBody>
          <a:bodyPr wrap="square" lIns="0" tIns="0" rIns="0" bIns="0" rtlCol="0" anchor="t"/>
          <a:lstStyle/>
          <a:p>
            <a:pPr algn="ctr" fontAlgn="ctr">
              <a:lnSpc>
                <a:spcPts val="2074"/>
              </a:lnSpc>
            </a:pPr>
            <a:r>
              <a:rPr lang="en-US" sz="1800" b="1" kern="0" spc="-108" dirty="0">
                <a:solidFill>
                  <a:srgbClr val="333333"/>
                </a:solidFill>
                <a:latin typeface="Arial" pitchFamily="34" charset="0"/>
                <a:ea typeface="Arial" pitchFamily="34" charset="-122"/>
                <a:cs typeface="Arial" pitchFamily="34" charset="-120"/>
              </a:rPr>
              <a:t>Current Exposure &amp; Risks</a:t>
            </a:r>
            <a:endParaRPr lang="en-US" dirty="0"/>
          </a:p>
        </p:txBody>
      </p:sp>
      <p:sp>
        <p:nvSpPr>
          <p:cNvPr id="11" name="Text 7"/>
          <p:cNvSpPr/>
          <p:nvPr/>
        </p:nvSpPr>
        <p:spPr>
          <a:xfrm>
            <a:off x="6528643" y="4134416"/>
            <a:ext cx="4373463" cy="781794"/>
          </a:xfrm>
          <a:prstGeom prst="rect">
            <a:avLst/>
          </a:prstGeom>
          <a:noFill/>
          <a:ln>
            <a:miter lim="800000"/>
          </a:ln>
        </p:spPr>
        <p:txBody>
          <a:bodyPr wrap="square" lIns="0" tIns="0" rIns="0" bIns="0" rtlCol="0" anchor="t"/>
          <a:lstStyle/>
          <a:p>
            <a:pPr algn="ctr"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HTTP transport leaves data unencrypted.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Raw FHIR endpoints allow unauthenticated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access. Nginx clears Origin when proxying.</a:t>
            </a:r>
            <a:endParaRPr lang="en-US" dirty="0"/>
          </a:p>
        </p:txBody>
      </p:sp>
      <p:sp>
        <p:nvSpPr>
          <p:cNvPr id="12" name="Shape 8"/>
          <p:cNvSpPr/>
          <p:nvPr/>
        </p:nvSpPr>
        <p:spPr>
          <a:xfrm>
            <a:off x="0" y="6134100"/>
            <a:ext cx="12192000" cy="723900"/>
          </a:xfrm>
          <a:prstGeom prst="rect">
            <a:avLst/>
          </a:prstGeom>
          <a:solidFill>
            <a:srgbClr val="222222"/>
          </a:solidFill>
          <a:ln>
            <a:miter lim="800000"/>
          </a:ln>
        </p:spPr>
        <p:txBody>
          <a:bodyPr/>
          <a:lstStyle/>
          <a:p>
            <a:endParaRPr lang="en-US"/>
          </a:p>
        </p:txBody>
      </p:sp>
      <p:sp>
        <p:nvSpPr>
          <p:cNvPr id="13" name="Text 9"/>
          <p:cNvSpPr/>
          <p:nvPr/>
        </p:nvSpPr>
        <p:spPr>
          <a:xfrm>
            <a:off x="947738" y="6376690"/>
            <a:ext cx="10296525" cy="241399"/>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Important: Current status does not establish compliance or suitability for production handling of real patient data.</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FHIR REST API Operations</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Standardized RESTful interaction methods for FHIR resources</a:t>
            </a:r>
            <a:endParaRPr lang="en-US" dirty="0"/>
          </a:p>
        </p:txBody>
      </p:sp>
      <p:sp>
        <p:nvSpPr>
          <p:cNvPr id="4" name="Shape 2"/>
          <p:cNvSpPr/>
          <p:nvPr/>
        </p:nvSpPr>
        <p:spPr>
          <a:xfrm>
            <a:off x="476250" y="1743075"/>
            <a:ext cx="11239500" cy="3914775"/>
          </a:xfrm>
          <a:prstGeom prst="roundRect">
            <a:avLst>
              <a:gd name="adj" fmla="val 2336"/>
            </a:avLst>
          </a:prstGeom>
          <a:solidFill>
            <a:srgbClr val="000000">
              <a:alpha val="0"/>
            </a:srgbClr>
          </a:solidFill>
          <a:ln>
            <a:miter lim="800000"/>
          </a:ln>
        </p:spPr>
        <p:txBody>
          <a:bodyPr/>
          <a:lstStyle/>
          <a:p>
            <a:endParaRPr lang="en-US"/>
          </a:p>
        </p:txBody>
      </p:sp>
      <p:pic>
        <p:nvPicPr>
          <p:cNvPr id="5" name="Image 0" descr="0-f08e1e.png"/>
          <p:cNvPicPr>
            <a:picLocks noChangeAspect="1"/>
          </p:cNvPicPr>
          <p:nvPr/>
        </p:nvPicPr>
        <p:blipFill>
          <a:blip r:embed="rId3"/>
          <a:stretch>
            <a:fillRect/>
          </a:stretch>
        </p:blipFill>
        <p:spPr>
          <a:xfrm>
            <a:off x="476250" y="1743075"/>
            <a:ext cx="11249025" cy="3924300"/>
          </a:xfrm>
          <a:prstGeom prst="rect">
            <a:avLst/>
          </a:prstGeom>
        </p:spPr>
      </p:pic>
      <p:pic>
        <p:nvPicPr>
          <p:cNvPr id="6" name="Image 1" descr="77f9d5a2.png"/>
          <p:cNvPicPr>
            <a:picLocks noChangeAspect="1"/>
          </p:cNvPicPr>
          <p:nvPr/>
        </p:nvPicPr>
        <p:blipFill>
          <a:blip r:embed="rId4"/>
          <a:stretch>
            <a:fillRect/>
          </a:stretch>
        </p:blipFill>
        <p:spPr>
          <a:xfrm>
            <a:off x="476250" y="1743075"/>
            <a:ext cx="11239500" cy="3914775"/>
          </a:xfrm>
          <a:prstGeom prst="rect">
            <a:avLst/>
          </a:prstGeom>
        </p:spPr>
      </p:pic>
      <p:sp>
        <p:nvSpPr>
          <p:cNvPr id="7" name="Text 3"/>
          <p:cNvSpPr/>
          <p:nvPr/>
        </p:nvSpPr>
        <p:spPr>
          <a:xfrm>
            <a:off x="476250" y="1743075"/>
            <a:ext cx="1895462" cy="711777"/>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Method</a:t>
            </a:r>
            <a:endParaRPr lang="en-US" dirty="0"/>
          </a:p>
        </p:txBody>
      </p:sp>
      <p:sp>
        <p:nvSpPr>
          <p:cNvPr id="8" name="Text 4"/>
          <p:cNvSpPr/>
          <p:nvPr/>
        </p:nvSpPr>
        <p:spPr>
          <a:xfrm>
            <a:off x="2371712" y="1743075"/>
            <a:ext cx="4066608" cy="711777"/>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Route</a:t>
            </a:r>
            <a:endParaRPr lang="en-US" dirty="0"/>
          </a:p>
        </p:txBody>
      </p:sp>
      <p:sp>
        <p:nvSpPr>
          <p:cNvPr id="9" name="Text 5"/>
          <p:cNvSpPr/>
          <p:nvPr/>
        </p:nvSpPr>
        <p:spPr>
          <a:xfrm>
            <a:off x="6438320" y="1743075"/>
            <a:ext cx="5277430" cy="711777"/>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Behavior</a:t>
            </a:r>
            <a:endParaRPr lang="en-US" dirty="0"/>
          </a:p>
        </p:txBody>
      </p:sp>
      <p:sp>
        <p:nvSpPr>
          <p:cNvPr id="10" name="Text 6"/>
          <p:cNvSpPr/>
          <p:nvPr/>
        </p:nvSpPr>
        <p:spPr>
          <a:xfrm>
            <a:off x="476250" y="2454852"/>
            <a:ext cx="1895462"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GET</a:t>
            </a:r>
            <a:endParaRPr lang="en-US" dirty="0"/>
          </a:p>
        </p:txBody>
      </p:sp>
      <p:sp>
        <p:nvSpPr>
          <p:cNvPr id="11" name="Text 7"/>
          <p:cNvSpPr/>
          <p:nvPr/>
        </p:nvSpPr>
        <p:spPr>
          <a:xfrm>
            <a:off x="2371712" y="2454852"/>
            <a:ext cx="4066608"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/fhir/metadata</a:t>
            </a:r>
            <a:endParaRPr lang="en-US" dirty="0"/>
          </a:p>
        </p:txBody>
      </p:sp>
      <p:sp>
        <p:nvSpPr>
          <p:cNvPr id="12" name="Text 8"/>
          <p:cNvSpPr/>
          <p:nvPr/>
        </p:nvSpPr>
        <p:spPr>
          <a:xfrm>
            <a:off x="6438320" y="2454852"/>
            <a:ext cx="5277430"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Retrieve public CapabilityStatement</a:t>
            </a:r>
            <a:endParaRPr lang="en-US" dirty="0"/>
          </a:p>
        </p:txBody>
      </p:sp>
      <p:sp>
        <p:nvSpPr>
          <p:cNvPr id="13" name="Text 9"/>
          <p:cNvSpPr/>
          <p:nvPr/>
        </p:nvSpPr>
        <p:spPr>
          <a:xfrm>
            <a:off x="476250" y="2988685"/>
            <a:ext cx="1895462"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GET</a:t>
            </a:r>
            <a:endParaRPr lang="en-US" dirty="0"/>
          </a:p>
        </p:txBody>
      </p:sp>
      <p:sp>
        <p:nvSpPr>
          <p:cNvPr id="14" name="Text 10"/>
          <p:cNvSpPr/>
          <p:nvPr/>
        </p:nvSpPr>
        <p:spPr>
          <a:xfrm>
            <a:off x="2371712" y="2988685"/>
            <a:ext cx="4066608"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/fhir/{ResourceType}</a:t>
            </a:r>
            <a:endParaRPr lang="en-US" dirty="0"/>
          </a:p>
        </p:txBody>
      </p:sp>
      <p:sp>
        <p:nvSpPr>
          <p:cNvPr id="15" name="Text 11"/>
          <p:cNvSpPr/>
          <p:nvPr/>
        </p:nvSpPr>
        <p:spPr>
          <a:xfrm>
            <a:off x="6438320" y="2988685"/>
            <a:ext cx="5277430"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Search for resources</a:t>
            </a:r>
            <a:endParaRPr lang="en-US" dirty="0"/>
          </a:p>
        </p:txBody>
      </p:sp>
      <p:sp>
        <p:nvSpPr>
          <p:cNvPr id="16" name="Text 12"/>
          <p:cNvSpPr/>
          <p:nvPr/>
        </p:nvSpPr>
        <p:spPr>
          <a:xfrm>
            <a:off x="476250" y="3522518"/>
            <a:ext cx="1895462"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GET</a:t>
            </a:r>
            <a:endParaRPr lang="en-US" dirty="0"/>
          </a:p>
        </p:txBody>
      </p:sp>
      <p:sp>
        <p:nvSpPr>
          <p:cNvPr id="17" name="Text 13"/>
          <p:cNvSpPr/>
          <p:nvPr/>
        </p:nvSpPr>
        <p:spPr>
          <a:xfrm>
            <a:off x="2371712" y="3522518"/>
            <a:ext cx="4066608"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/fhir/{ResourceType}/{id}</a:t>
            </a:r>
            <a:endParaRPr lang="en-US" dirty="0"/>
          </a:p>
        </p:txBody>
      </p:sp>
      <p:sp>
        <p:nvSpPr>
          <p:cNvPr id="18" name="Text 14"/>
          <p:cNvSpPr/>
          <p:nvPr/>
        </p:nvSpPr>
        <p:spPr>
          <a:xfrm>
            <a:off x="6438320" y="3522518"/>
            <a:ext cx="5277430"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Read specific resource</a:t>
            </a:r>
            <a:endParaRPr lang="en-US" dirty="0"/>
          </a:p>
        </p:txBody>
      </p:sp>
      <p:sp>
        <p:nvSpPr>
          <p:cNvPr id="19" name="Text 15"/>
          <p:cNvSpPr/>
          <p:nvPr/>
        </p:nvSpPr>
        <p:spPr>
          <a:xfrm>
            <a:off x="476250" y="4056351"/>
            <a:ext cx="1895462"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POST</a:t>
            </a:r>
            <a:endParaRPr lang="en-US" dirty="0"/>
          </a:p>
        </p:txBody>
      </p:sp>
      <p:sp>
        <p:nvSpPr>
          <p:cNvPr id="20" name="Text 16"/>
          <p:cNvSpPr/>
          <p:nvPr/>
        </p:nvSpPr>
        <p:spPr>
          <a:xfrm>
            <a:off x="2371712" y="4056351"/>
            <a:ext cx="4066608"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/fhir/{ResourceType}</a:t>
            </a:r>
            <a:endParaRPr lang="en-US" dirty="0"/>
          </a:p>
        </p:txBody>
      </p:sp>
      <p:sp>
        <p:nvSpPr>
          <p:cNvPr id="21" name="Text 17"/>
          <p:cNvSpPr/>
          <p:nvPr/>
        </p:nvSpPr>
        <p:spPr>
          <a:xfrm>
            <a:off x="6438320" y="4056351"/>
            <a:ext cx="5277430"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Create resource (server assigned UUID)</a:t>
            </a:r>
            <a:endParaRPr lang="en-US" dirty="0"/>
          </a:p>
        </p:txBody>
      </p:sp>
      <p:sp>
        <p:nvSpPr>
          <p:cNvPr id="22" name="Text 18"/>
          <p:cNvSpPr/>
          <p:nvPr/>
        </p:nvSpPr>
        <p:spPr>
          <a:xfrm>
            <a:off x="476250" y="4590184"/>
            <a:ext cx="1895462"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PUT</a:t>
            </a:r>
            <a:endParaRPr lang="en-US" dirty="0"/>
          </a:p>
        </p:txBody>
      </p:sp>
      <p:sp>
        <p:nvSpPr>
          <p:cNvPr id="23" name="Text 19"/>
          <p:cNvSpPr/>
          <p:nvPr/>
        </p:nvSpPr>
        <p:spPr>
          <a:xfrm>
            <a:off x="2371712" y="4590184"/>
            <a:ext cx="4066608"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/fhir/{ResourceType}/{id}</a:t>
            </a:r>
            <a:endParaRPr lang="en-US" dirty="0"/>
          </a:p>
        </p:txBody>
      </p:sp>
      <p:sp>
        <p:nvSpPr>
          <p:cNvPr id="24" name="Text 20"/>
          <p:cNvSpPr/>
          <p:nvPr/>
        </p:nvSpPr>
        <p:spPr>
          <a:xfrm>
            <a:off x="6438320" y="4590184"/>
            <a:ext cx="5277430"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Update existing resource (404 if absent)</a:t>
            </a:r>
            <a:endParaRPr lang="en-US" dirty="0"/>
          </a:p>
        </p:txBody>
      </p:sp>
      <p:sp>
        <p:nvSpPr>
          <p:cNvPr id="25" name="Text 21"/>
          <p:cNvSpPr/>
          <p:nvPr/>
        </p:nvSpPr>
        <p:spPr>
          <a:xfrm>
            <a:off x="476250" y="5124017"/>
            <a:ext cx="1895462"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DELETE</a:t>
            </a:r>
            <a:endParaRPr lang="en-US" dirty="0"/>
          </a:p>
        </p:txBody>
      </p:sp>
      <p:sp>
        <p:nvSpPr>
          <p:cNvPr id="26" name="Text 22"/>
          <p:cNvSpPr/>
          <p:nvPr/>
        </p:nvSpPr>
        <p:spPr>
          <a:xfrm>
            <a:off x="2371712" y="5124017"/>
            <a:ext cx="4066608"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/fhir/{ResourceType}/{id}</a:t>
            </a:r>
            <a:endParaRPr lang="en-US" dirty="0"/>
          </a:p>
        </p:txBody>
      </p:sp>
      <p:sp>
        <p:nvSpPr>
          <p:cNvPr id="27" name="Text 23"/>
          <p:cNvSpPr/>
          <p:nvPr/>
        </p:nvSpPr>
        <p:spPr>
          <a:xfrm>
            <a:off x="6438320" y="5124017"/>
            <a:ext cx="5277430" cy="533833"/>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Delete specific resource</a:t>
            </a:r>
            <a:endParaRPr lang="en-US" dirty="0"/>
          </a:p>
        </p:txBody>
      </p:sp>
      <p:sp>
        <p:nvSpPr>
          <p:cNvPr id="28" name="Shape 24"/>
          <p:cNvSpPr/>
          <p:nvPr/>
        </p:nvSpPr>
        <p:spPr>
          <a:xfrm>
            <a:off x="0" y="6134100"/>
            <a:ext cx="12192000" cy="723900"/>
          </a:xfrm>
          <a:prstGeom prst="rect">
            <a:avLst/>
          </a:prstGeom>
          <a:solidFill>
            <a:srgbClr val="222222"/>
          </a:solidFill>
          <a:ln>
            <a:miter lim="800000"/>
          </a:ln>
        </p:spPr>
        <p:txBody>
          <a:bodyPr/>
          <a:lstStyle/>
          <a:p>
            <a:endParaRPr lang="en-US"/>
          </a:p>
        </p:txBody>
      </p:sp>
      <p:sp>
        <p:nvSpPr>
          <p:cNvPr id="29" name="Text 25"/>
          <p:cNvSpPr/>
          <p:nvPr/>
        </p:nvSpPr>
        <p:spPr>
          <a:xfrm>
            <a:off x="3614827" y="6376690"/>
            <a:ext cx="4962346" cy="241399"/>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Note: No support for transaction bundle endpoints.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native-368">
            <a:extLst>
              <a:ext uri="{FF2B5EF4-FFF2-40B4-BE49-F238E27FC236}">
                <a16:creationId xmlns:a16="http://schemas.microsoft.com/office/drawing/2014/main" id="{E36702E7-129F-470B-98BB-B2FD22AD48A6}"/>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Search and pagination sequence</a:t>
            </a:r>
          </a:p>
        </p:txBody>
      </p:sp>
      <p:sp>
        <p:nvSpPr>
          <p:cNvPr id="2" name="native-369">
            <a:extLst>
              <a:ext uri="{FF2B5EF4-FFF2-40B4-BE49-F238E27FC236}">
                <a16:creationId xmlns:a16="http://schemas.microsoft.com/office/drawing/2014/main" id="{E11FCA11-CC11-4658-A12E-9235A3F92A54}"/>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FHIR Bundle fields and the UI's next-page request</a:t>
            </a:r>
          </a:p>
        </p:txBody>
      </p:sp>
      <p:sp>
        <p:nvSpPr>
          <p:cNvPr id="3" name="native-370">
            <a:extLst>
              <a:ext uri="{FF2B5EF4-FFF2-40B4-BE49-F238E27FC236}">
                <a16:creationId xmlns:a16="http://schemas.microsoft.com/office/drawing/2014/main" id="{4F0F1145-5A98-4BB9-A8E3-643A7E37C22B}"/>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371">
            <a:extLst>
              <a:ext uri="{FF2B5EF4-FFF2-40B4-BE49-F238E27FC236}">
                <a16:creationId xmlns:a16="http://schemas.microsoft.com/office/drawing/2014/main" id="{BF0ABB39-06AC-478D-9453-A38B7EBC3A56}"/>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63" name="Straight Arrow Connector 62"/>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372">
            <a:extLst>
              <a:ext uri="{FF2B5EF4-FFF2-40B4-BE49-F238E27FC236}">
                <a16:creationId xmlns:a16="http://schemas.microsoft.com/office/drawing/2014/main" id="{11D22E90-AC5E-49FA-B7DE-7C6179A2A67B}"/>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Search uses _count and _offset. Dashboard stats separately reads the nested stats.resourceCounts object.</a:t>
            </a:r>
          </a:p>
        </p:txBody>
      </p:sp>
      <p:sp>
        <p:nvSpPr>
          <p:cNvPr id="7" name="native-373">
            <a:extLst>
              <a:ext uri="{FF2B5EF4-FFF2-40B4-BE49-F238E27FC236}">
                <a16:creationId xmlns:a16="http://schemas.microsoft.com/office/drawing/2014/main" id="{1F95071D-1F55-41E2-85B9-9C5AA506F0E2}"/>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19</a:t>
            </a:r>
          </a:p>
        </p:txBody>
      </p:sp>
      <p:sp>
        <p:nvSpPr>
          <p:cNvPr id="8" name="native-374">
            <a:extLst>
              <a:ext uri="{FF2B5EF4-FFF2-40B4-BE49-F238E27FC236}">
                <a16:creationId xmlns:a16="http://schemas.microsoft.com/office/drawing/2014/main" id="{5F854F9D-BBB7-4735-BA70-0F748C1BDEC6}"/>
              </a:ext>
            </a:extLst>
          </p:cNvPr>
          <p:cNvSpPr>
            <a:spLocks noGrp="1"/>
          </p:cNvSpPr>
          <p:nvPr/>
        </p:nvSpPr>
        <p:spPr>
          <a:xfrm>
            <a:off x="523875" y="1485900"/>
            <a:ext cx="2381250" cy="647700"/>
          </a:xfrm>
          <a:prstGeom prst="rect">
            <a:avLst/>
          </a:prstGeom>
          <a:solidFill>
            <a:srgbClr val="E2F2F1"/>
          </a:solidFill>
          <a:ln w="9525">
            <a:solidFill>
              <a:srgbClr val="B6C6D2"/>
            </a:solidFill>
          </a:ln>
        </p:spPr>
        <p:txBody>
          <a:bodyPr/>
          <a:lstStyle/>
          <a:p>
            <a:endParaRPr lang="en-US"/>
          </a:p>
        </p:txBody>
      </p:sp>
      <p:sp>
        <p:nvSpPr>
          <p:cNvPr id="9" name="native-375">
            <a:extLst>
              <a:ext uri="{FF2B5EF4-FFF2-40B4-BE49-F238E27FC236}">
                <a16:creationId xmlns:a16="http://schemas.microsoft.com/office/drawing/2014/main" id="{F2E9805D-C22D-41F0-8C06-33D48FCD5378}"/>
              </a:ext>
            </a:extLst>
          </p:cNvPr>
          <p:cNvSpPr>
            <a:spLocks noGrp="1"/>
          </p:cNvSpPr>
          <p:nvPr/>
        </p:nvSpPr>
        <p:spPr>
          <a:xfrm>
            <a:off x="657225"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Admin client</a:t>
            </a:r>
          </a:p>
        </p:txBody>
      </p:sp>
      <p:sp>
        <p:nvSpPr>
          <p:cNvPr id="10" name="native-376">
            <a:extLst>
              <a:ext uri="{FF2B5EF4-FFF2-40B4-BE49-F238E27FC236}">
                <a16:creationId xmlns:a16="http://schemas.microsoft.com/office/drawing/2014/main" id="{08509376-8E8C-488B-92E6-184782B8C378}"/>
              </a:ext>
            </a:extLst>
          </p:cNvPr>
          <p:cNvSpPr>
            <a:spLocks noGrp="1"/>
          </p:cNvSpPr>
          <p:nvPr/>
        </p:nvSpPr>
        <p:spPr>
          <a:xfrm>
            <a:off x="657225"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Pagination state</a:t>
            </a:r>
          </a:p>
        </p:txBody>
      </p:sp>
      <p:sp>
        <p:nvSpPr>
          <p:cNvPr id="11" name="native-377">
            <a:extLst>
              <a:ext uri="{FF2B5EF4-FFF2-40B4-BE49-F238E27FC236}">
                <a16:creationId xmlns:a16="http://schemas.microsoft.com/office/drawing/2014/main" id="{941FEE21-22C9-4F1D-BF7C-83CF09791D75}"/>
              </a:ext>
            </a:extLst>
          </p:cNvPr>
          <p:cNvSpPr>
            <a:spLocks noGrp="1"/>
          </p:cNvSpPr>
          <p:nvPr/>
        </p:nvSpPr>
        <p:spPr>
          <a:xfrm>
            <a:off x="1709738" y="2128838"/>
            <a:ext cx="9525" cy="9525"/>
          </a:xfrm>
          <a:prstGeom prst="rect">
            <a:avLst/>
          </a:prstGeom>
          <a:noFill/>
          <a:ln w="0">
            <a:noFill/>
          </a:ln>
        </p:spPr>
        <p:txBody>
          <a:bodyPr/>
          <a:lstStyle/>
          <a:p>
            <a:endParaRPr lang="en-US"/>
          </a:p>
        </p:txBody>
      </p:sp>
      <p:sp>
        <p:nvSpPr>
          <p:cNvPr id="12" name="native-378">
            <a:extLst>
              <a:ext uri="{FF2B5EF4-FFF2-40B4-BE49-F238E27FC236}">
                <a16:creationId xmlns:a16="http://schemas.microsoft.com/office/drawing/2014/main" id="{0D82F7D4-165E-4ED4-8800-E88EBD72F69E}"/>
              </a:ext>
            </a:extLst>
          </p:cNvPr>
          <p:cNvSpPr>
            <a:spLocks noGrp="1"/>
          </p:cNvSpPr>
          <p:nvPr/>
        </p:nvSpPr>
        <p:spPr>
          <a:xfrm>
            <a:off x="1709738" y="5948363"/>
            <a:ext cx="9525" cy="9525"/>
          </a:xfrm>
          <a:prstGeom prst="rect">
            <a:avLst/>
          </a:prstGeom>
          <a:noFill/>
          <a:ln w="0">
            <a:noFill/>
          </a:ln>
        </p:spPr>
        <p:txBody>
          <a:bodyPr/>
          <a:lstStyle/>
          <a:p>
            <a:endParaRPr lang="en-US"/>
          </a:p>
        </p:txBody>
      </p:sp>
      <p:cxnSp>
        <p:nvCxnSpPr>
          <p:cNvPr id="71" name="Straight Arrow Connector 70"/>
          <p:cNvCxnSpPr>
            <a:stCxn id="11" idx="3"/>
            <a:endCxn id="12" idx="1"/>
          </p:cNvCxnSpPr>
          <p:nvPr/>
        </p:nvCxnSpPr>
        <p:spPr>
          <a:xfrm flipH="1">
            <a:off x="1709738" y="2133601"/>
            <a:ext cx="9525" cy="3819525"/>
          </a:xfrm>
          <a:prstGeom prst="straightConnector1">
            <a:avLst/>
          </a:prstGeom>
          <a:ln w="14288">
            <a:solidFill>
              <a:srgbClr val="B6C6D2"/>
            </a:solidFill>
            <a:prstDash val="dash"/>
          </a:ln>
        </p:spPr>
      </p:cxnSp>
      <p:sp>
        <p:nvSpPr>
          <p:cNvPr id="14" name="native-379">
            <a:extLst>
              <a:ext uri="{FF2B5EF4-FFF2-40B4-BE49-F238E27FC236}">
                <a16:creationId xmlns:a16="http://schemas.microsoft.com/office/drawing/2014/main" id="{70B542DC-3CB1-4443-B04D-E9A9A0D99F45}"/>
              </a:ext>
            </a:extLst>
          </p:cNvPr>
          <p:cNvSpPr>
            <a:spLocks noGrp="1"/>
          </p:cNvSpPr>
          <p:nvPr/>
        </p:nvSpPr>
        <p:spPr>
          <a:xfrm>
            <a:off x="4905375" y="1485900"/>
            <a:ext cx="2381250" cy="647700"/>
          </a:xfrm>
          <a:prstGeom prst="rect">
            <a:avLst/>
          </a:prstGeom>
          <a:solidFill>
            <a:srgbClr val="E8EFF5"/>
          </a:solidFill>
          <a:ln w="9525">
            <a:solidFill>
              <a:srgbClr val="B6C6D2"/>
            </a:solidFill>
          </a:ln>
        </p:spPr>
        <p:txBody>
          <a:bodyPr/>
          <a:lstStyle/>
          <a:p>
            <a:endParaRPr lang="en-US"/>
          </a:p>
        </p:txBody>
      </p:sp>
      <p:sp>
        <p:nvSpPr>
          <p:cNvPr id="15" name="native-380">
            <a:extLst>
              <a:ext uri="{FF2B5EF4-FFF2-40B4-BE49-F238E27FC236}">
                <a16:creationId xmlns:a16="http://schemas.microsoft.com/office/drawing/2014/main" id="{863F6EF4-5C15-424A-A486-EF8F45E43E2D}"/>
              </a:ext>
            </a:extLst>
          </p:cNvPr>
          <p:cNvSpPr>
            <a:spLocks noGrp="1"/>
          </p:cNvSpPr>
          <p:nvPr/>
        </p:nvSpPr>
        <p:spPr>
          <a:xfrm>
            <a:off x="5038725"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FHIR provider</a:t>
            </a:r>
          </a:p>
        </p:txBody>
      </p:sp>
      <p:sp>
        <p:nvSpPr>
          <p:cNvPr id="16" name="native-381">
            <a:extLst>
              <a:ext uri="{FF2B5EF4-FFF2-40B4-BE49-F238E27FC236}">
                <a16:creationId xmlns:a16="http://schemas.microsoft.com/office/drawing/2014/main" id="{67CC3719-CFFF-498D-BA73-4BBABF85BB87}"/>
              </a:ext>
            </a:extLst>
          </p:cNvPr>
          <p:cNvSpPr>
            <a:spLocks noGrp="1"/>
          </p:cNvSpPr>
          <p:nvPr/>
        </p:nvSpPr>
        <p:spPr>
          <a:xfrm>
            <a:off x="5038725"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Search handler</a:t>
            </a:r>
          </a:p>
        </p:txBody>
      </p:sp>
      <p:sp>
        <p:nvSpPr>
          <p:cNvPr id="17" name="native-382">
            <a:extLst>
              <a:ext uri="{FF2B5EF4-FFF2-40B4-BE49-F238E27FC236}">
                <a16:creationId xmlns:a16="http://schemas.microsoft.com/office/drawing/2014/main" id="{01AF40DF-CAFA-4E2E-9FF9-E079D0C50916}"/>
              </a:ext>
            </a:extLst>
          </p:cNvPr>
          <p:cNvSpPr>
            <a:spLocks noGrp="1"/>
          </p:cNvSpPr>
          <p:nvPr/>
        </p:nvSpPr>
        <p:spPr>
          <a:xfrm>
            <a:off x="6091238" y="2128838"/>
            <a:ext cx="9525" cy="9525"/>
          </a:xfrm>
          <a:prstGeom prst="rect">
            <a:avLst/>
          </a:prstGeom>
          <a:noFill/>
          <a:ln w="0">
            <a:noFill/>
          </a:ln>
        </p:spPr>
        <p:txBody>
          <a:bodyPr/>
          <a:lstStyle/>
          <a:p>
            <a:endParaRPr lang="en-US"/>
          </a:p>
        </p:txBody>
      </p:sp>
      <p:sp>
        <p:nvSpPr>
          <p:cNvPr id="18" name="native-383">
            <a:extLst>
              <a:ext uri="{FF2B5EF4-FFF2-40B4-BE49-F238E27FC236}">
                <a16:creationId xmlns:a16="http://schemas.microsoft.com/office/drawing/2014/main" id="{1951B407-DCAF-4FC2-89AE-7727AE94D8BB}"/>
              </a:ext>
            </a:extLst>
          </p:cNvPr>
          <p:cNvSpPr>
            <a:spLocks noGrp="1"/>
          </p:cNvSpPr>
          <p:nvPr/>
        </p:nvSpPr>
        <p:spPr>
          <a:xfrm>
            <a:off x="6091238" y="5948363"/>
            <a:ext cx="9525" cy="9525"/>
          </a:xfrm>
          <a:prstGeom prst="rect">
            <a:avLst/>
          </a:prstGeom>
          <a:noFill/>
          <a:ln w="0">
            <a:noFill/>
          </a:ln>
        </p:spPr>
        <p:txBody>
          <a:bodyPr/>
          <a:lstStyle/>
          <a:p>
            <a:endParaRPr lang="en-US"/>
          </a:p>
        </p:txBody>
      </p:sp>
      <p:cxnSp>
        <p:nvCxnSpPr>
          <p:cNvPr id="77" name="Straight Arrow Connector 76"/>
          <p:cNvCxnSpPr>
            <a:stCxn id="17" idx="3"/>
            <a:endCxn id="18" idx="1"/>
          </p:cNvCxnSpPr>
          <p:nvPr/>
        </p:nvCxnSpPr>
        <p:spPr>
          <a:xfrm flipH="1">
            <a:off x="6091238" y="2133601"/>
            <a:ext cx="9525" cy="3819525"/>
          </a:xfrm>
          <a:prstGeom prst="straightConnector1">
            <a:avLst/>
          </a:prstGeom>
          <a:ln w="14288">
            <a:solidFill>
              <a:srgbClr val="B6C6D2"/>
            </a:solidFill>
            <a:prstDash val="dash"/>
          </a:ln>
        </p:spPr>
      </p:cxnSp>
      <p:sp>
        <p:nvSpPr>
          <p:cNvPr id="20" name="native-384">
            <a:extLst>
              <a:ext uri="{FF2B5EF4-FFF2-40B4-BE49-F238E27FC236}">
                <a16:creationId xmlns:a16="http://schemas.microsoft.com/office/drawing/2014/main" id="{A10212E7-1DAB-4693-8B9A-14BB48817FCC}"/>
              </a:ext>
            </a:extLst>
          </p:cNvPr>
          <p:cNvSpPr>
            <a:spLocks noGrp="1"/>
          </p:cNvSpPr>
          <p:nvPr/>
        </p:nvSpPr>
        <p:spPr>
          <a:xfrm>
            <a:off x="9286875" y="1485900"/>
            <a:ext cx="2381250" cy="647700"/>
          </a:xfrm>
          <a:prstGeom prst="rect">
            <a:avLst/>
          </a:prstGeom>
          <a:solidFill>
            <a:srgbClr val="E8EFF5"/>
          </a:solidFill>
          <a:ln w="9525">
            <a:solidFill>
              <a:srgbClr val="B6C6D2"/>
            </a:solidFill>
          </a:ln>
        </p:spPr>
        <p:txBody>
          <a:bodyPr/>
          <a:lstStyle/>
          <a:p>
            <a:endParaRPr lang="en-US"/>
          </a:p>
        </p:txBody>
      </p:sp>
      <p:sp>
        <p:nvSpPr>
          <p:cNvPr id="21" name="native-385">
            <a:extLst>
              <a:ext uri="{FF2B5EF4-FFF2-40B4-BE49-F238E27FC236}">
                <a16:creationId xmlns:a16="http://schemas.microsoft.com/office/drawing/2014/main" id="{F3C57CB5-68C1-4189-BF7B-3CAC4DCE9129}"/>
              </a:ext>
            </a:extLst>
          </p:cNvPr>
          <p:cNvSpPr>
            <a:spLocks noGrp="1"/>
          </p:cNvSpPr>
          <p:nvPr/>
        </p:nvSpPr>
        <p:spPr>
          <a:xfrm>
            <a:off x="9420225"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MongoDB</a:t>
            </a:r>
          </a:p>
        </p:txBody>
      </p:sp>
      <p:sp>
        <p:nvSpPr>
          <p:cNvPr id="22" name="native-386">
            <a:extLst>
              <a:ext uri="{FF2B5EF4-FFF2-40B4-BE49-F238E27FC236}">
                <a16:creationId xmlns:a16="http://schemas.microsoft.com/office/drawing/2014/main" id="{782FACEE-C29A-4A8E-8994-DB3CF5CD6E20}"/>
              </a:ext>
            </a:extLst>
          </p:cNvPr>
          <p:cNvSpPr>
            <a:spLocks noGrp="1"/>
          </p:cNvSpPr>
          <p:nvPr/>
        </p:nvSpPr>
        <p:spPr>
          <a:xfrm>
            <a:off x="9420225"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Resource collection</a:t>
            </a:r>
          </a:p>
        </p:txBody>
      </p:sp>
      <p:sp>
        <p:nvSpPr>
          <p:cNvPr id="23" name="native-387">
            <a:extLst>
              <a:ext uri="{FF2B5EF4-FFF2-40B4-BE49-F238E27FC236}">
                <a16:creationId xmlns:a16="http://schemas.microsoft.com/office/drawing/2014/main" id="{F9AE6138-4D7C-485E-96BC-FB009E6FBB22}"/>
              </a:ext>
            </a:extLst>
          </p:cNvPr>
          <p:cNvSpPr>
            <a:spLocks noGrp="1"/>
          </p:cNvSpPr>
          <p:nvPr/>
        </p:nvSpPr>
        <p:spPr>
          <a:xfrm>
            <a:off x="10472738" y="2128838"/>
            <a:ext cx="9525" cy="9525"/>
          </a:xfrm>
          <a:prstGeom prst="rect">
            <a:avLst/>
          </a:prstGeom>
          <a:noFill/>
          <a:ln w="0">
            <a:noFill/>
          </a:ln>
        </p:spPr>
        <p:txBody>
          <a:bodyPr/>
          <a:lstStyle/>
          <a:p>
            <a:endParaRPr lang="en-US"/>
          </a:p>
        </p:txBody>
      </p:sp>
      <p:sp>
        <p:nvSpPr>
          <p:cNvPr id="24" name="native-388">
            <a:extLst>
              <a:ext uri="{FF2B5EF4-FFF2-40B4-BE49-F238E27FC236}">
                <a16:creationId xmlns:a16="http://schemas.microsoft.com/office/drawing/2014/main" id="{C7FB5DD6-288D-43F9-8249-E2660C85ABF2}"/>
              </a:ext>
            </a:extLst>
          </p:cNvPr>
          <p:cNvSpPr>
            <a:spLocks noGrp="1"/>
          </p:cNvSpPr>
          <p:nvPr/>
        </p:nvSpPr>
        <p:spPr>
          <a:xfrm>
            <a:off x="10472738" y="5948363"/>
            <a:ext cx="9525" cy="9525"/>
          </a:xfrm>
          <a:prstGeom prst="rect">
            <a:avLst/>
          </a:prstGeom>
          <a:noFill/>
          <a:ln w="0">
            <a:noFill/>
          </a:ln>
        </p:spPr>
        <p:txBody>
          <a:bodyPr/>
          <a:lstStyle/>
          <a:p>
            <a:endParaRPr lang="en-US"/>
          </a:p>
        </p:txBody>
      </p:sp>
      <p:cxnSp>
        <p:nvCxnSpPr>
          <p:cNvPr id="83" name="Straight Arrow Connector 82"/>
          <p:cNvCxnSpPr>
            <a:stCxn id="23" idx="3"/>
            <a:endCxn id="24" idx="1"/>
          </p:cNvCxnSpPr>
          <p:nvPr/>
        </p:nvCxnSpPr>
        <p:spPr>
          <a:xfrm flipH="1">
            <a:off x="10472738" y="2133601"/>
            <a:ext cx="9525" cy="3819525"/>
          </a:xfrm>
          <a:prstGeom prst="straightConnector1">
            <a:avLst/>
          </a:prstGeom>
          <a:ln w="14288">
            <a:solidFill>
              <a:srgbClr val="B6C6D2"/>
            </a:solidFill>
            <a:prstDash val="dash"/>
          </a:ln>
        </p:spPr>
      </p:cxnSp>
      <p:sp>
        <p:nvSpPr>
          <p:cNvPr id="26" name="native-389">
            <a:extLst>
              <a:ext uri="{FF2B5EF4-FFF2-40B4-BE49-F238E27FC236}">
                <a16:creationId xmlns:a16="http://schemas.microsoft.com/office/drawing/2014/main" id="{84AF86FF-6A43-4CED-94EC-3DDAFB1E8FE4}"/>
              </a:ext>
            </a:extLst>
          </p:cNvPr>
          <p:cNvSpPr>
            <a:spLocks noGrp="1"/>
          </p:cNvSpPr>
          <p:nvPr/>
        </p:nvSpPr>
        <p:spPr>
          <a:xfrm>
            <a:off x="1709738" y="2538413"/>
            <a:ext cx="9525" cy="9525"/>
          </a:xfrm>
          <a:prstGeom prst="rect">
            <a:avLst/>
          </a:prstGeom>
          <a:noFill/>
          <a:ln w="0">
            <a:noFill/>
          </a:ln>
        </p:spPr>
        <p:txBody>
          <a:bodyPr/>
          <a:lstStyle/>
          <a:p>
            <a:endParaRPr lang="en-US"/>
          </a:p>
        </p:txBody>
      </p:sp>
      <p:sp>
        <p:nvSpPr>
          <p:cNvPr id="27" name="native-390">
            <a:extLst>
              <a:ext uri="{FF2B5EF4-FFF2-40B4-BE49-F238E27FC236}">
                <a16:creationId xmlns:a16="http://schemas.microsoft.com/office/drawing/2014/main" id="{A1D62A3F-2D68-448E-AB59-7F49B88C18AC}"/>
              </a:ext>
            </a:extLst>
          </p:cNvPr>
          <p:cNvSpPr>
            <a:spLocks noGrp="1"/>
          </p:cNvSpPr>
          <p:nvPr/>
        </p:nvSpPr>
        <p:spPr>
          <a:xfrm>
            <a:off x="6091238" y="2538413"/>
            <a:ext cx="9525" cy="9525"/>
          </a:xfrm>
          <a:prstGeom prst="rect">
            <a:avLst/>
          </a:prstGeom>
          <a:noFill/>
          <a:ln w="0">
            <a:noFill/>
          </a:ln>
        </p:spPr>
        <p:txBody>
          <a:bodyPr/>
          <a:lstStyle/>
          <a:p>
            <a:endParaRPr lang="en-US"/>
          </a:p>
        </p:txBody>
      </p:sp>
      <p:cxnSp>
        <p:nvCxnSpPr>
          <p:cNvPr id="86" name="Straight Arrow Connector 85"/>
          <p:cNvCxnSpPr>
            <a:stCxn id="26" idx="3"/>
            <a:endCxn id="27" idx="1"/>
          </p:cNvCxnSpPr>
          <p:nvPr/>
        </p:nvCxnSpPr>
        <p:spPr>
          <a:xfrm>
            <a:off x="1719263" y="2543176"/>
            <a:ext cx="4371975" cy="0"/>
          </a:xfrm>
          <a:prstGeom prst="straightConnector1">
            <a:avLst/>
          </a:prstGeom>
          <a:ln w="19050">
            <a:solidFill>
              <a:srgbClr val="0F8B8D"/>
            </a:solidFill>
            <a:prstDash val="solid"/>
            <a:tailEnd type="triangle" w="med" len="med"/>
          </a:ln>
        </p:spPr>
      </p:cxnSp>
      <p:sp>
        <p:nvSpPr>
          <p:cNvPr id="29" name="native-391">
            <a:extLst>
              <a:ext uri="{FF2B5EF4-FFF2-40B4-BE49-F238E27FC236}">
                <a16:creationId xmlns:a16="http://schemas.microsoft.com/office/drawing/2014/main" id="{9924870C-2798-4409-9269-1760B84A8DB8}"/>
              </a:ext>
            </a:extLst>
          </p:cNvPr>
          <p:cNvSpPr>
            <a:spLocks noGrp="1"/>
          </p:cNvSpPr>
          <p:nvPr/>
        </p:nvSpPr>
        <p:spPr>
          <a:xfrm>
            <a:off x="1809750" y="2276475"/>
            <a:ext cx="4191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GET /fhir/Patient?_count=20&amp;_offset=0</a:t>
            </a:r>
          </a:p>
        </p:txBody>
      </p:sp>
      <p:sp>
        <p:nvSpPr>
          <p:cNvPr id="30" name="native-392">
            <a:extLst>
              <a:ext uri="{FF2B5EF4-FFF2-40B4-BE49-F238E27FC236}">
                <a16:creationId xmlns:a16="http://schemas.microsoft.com/office/drawing/2014/main" id="{93C6234E-F59B-4082-BFE9-AD9AD2112259}"/>
              </a:ext>
            </a:extLst>
          </p:cNvPr>
          <p:cNvSpPr>
            <a:spLocks noGrp="1"/>
          </p:cNvSpPr>
          <p:nvPr/>
        </p:nvSpPr>
        <p:spPr>
          <a:xfrm>
            <a:off x="6091238" y="2947988"/>
            <a:ext cx="9525" cy="9525"/>
          </a:xfrm>
          <a:prstGeom prst="rect">
            <a:avLst/>
          </a:prstGeom>
          <a:noFill/>
          <a:ln w="0">
            <a:noFill/>
          </a:ln>
        </p:spPr>
        <p:txBody>
          <a:bodyPr/>
          <a:lstStyle/>
          <a:p>
            <a:endParaRPr lang="en-US"/>
          </a:p>
        </p:txBody>
      </p:sp>
      <p:sp>
        <p:nvSpPr>
          <p:cNvPr id="31" name="native-393">
            <a:extLst>
              <a:ext uri="{FF2B5EF4-FFF2-40B4-BE49-F238E27FC236}">
                <a16:creationId xmlns:a16="http://schemas.microsoft.com/office/drawing/2014/main" id="{617F80DE-42F7-4963-B2DD-0BD99B8ED5A7}"/>
              </a:ext>
            </a:extLst>
          </p:cNvPr>
          <p:cNvSpPr>
            <a:spLocks noGrp="1"/>
          </p:cNvSpPr>
          <p:nvPr/>
        </p:nvSpPr>
        <p:spPr>
          <a:xfrm>
            <a:off x="10472738" y="2947988"/>
            <a:ext cx="9525" cy="9525"/>
          </a:xfrm>
          <a:prstGeom prst="rect">
            <a:avLst/>
          </a:prstGeom>
          <a:noFill/>
          <a:ln w="0">
            <a:noFill/>
          </a:ln>
        </p:spPr>
        <p:txBody>
          <a:bodyPr/>
          <a:lstStyle/>
          <a:p>
            <a:endParaRPr lang="en-US"/>
          </a:p>
        </p:txBody>
      </p:sp>
      <p:cxnSp>
        <p:nvCxnSpPr>
          <p:cNvPr id="90" name="Straight Arrow Connector 89"/>
          <p:cNvCxnSpPr>
            <a:stCxn id="30" idx="3"/>
            <a:endCxn id="31" idx="1"/>
          </p:cNvCxnSpPr>
          <p:nvPr/>
        </p:nvCxnSpPr>
        <p:spPr>
          <a:xfrm>
            <a:off x="6100763" y="2952751"/>
            <a:ext cx="4371975" cy="0"/>
          </a:xfrm>
          <a:prstGeom prst="straightConnector1">
            <a:avLst/>
          </a:prstGeom>
          <a:ln w="19050">
            <a:solidFill>
              <a:srgbClr val="0F8B8D"/>
            </a:solidFill>
            <a:prstDash val="solid"/>
            <a:tailEnd type="triangle" w="med" len="med"/>
          </a:ln>
        </p:spPr>
      </p:cxnSp>
      <p:sp>
        <p:nvSpPr>
          <p:cNvPr id="33" name="native-394">
            <a:extLst>
              <a:ext uri="{FF2B5EF4-FFF2-40B4-BE49-F238E27FC236}">
                <a16:creationId xmlns:a16="http://schemas.microsoft.com/office/drawing/2014/main" id="{548A81AC-0FD3-414F-884F-86641C83F364}"/>
              </a:ext>
            </a:extLst>
          </p:cNvPr>
          <p:cNvSpPr>
            <a:spLocks noGrp="1"/>
          </p:cNvSpPr>
          <p:nvPr/>
        </p:nvSpPr>
        <p:spPr>
          <a:xfrm>
            <a:off x="6191250" y="2686050"/>
            <a:ext cx="4191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Count matches and read page</a:t>
            </a:r>
          </a:p>
        </p:txBody>
      </p:sp>
      <p:sp>
        <p:nvSpPr>
          <p:cNvPr id="34" name="native-395">
            <a:extLst>
              <a:ext uri="{FF2B5EF4-FFF2-40B4-BE49-F238E27FC236}">
                <a16:creationId xmlns:a16="http://schemas.microsoft.com/office/drawing/2014/main" id="{05ED5EED-6D93-4F5F-907E-9E337380AD87}"/>
              </a:ext>
            </a:extLst>
          </p:cNvPr>
          <p:cNvSpPr>
            <a:spLocks noGrp="1"/>
          </p:cNvSpPr>
          <p:nvPr/>
        </p:nvSpPr>
        <p:spPr>
          <a:xfrm>
            <a:off x="10472738" y="3357563"/>
            <a:ext cx="9525" cy="9525"/>
          </a:xfrm>
          <a:prstGeom prst="rect">
            <a:avLst/>
          </a:prstGeom>
          <a:noFill/>
          <a:ln w="0">
            <a:noFill/>
          </a:ln>
        </p:spPr>
        <p:txBody>
          <a:bodyPr/>
          <a:lstStyle/>
          <a:p>
            <a:endParaRPr lang="en-US"/>
          </a:p>
        </p:txBody>
      </p:sp>
      <p:sp>
        <p:nvSpPr>
          <p:cNvPr id="35" name="native-396">
            <a:extLst>
              <a:ext uri="{FF2B5EF4-FFF2-40B4-BE49-F238E27FC236}">
                <a16:creationId xmlns:a16="http://schemas.microsoft.com/office/drawing/2014/main" id="{6C27EE5A-E619-413E-89DC-70EB730547CD}"/>
              </a:ext>
            </a:extLst>
          </p:cNvPr>
          <p:cNvSpPr>
            <a:spLocks noGrp="1"/>
          </p:cNvSpPr>
          <p:nvPr/>
        </p:nvSpPr>
        <p:spPr>
          <a:xfrm>
            <a:off x="6091238" y="3357563"/>
            <a:ext cx="9525" cy="9525"/>
          </a:xfrm>
          <a:prstGeom prst="rect">
            <a:avLst/>
          </a:prstGeom>
          <a:noFill/>
          <a:ln w="0">
            <a:noFill/>
          </a:ln>
        </p:spPr>
        <p:txBody>
          <a:bodyPr/>
          <a:lstStyle/>
          <a:p>
            <a:endParaRPr lang="en-US"/>
          </a:p>
        </p:txBody>
      </p:sp>
      <p:cxnSp>
        <p:nvCxnSpPr>
          <p:cNvPr id="94" name="Straight Arrow Connector 93"/>
          <p:cNvCxnSpPr>
            <a:stCxn id="34" idx="3"/>
            <a:endCxn id="35" idx="1"/>
          </p:cNvCxnSpPr>
          <p:nvPr/>
        </p:nvCxnSpPr>
        <p:spPr>
          <a:xfrm flipH="1">
            <a:off x="6091238" y="3362326"/>
            <a:ext cx="4391025" cy="0"/>
          </a:xfrm>
          <a:prstGeom prst="straightConnector1">
            <a:avLst/>
          </a:prstGeom>
          <a:ln w="19050">
            <a:solidFill>
              <a:srgbClr val="3478B9"/>
            </a:solidFill>
            <a:prstDash val="dash"/>
            <a:tailEnd type="triangle" w="med" len="med"/>
          </a:ln>
        </p:spPr>
      </p:cxnSp>
      <p:sp>
        <p:nvSpPr>
          <p:cNvPr id="37" name="native-397">
            <a:extLst>
              <a:ext uri="{FF2B5EF4-FFF2-40B4-BE49-F238E27FC236}">
                <a16:creationId xmlns:a16="http://schemas.microsoft.com/office/drawing/2014/main" id="{6B6F0125-DAD4-46D0-8BA4-A0DD6DD4F238}"/>
              </a:ext>
            </a:extLst>
          </p:cNvPr>
          <p:cNvSpPr>
            <a:spLocks noGrp="1"/>
          </p:cNvSpPr>
          <p:nvPr/>
        </p:nvSpPr>
        <p:spPr>
          <a:xfrm>
            <a:off x="6191250" y="3095625"/>
            <a:ext cx="4191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Total + resource documents</a:t>
            </a:r>
          </a:p>
        </p:txBody>
      </p:sp>
      <p:sp>
        <p:nvSpPr>
          <p:cNvPr id="38" name="native-398">
            <a:extLst>
              <a:ext uri="{FF2B5EF4-FFF2-40B4-BE49-F238E27FC236}">
                <a16:creationId xmlns:a16="http://schemas.microsoft.com/office/drawing/2014/main" id="{DFC2F0EB-EE29-4883-A448-04EE7F49D6C0}"/>
              </a:ext>
            </a:extLst>
          </p:cNvPr>
          <p:cNvSpPr>
            <a:spLocks noGrp="1"/>
          </p:cNvSpPr>
          <p:nvPr/>
        </p:nvSpPr>
        <p:spPr>
          <a:xfrm>
            <a:off x="6091238" y="3767138"/>
            <a:ext cx="9525" cy="9525"/>
          </a:xfrm>
          <a:prstGeom prst="rect">
            <a:avLst/>
          </a:prstGeom>
          <a:noFill/>
          <a:ln w="0">
            <a:noFill/>
          </a:ln>
        </p:spPr>
        <p:txBody>
          <a:bodyPr/>
          <a:lstStyle/>
          <a:p>
            <a:endParaRPr lang="en-US"/>
          </a:p>
        </p:txBody>
      </p:sp>
      <p:sp>
        <p:nvSpPr>
          <p:cNvPr id="39" name="native-399">
            <a:extLst>
              <a:ext uri="{FF2B5EF4-FFF2-40B4-BE49-F238E27FC236}">
                <a16:creationId xmlns:a16="http://schemas.microsoft.com/office/drawing/2014/main" id="{ED6FBFBE-A5E9-41BF-B91C-1D7EC1B9F6C4}"/>
              </a:ext>
            </a:extLst>
          </p:cNvPr>
          <p:cNvSpPr>
            <a:spLocks noGrp="1"/>
          </p:cNvSpPr>
          <p:nvPr/>
        </p:nvSpPr>
        <p:spPr>
          <a:xfrm>
            <a:off x="1709738" y="3767138"/>
            <a:ext cx="9525" cy="9525"/>
          </a:xfrm>
          <a:prstGeom prst="rect">
            <a:avLst/>
          </a:prstGeom>
          <a:noFill/>
          <a:ln w="0">
            <a:noFill/>
          </a:ln>
        </p:spPr>
        <p:txBody>
          <a:bodyPr/>
          <a:lstStyle/>
          <a:p>
            <a:endParaRPr lang="en-US"/>
          </a:p>
        </p:txBody>
      </p:sp>
      <p:cxnSp>
        <p:nvCxnSpPr>
          <p:cNvPr id="98" name="Straight Arrow Connector 97"/>
          <p:cNvCxnSpPr>
            <a:stCxn id="38" idx="3"/>
            <a:endCxn id="39" idx="1"/>
          </p:cNvCxnSpPr>
          <p:nvPr/>
        </p:nvCxnSpPr>
        <p:spPr>
          <a:xfrm flipH="1">
            <a:off x="1709738" y="3771901"/>
            <a:ext cx="4391025" cy="0"/>
          </a:xfrm>
          <a:prstGeom prst="straightConnector1">
            <a:avLst/>
          </a:prstGeom>
          <a:ln w="19050">
            <a:solidFill>
              <a:srgbClr val="3478B9"/>
            </a:solidFill>
            <a:prstDash val="dash"/>
            <a:tailEnd type="triangle" w="med" len="med"/>
          </a:ln>
        </p:spPr>
      </p:cxnSp>
      <p:sp>
        <p:nvSpPr>
          <p:cNvPr id="41" name="native-400">
            <a:extLst>
              <a:ext uri="{FF2B5EF4-FFF2-40B4-BE49-F238E27FC236}">
                <a16:creationId xmlns:a16="http://schemas.microsoft.com/office/drawing/2014/main" id="{41FFBF05-29A6-40BD-982B-BA477B43D64E}"/>
              </a:ext>
            </a:extLst>
          </p:cNvPr>
          <p:cNvSpPr>
            <a:spLocks noGrp="1"/>
          </p:cNvSpPr>
          <p:nvPr/>
        </p:nvSpPr>
        <p:spPr>
          <a:xfrm>
            <a:off x="1809750" y="3505200"/>
            <a:ext cx="4191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Bundle { total, entry[] }</a:t>
            </a:r>
          </a:p>
        </p:txBody>
      </p:sp>
      <p:sp>
        <p:nvSpPr>
          <p:cNvPr id="42" name="native-401">
            <a:extLst>
              <a:ext uri="{FF2B5EF4-FFF2-40B4-BE49-F238E27FC236}">
                <a16:creationId xmlns:a16="http://schemas.microsoft.com/office/drawing/2014/main" id="{C73F5FFD-D05D-4856-8180-F7C69D9A0381}"/>
              </a:ext>
            </a:extLst>
          </p:cNvPr>
          <p:cNvSpPr>
            <a:spLocks noGrp="1"/>
          </p:cNvSpPr>
          <p:nvPr/>
        </p:nvSpPr>
        <p:spPr>
          <a:xfrm>
            <a:off x="1709738" y="4176713"/>
            <a:ext cx="9525" cy="9525"/>
          </a:xfrm>
          <a:prstGeom prst="rect">
            <a:avLst/>
          </a:prstGeom>
          <a:noFill/>
          <a:ln w="0">
            <a:noFill/>
          </a:ln>
        </p:spPr>
        <p:txBody>
          <a:bodyPr/>
          <a:lstStyle/>
          <a:p>
            <a:endParaRPr lang="en-US"/>
          </a:p>
        </p:txBody>
      </p:sp>
      <p:sp>
        <p:nvSpPr>
          <p:cNvPr id="43" name="native-402">
            <a:extLst>
              <a:ext uri="{FF2B5EF4-FFF2-40B4-BE49-F238E27FC236}">
                <a16:creationId xmlns:a16="http://schemas.microsoft.com/office/drawing/2014/main" id="{8D752C37-AD34-404F-A68C-5B6B52ADE027}"/>
              </a:ext>
            </a:extLst>
          </p:cNvPr>
          <p:cNvSpPr>
            <a:spLocks noGrp="1"/>
          </p:cNvSpPr>
          <p:nvPr/>
        </p:nvSpPr>
        <p:spPr>
          <a:xfrm>
            <a:off x="6091238" y="4176713"/>
            <a:ext cx="9525" cy="9525"/>
          </a:xfrm>
          <a:prstGeom prst="rect">
            <a:avLst/>
          </a:prstGeom>
          <a:noFill/>
          <a:ln w="0">
            <a:noFill/>
          </a:ln>
        </p:spPr>
        <p:txBody>
          <a:bodyPr/>
          <a:lstStyle/>
          <a:p>
            <a:endParaRPr lang="en-US"/>
          </a:p>
        </p:txBody>
      </p:sp>
      <p:cxnSp>
        <p:nvCxnSpPr>
          <p:cNvPr id="102" name="Straight Arrow Connector 101"/>
          <p:cNvCxnSpPr>
            <a:stCxn id="42" idx="3"/>
            <a:endCxn id="43" idx="1"/>
          </p:cNvCxnSpPr>
          <p:nvPr/>
        </p:nvCxnSpPr>
        <p:spPr>
          <a:xfrm>
            <a:off x="1719263" y="4181476"/>
            <a:ext cx="4371975" cy="0"/>
          </a:xfrm>
          <a:prstGeom prst="straightConnector1">
            <a:avLst/>
          </a:prstGeom>
          <a:ln w="19050">
            <a:solidFill>
              <a:srgbClr val="0F8B8D"/>
            </a:solidFill>
            <a:prstDash val="solid"/>
            <a:tailEnd type="triangle" w="med" len="med"/>
          </a:ln>
        </p:spPr>
      </p:cxnSp>
      <p:sp>
        <p:nvSpPr>
          <p:cNvPr id="45" name="native-403">
            <a:extLst>
              <a:ext uri="{FF2B5EF4-FFF2-40B4-BE49-F238E27FC236}">
                <a16:creationId xmlns:a16="http://schemas.microsoft.com/office/drawing/2014/main" id="{8C81266B-9E5A-48C0-BD6D-39C47CD70836}"/>
              </a:ext>
            </a:extLst>
          </p:cNvPr>
          <p:cNvSpPr>
            <a:spLocks noGrp="1"/>
          </p:cNvSpPr>
          <p:nvPr/>
        </p:nvSpPr>
        <p:spPr>
          <a:xfrm>
            <a:off x="1809750" y="3914775"/>
            <a:ext cx="4191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GET /fhir/Patient?_count=20&amp;_offset=20</a:t>
            </a:r>
          </a:p>
        </p:txBody>
      </p:sp>
      <p:sp>
        <p:nvSpPr>
          <p:cNvPr id="46" name="native-404">
            <a:extLst>
              <a:ext uri="{FF2B5EF4-FFF2-40B4-BE49-F238E27FC236}">
                <a16:creationId xmlns:a16="http://schemas.microsoft.com/office/drawing/2014/main" id="{236FEC3D-AE2A-4D89-BF53-F5BED56F2788}"/>
              </a:ext>
            </a:extLst>
          </p:cNvPr>
          <p:cNvSpPr>
            <a:spLocks noGrp="1"/>
          </p:cNvSpPr>
          <p:nvPr/>
        </p:nvSpPr>
        <p:spPr>
          <a:xfrm>
            <a:off x="6091238" y="4586288"/>
            <a:ext cx="9525" cy="9525"/>
          </a:xfrm>
          <a:prstGeom prst="rect">
            <a:avLst/>
          </a:prstGeom>
          <a:noFill/>
          <a:ln w="0">
            <a:noFill/>
          </a:ln>
        </p:spPr>
        <p:txBody>
          <a:bodyPr/>
          <a:lstStyle/>
          <a:p>
            <a:endParaRPr lang="en-US"/>
          </a:p>
        </p:txBody>
      </p:sp>
      <p:sp>
        <p:nvSpPr>
          <p:cNvPr id="47" name="native-405">
            <a:extLst>
              <a:ext uri="{FF2B5EF4-FFF2-40B4-BE49-F238E27FC236}">
                <a16:creationId xmlns:a16="http://schemas.microsoft.com/office/drawing/2014/main" id="{8DFD1C9E-B6D6-4F3F-81E9-53BF3743DA03}"/>
              </a:ext>
            </a:extLst>
          </p:cNvPr>
          <p:cNvSpPr>
            <a:spLocks noGrp="1"/>
          </p:cNvSpPr>
          <p:nvPr/>
        </p:nvSpPr>
        <p:spPr>
          <a:xfrm>
            <a:off x="10472738" y="4586288"/>
            <a:ext cx="9525" cy="9525"/>
          </a:xfrm>
          <a:prstGeom prst="rect">
            <a:avLst/>
          </a:prstGeom>
          <a:noFill/>
          <a:ln w="0">
            <a:noFill/>
          </a:ln>
        </p:spPr>
        <p:txBody>
          <a:bodyPr/>
          <a:lstStyle/>
          <a:p>
            <a:endParaRPr lang="en-US"/>
          </a:p>
        </p:txBody>
      </p:sp>
      <p:cxnSp>
        <p:nvCxnSpPr>
          <p:cNvPr id="106" name="Straight Arrow Connector 105"/>
          <p:cNvCxnSpPr>
            <a:stCxn id="46" idx="3"/>
            <a:endCxn id="47" idx="1"/>
          </p:cNvCxnSpPr>
          <p:nvPr/>
        </p:nvCxnSpPr>
        <p:spPr>
          <a:xfrm>
            <a:off x="6100763" y="4591051"/>
            <a:ext cx="4371975" cy="0"/>
          </a:xfrm>
          <a:prstGeom prst="straightConnector1">
            <a:avLst/>
          </a:prstGeom>
          <a:ln w="19050">
            <a:solidFill>
              <a:srgbClr val="0F8B8D"/>
            </a:solidFill>
            <a:prstDash val="solid"/>
            <a:tailEnd type="triangle" w="med" len="med"/>
          </a:ln>
        </p:spPr>
      </p:cxnSp>
      <p:sp>
        <p:nvSpPr>
          <p:cNvPr id="49" name="native-406">
            <a:extLst>
              <a:ext uri="{FF2B5EF4-FFF2-40B4-BE49-F238E27FC236}">
                <a16:creationId xmlns:a16="http://schemas.microsoft.com/office/drawing/2014/main" id="{6C476C2B-8402-40CC-9B7F-4BB24132B198}"/>
              </a:ext>
            </a:extLst>
          </p:cNvPr>
          <p:cNvSpPr>
            <a:spLocks noGrp="1"/>
          </p:cNvSpPr>
          <p:nvPr/>
        </p:nvSpPr>
        <p:spPr>
          <a:xfrm>
            <a:off x="6191250" y="4324350"/>
            <a:ext cx="4191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Read next page</a:t>
            </a:r>
          </a:p>
        </p:txBody>
      </p:sp>
      <p:sp>
        <p:nvSpPr>
          <p:cNvPr id="50" name="native-407">
            <a:extLst>
              <a:ext uri="{FF2B5EF4-FFF2-40B4-BE49-F238E27FC236}">
                <a16:creationId xmlns:a16="http://schemas.microsoft.com/office/drawing/2014/main" id="{68243E61-A821-4F89-87EA-9729AFB5D21E}"/>
              </a:ext>
            </a:extLst>
          </p:cNvPr>
          <p:cNvSpPr>
            <a:spLocks noGrp="1"/>
          </p:cNvSpPr>
          <p:nvPr/>
        </p:nvSpPr>
        <p:spPr>
          <a:xfrm>
            <a:off x="10472738" y="4995863"/>
            <a:ext cx="9525" cy="9525"/>
          </a:xfrm>
          <a:prstGeom prst="rect">
            <a:avLst/>
          </a:prstGeom>
          <a:noFill/>
          <a:ln w="0">
            <a:noFill/>
          </a:ln>
        </p:spPr>
        <p:txBody>
          <a:bodyPr/>
          <a:lstStyle/>
          <a:p>
            <a:endParaRPr lang="en-US"/>
          </a:p>
        </p:txBody>
      </p:sp>
      <p:sp>
        <p:nvSpPr>
          <p:cNvPr id="51" name="native-408">
            <a:extLst>
              <a:ext uri="{FF2B5EF4-FFF2-40B4-BE49-F238E27FC236}">
                <a16:creationId xmlns:a16="http://schemas.microsoft.com/office/drawing/2014/main" id="{BDED082F-5768-4FEA-8137-B935C56E2523}"/>
              </a:ext>
            </a:extLst>
          </p:cNvPr>
          <p:cNvSpPr>
            <a:spLocks noGrp="1"/>
          </p:cNvSpPr>
          <p:nvPr/>
        </p:nvSpPr>
        <p:spPr>
          <a:xfrm>
            <a:off x="6091238" y="4995863"/>
            <a:ext cx="9525" cy="9525"/>
          </a:xfrm>
          <a:prstGeom prst="rect">
            <a:avLst/>
          </a:prstGeom>
          <a:noFill/>
          <a:ln w="0">
            <a:noFill/>
          </a:ln>
        </p:spPr>
        <p:txBody>
          <a:bodyPr/>
          <a:lstStyle/>
          <a:p>
            <a:endParaRPr lang="en-US"/>
          </a:p>
        </p:txBody>
      </p:sp>
      <p:cxnSp>
        <p:nvCxnSpPr>
          <p:cNvPr id="110" name="Straight Arrow Connector 109"/>
          <p:cNvCxnSpPr>
            <a:stCxn id="50" idx="3"/>
            <a:endCxn id="51" idx="1"/>
          </p:cNvCxnSpPr>
          <p:nvPr/>
        </p:nvCxnSpPr>
        <p:spPr>
          <a:xfrm flipH="1">
            <a:off x="6091238" y="5000626"/>
            <a:ext cx="4391025" cy="0"/>
          </a:xfrm>
          <a:prstGeom prst="straightConnector1">
            <a:avLst/>
          </a:prstGeom>
          <a:ln w="19050">
            <a:solidFill>
              <a:srgbClr val="3478B9"/>
            </a:solidFill>
            <a:prstDash val="dash"/>
            <a:tailEnd type="triangle" w="med" len="med"/>
          </a:ln>
        </p:spPr>
      </p:cxnSp>
      <p:sp>
        <p:nvSpPr>
          <p:cNvPr id="53" name="native-409">
            <a:extLst>
              <a:ext uri="{FF2B5EF4-FFF2-40B4-BE49-F238E27FC236}">
                <a16:creationId xmlns:a16="http://schemas.microsoft.com/office/drawing/2014/main" id="{420FE8BF-5F7D-46C2-B1E1-1E9DDAC2A4A0}"/>
              </a:ext>
            </a:extLst>
          </p:cNvPr>
          <p:cNvSpPr>
            <a:spLocks noGrp="1"/>
          </p:cNvSpPr>
          <p:nvPr/>
        </p:nvSpPr>
        <p:spPr>
          <a:xfrm>
            <a:off x="6191250" y="4733925"/>
            <a:ext cx="4191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Next resource documents</a:t>
            </a:r>
          </a:p>
        </p:txBody>
      </p:sp>
      <p:sp>
        <p:nvSpPr>
          <p:cNvPr id="54" name="native-410">
            <a:extLst>
              <a:ext uri="{FF2B5EF4-FFF2-40B4-BE49-F238E27FC236}">
                <a16:creationId xmlns:a16="http://schemas.microsoft.com/office/drawing/2014/main" id="{B4E5445B-FA19-4ACD-A683-5BDA7A122AE8}"/>
              </a:ext>
            </a:extLst>
          </p:cNvPr>
          <p:cNvSpPr>
            <a:spLocks noGrp="1"/>
          </p:cNvSpPr>
          <p:nvPr/>
        </p:nvSpPr>
        <p:spPr>
          <a:xfrm>
            <a:off x="6091238" y="5405438"/>
            <a:ext cx="9525" cy="9525"/>
          </a:xfrm>
          <a:prstGeom prst="rect">
            <a:avLst/>
          </a:prstGeom>
          <a:noFill/>
          <a:ln w="0">
            <a:noFill/>
          </a:ln>
        </p:spPr>
        <p:txBody>
          <a:bodyPr/>
          <a:lstStyle/>
          <a:p>
            <a:endParaRPr lang="en-US"/>
          </a:p>
        </p:txBody>
      </p:sp>
      <p:sp>
        <p:nvSpPr>
          <p:cNvPr id="55" name="native-411">
            <a:extLst>
              <a:ext uri="{FF2B5EF4-FFF2-40B4-BE49-F238E27FC236}">
                <a16:creationId xmlns:a16="http://schemas.microsoft.com/office/drawing/2014/main" id="{4262A080-8FED-4F72-B051-BF2643EDD302}"/>
              </a:ext>
            </a:extLst>
          </p:cNvPr>
          <p:cNvSpPr>
            <a:spLocks noGrp="1"/>
          </p:cNvSpPr>
          <p:nvPr/>
        </p:nvSpPr>
        <p:spPr>
          <a:xfrm>
            <a:off x="1709738" y="5405438"/>
            <a:ext cx="9525" cy="9525"/>
          </a:xfrm>
          <a:prstGeom prst="rect">
            <a:avLst/>
          </a:prstGeom>
          <a:noFill/>
          <a:ln w="0">
            <a:noFill/>
          </a:ln>
        </p:spPr>
        <p:txBody>
          <a:bodyPr/>
          <a:lstStyle/>
          <a:p>
            <a:endParaRPr lang="en-US"/>
          </a:p>
        </p:txBody>
      </p:sp>
      <p:cxnSp>
        <p:nvCxnSpPr>
          <p:cNvPr id="114" name="Straight Arrow Connector 113"/>
          <p:cNvCxnSpPr>
            <a:stCxn id="54" idx="3"/>
            <a:endCxn id="55" idx="1"/>
          </p:cNvCxnSpPr>
          <p:nvPr/>
        </p:nvCxnSpPr>
        <p:spPr>
          <a:xfrm flipH="1">
            <a:off x="1709738" y="5410201"/>
            <a:ext cx="4391025" cy="0"/>
          </a:xfrm>
          <a:prstGeom prst="straightConnector1">
            <a:avLst/>
          </a:prstGeom>
          <a:ln w="19050">
            <a:solidFill>
              <a:srgbClr val="3478B9"/>
            </a:solidFill>
            <a:prstDash val="dash"/>
            <a:tailEnd type="triangle" w="med" len="med"/>
          </a:ln>
        </p:spPr>
      </p:cxnSp>
      <p:sp>
        <p:nvSpPr>
          <p:cNvPr id="57" name="native-412">
            <a:extLst>
              <a:ext uri="{FF2B5EF4-FFF2-40B4-BE49-F238E27FC236}">
                <a16:creationId xmlns:a16="http://schemas.microsoft.com/office/drawing/2014/main" id="{15D1C882-7F1A-4526-8AD5-72871FACFB4B}"/>
              </a:ext>
            </a:extLst>
          </p:cNvPr>
          <p:cNvSpPr>
            <a:spLocks noGrp="1"/>
          </p:cNvSpPr>
          <p:nvPr/>
        </p:nvSpPr>
        <p:spPr>
          <a:xfrm>
            <a:off x="1809750" y="5143500"/>
            <a:ext cx="4191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Bundle with next-page entries</a:t>
            </a:r>
          </a:p>
        </p:txBody>
      </p:sp>
      <p:sp>
        <p:nvSpPr>
          <p:cNvPr id="58" name="native-413">
            <a:extLst>
              <a:ext uri="{FF2B5EF4-FFF2-40B4-BE49-F238E27FC236}">
                <a16:creationId xmlns:a16="http://schemas.microsoft.com/office/drawing/2014/main" id="{1E0758ED-895F-4851-B49B-BAD985FF6F31}"/>
              </a:ext>
            </a:extLst>
          </p:cNvPr>
          <p:cNvSpPr>
            <a:spLocks noGrp="1"/>
          </p:cNvSpPr>
          <p:nvPr/>
        </p:nvSpPr>
        <p:spPr>
          <a:xfrm>
            <a:off x="571500" y="5810250"/>
            <a:ext cx="11049000" cy="304800"/>
          </a:xfrm>
          <a:prstGeom prst="rect">
            <a:avLst/>
          </a:prstGeom>
          <a:noFill/>
          <a:ln w="0">
            <a:noFill/>
          </a:ln>
        </p:spPr>
        <p:txBody>
          <a:bodyPr anchor="ctr">
            <a:noAutofit/>
          </a:bodyPr>
          <a:lstStyle/>
          <a:p>
            <a:pPr algn="l">
              <a:defRPr sz="1350" b="0">
                <a:solidFill>
                  <a:srgbClr val="5D6C79"/>
                </a:solidFill>
                <a:latin typeface="Arial"/>
                <a:ea typeface="Arial"/>
                <a:cs typeface="Arial"/>
              </a:defRPr>
            </a:pPr>
            <a:r>
              <a:rPr sz="1350" b="0">
                <a:solidFill>
                  <a:srgbClr val="5D6C79"/>
                </a:solidFill>
                <a:latin typeface="Arial"/>
                <a:ea typeface="Arial"/>
                <a:cs typeface="Arial"/>
              </a:rPr>
              <a:t>Page size 20 illustrates the request. It is not a fixed platform configuration.</a:t>
            </a:r>
          </a:p>
        </p:txBody>
      </p:sp>
    </p:spTree>
    <p:extLst>
      <p:ext uri="{BB962C8B-B14F-4D97-AF65-F5344CB8AC3E}">
        <p14:creationId xmlns:p14="http://schemas.microsoft.com/office/powerpoint/2010/main" val="1874348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Administrative API Reference</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Endpoints, Authentication, and Role Requirements</a:t>
            </a:r>
            <a:endParaRPr lang="en-US" dirty="0"/>
          </a:p>
        </p:txBody>
      </p:sp>
      <p:sp>
        <p:nvSpPr>
          <p:cNvPr id="4" name="Shape 2"/>
          <p:cNvSpPr/>
          <p:nvPr/>
        </p:nvSpPr>
        <p:spPr>
          <a:xfrm>
            <a:off x="476250" y="1743075"/>
            <a:ext cx="11239500" cy="4638675"/>
          </a:xfrm>
          <a:prstGeom prst="roundRect">
            <a:avLst>
              <a:gd name="adj" fmla="val 1971"/>
            </a:avLst>
          </a:prstGeom>
          <a:solidFill>
            <a:srgbClr val="000000">
              <a:alpha val="0"/>
            </a:srgbClr>
          </a:solidFill>
          <a:ln>
            <a:miter lim="800000"/>
          </a:ln>
        </p:spPr>
        <p:txBody>
          <a:bodyPr/>
          <a:lstStyle/>
          <a:p>
            <a:endParaRPr lang="en-US"/>
          </a:p>
        </p:txBody>
      </p:sp>
      <p:pic>
        <p:nvPicPr>
          <p:cNvPr id="5" name="Image 0" descr="-307271de.png"/>
          <p:cNvPicPr>
            <a:picLocks noChangeAspect="1"/>
          </p:cNvPicPr>
          <p:nvPr/>
        </p:nvPicPr>
        <p:blipFill>
          <a:blip r:embed="rId3"/>
          <a:stretch>
            <a:fillRect/>
          </a:stretch>
        </p:blipFill>
        <p:spPr>
          <a:xfrm>
            <a:off x="476250" y="1743075"/>
            <a:ext cx="11249025" cy="4648200"/>
          </a:xfrm>
          <a:prstGeom prst="rect">
            <a:avLst/>
          </a:prstGeom>
        </p:spPr>
      </p:pic>
      <p:pic>
        <p:nvPicPr>
          <p:cNvPr id="6" name="Image 1" descr="-753c6a1e.png"/>
          <p:cNvPicPr>
            <a:picLocks noChangeAspect="1"/>
          </p:cNvPicPr>
          <p:nvPr/>
        </p:nvPicPr>
        <p:blipFill>
          <a:blip r:embed="rId4"/>
          <a:stretch>
            <a:fillRect/>
          </a:stretch>
        </p:blipFill>
        <p:spPr>
          <a:xfrm>
            <a:off x="476250" y="1743075"/>
            <a:ext cx="11239500" cy="4638675"/>
          </a:xfrm>
          <a:prstGeom prst="rect">
            <a:avLst/>
          </a:prstGeom>
        </p:spPr>
      </p:pic>
      <p:sp>
        <p:nvSpPr>
          <p:cNvPr id="7" name="Text 3"/>
          <p:cNvSpPr/>
          <p:nvPr/>
        </p:nvSpPr>
        <p:spPr>
          <a:xfrm>
            <a:off x="476250" y="1743075"/>
            <a:ext cx="2661977" cy="742188"/>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Category</a:t>
            </a:r>
            <a:endParaRPr lang="en-US" dirty="0"/>
          </a:p>
        </p:txBody>
      </p:sp>
      <p:sp>
        <p:nvSpPr>
          <p:cNvPr id="8" name="Text 4"/>
          <p:cNvSpPr/>
          <p:nvPr/>
        </p:nvSpPr>
        <p:spPr>
          <a:xfrm>
            <a:off x="3138227" y="1743075"/>
            <a:ext cx="3783283" cy="742188"/>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Endpoint</a:t>
            </a:r>
            <a:endParaRPr lang="en-US" dirty="0"/>
          </a:p>
        </p:txBody>
      </p:sp>
      <p:sp>
        <p:nvSpPr>
          <p:cNvPr id="9" name="Text 5"/>
          <p:cNvSpPr/>
          <p:nvPr/>
        </p:nvSpPr>
        <p:spPr>
          <a:xfrm>
            <a:off x="6921510" y="1743075"/>
            <a:ext cx="2217090" cy="742188"/>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Method</a:t>
            </a:r>
            <a:endParaRPr lang="en-US" dirty="0"/>
          </a:p>
        </p:txBody>
      </p:sp>
      <p:sp>
        <p:nvSpPr>
          <p:cNvPr id="10" name="Text 6"/>
          <p:cNvSpPr/>
          <p:nvPr/>
        </p:nvSpPr>
        <p:spPr>
          <a:xfrm>
            <a:off x="9138601" y="1743075"/>
            <a:ext cx="2577149" cy="742188"/>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Role Requirement</a:t>
            </a:r>
            <a:endParaRPr lang="en-US" dirty="0"/>
          </a:p>
        </p:txBody>
      </p:sp>
      <p:sp>
        <p:nvSpPr>
          <p:cNvPr id="11" name="Text 7"/>
          <p:cNvSpPr/>
          <p:nvPr/>
        </p:nvSpPr>
        <p:spPr>
          <a:xfrm>
            <a:off x="476250" y="2485263"/>
            <a:ext cx="2661977"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Authentication</a:t>
            </a:r>
            <a:endParaRPr lang="en-US" dirty="0"/>
          </a:p>
        </p:txBody>
      </p:sp>
      <p:sp>
        <p:nvSpPr>
          <p:cNvPr id="12" name="Text 8"/>
          <p:cNvSpPr/>
          <p:nvPr/>
        </p:nvSpPr>
        <p:spPr>
          <a:xfrm>
            <a:off x="3138227" y="2485263"/>
            <a:ext cx="3783283"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/api/auth/login</a:t>
            </a:r>
            <a:endParaRPr lang="en-US" dirty="0"/>
          </a:p>
        </p:txBody>
      </p:sp>
      <p:sp>
        <p:nvSpPr>
          <p:cNvPr id="13" name="Text 9"/>
          <p:cNvSpPr/>
          <p:nvPr/>
        </p:nvSpPr>
        <p:spPr>
          <a:xfrm>
            <a:off x="6921510" y="2485263"/>
            <a:ext cx="2217090"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POST</a:t>
            </a:r>
            <a:endParaRPr lang="en-US" dirty="0"/>
          </a:p>
        </p:txBody>
      </p:sp>
      <p:sp>
        <p:nvSpPr>
          <p:cNvPr id="14" name="Text 10"/>
          <p:cNvSpPr/>
          <p:nvPr/>
        </p:nvSpPr>
        <p:spPr>
          <a:xfrm>
            <a:off x="9138601" y="2485263"/>
            <a:ext cx="2577149"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Public</a:t>
            </a:r>
            <a:endParaRPr lang="en-US" dirty="0"/>
          </a:p>
        </p:txBody>
      </p:sp>
      <p:sp>
        <p:nvSpPr>
          <p:cNvPr id="15" name="Text 11"/>
          <p:cNvSpPr/>
          <p:nvPr/>
        </p:nvSpPr>
        <p:spPr>
          <a:xfrm>
            <a:off x="476250" y="3041904"/>
            <a:ext cx="2661977"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Statistics</a:t>
            </a:r>
            <a:endParaRPr lang="en-US" dirty="0"/>
          </a:p>
        </p:txBody>
      </p:sp>
      <p:sp>
        <p:nvSpPr>
          <p:cNvPr id="16" name="Text 12"/>
          <p:cNvSpPr/>
          <p:nvPr/>
        </p:nvSpPr>
        <p:spPr>
          <a:xfrm>
            <a:off x="3138227" y="3041904"/>
            <a:ext cx="3783283"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/api/admin/stats</a:t>
            </a:r>
            <a:endParaRPr lang="en-US" dirty="0"/>
          </a:p>
        </p:txBody>
      </p:sp>
      <p:sp>
        <p:nvSpPr>
          <p:cNvPr id="17" name="Text 13"/>
          <p:cNvSpPr/>
          <p:nvPr/>
        </p:nvSpPr>
        <p:spPr>
          <a:xfrm>
            <a:off x="6921510" y="3041904"/>
            <a:ext cx="2217090"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GET</a:t>
            </a:r>
            <a:endParaRPr lang="en-US" dirty="0"/>
          </a:p>
        </p:txBody>
      </p:sp>
      <p:sp>
        <p:nvSpPr>
          <p:cNvPr id="18" name="Text 14"/>
          <p:cNvSpPr/>
          <p:nvPr/>
        </p:nvSpPr>
        <p:spPr>
          <a:xfrm>
            <a:off x="9138601" y="3041904"/>
            <a:ext cx="2577149"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All roles</a:t>
            </a:r>
            <a:endParaRPr lang="en-US" dirty="0"/>
          </a:p>
        </p:txBody>
      </p:sp>
      <p:sp>
        <p:nvSpPr>
          <p:cNvPr id="19" name="Text 15"/>
          <p:cNvSpPr/>
          <p:nvPr/>
        </p:nvSpPr>
        <p:spPr>
          <a:xfrm>
            <a:off x="476250" y="3598545"/>
            <a:ext cx="2661977"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User Management</a:t>
            </a:r>
            <a:endParaRPr lang="en-US" dirty="0"/>
          </a:p>
        </p:txBody>
      </p:sp>
      <p:sp>
        <p:nvSpPr>
          <p:cNvPr id="20" name="Text 16"/>
          <p:cNvSpPr/>
          <p:nvPr/>
        </p:nvSpPr>
        <p:spPr>
          <a:xfrm>
            <a:off x="3138227" y="3598545"/>
            <a:ext cx="3783283"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/api/admin/users</a:t>
            </a:r>
            <a:endParaRPr lang="en-US" dirty="0"/>
          </a:p>
        </p:txBody>
      </p:sp>
      <p:sp>
        <p:nvSpPr>
          <p:cNvPr id="21" name="Text 17"/>
          <p:cNvSpPr/>
          <p:nvPr/>
        </p:nvSpPr>
        <p:spPr>
          <a:xfrm>
            <a:off x="6921510" y="3598545"/>
            <a:ext cx="2217090"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GET / POST</a:t>
            </a:r>
            <a:endParaRPr lang="en-US" dirty="0"/>
          </a:p>
        </p:txBody>
      </p:sp>
      <p:sp>
        <p:nvSpPr>
          <p:cNvPr id="22" name="Text 18"/>
          <p:cNvSpPr/>
          <p:nvPr/>
        </p:nvSpPr>
        <p:spPr>
          <a:xfrm>
            <a:off x="9138601" y="3598545"/>
            <a:ext cx="2577149"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ADMIN</a:t>
            </a:r>
            <a:endParaRPr lang="en-US" dirty="0"/>
          </a:p>
        </p:txBody>
      </p:sp>
      <p:sp>
        <p:nvSpPr>
          <p:cNvPr id="23" name="Text 19"/>
          <p:cNvSpPr/>
          <p:nvPr/>
        </p:nvSpPr>
        <p:spPr>
          <a:xfrm>
            <a:off x="476250" y="4155186"/>
            <a:ext cx="2661977"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User Management</a:t>
            </a:r>
            <a:endParaRPr lang="en-US" dirty="0"/>
          </a:p>
        </p:txBody>
      </p:sp>
      <p:sp>
        <p:nvSpPr>
          <p:cNvPr id="24" name="Text 20"/>
          <p:cNvSpPr/>
          <p:nvPr/>
        </p:nvSpPr>
        <p:spPr>
          <a:xfrm>
            <a:off x="3138227" y="4155186"/>
            <a:ext cx="3783283"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/api/admin/users/{id}</a:t>
            </a:r>
            <a:endParaRPr lang="en-US" dirty="0"/>
          </a:p>
        </p:txBody>
      </p:sp>
      <p:sp>
        <p:nvSpPr>
          <p:cNvPr id="25" name="Text 21"/>
          <p:cNvSpPr/>
          <p:nvPr/>
        </p:nvSpPr>
        <p:spPr>
          <a:xfrm>
            <a:off x="6921510" y="4155186"/>
            <a:ext cx="2217090"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PUT / DELETE</a:t>
            </a:r>
            <a:endParaRPr lang="en-US" dirty="0"/>
          </a:p>
        </p:txBody>
      </p:sp>
      <p:sp>
        <p:nvSpPr>
          <p:cNvPr id="26" name="Text 22"/>
          <p:cNvSpPr/>
          <p:nvPr/>
        </p:nvSpPr>
        <p:spPr>
          <a:xfrm>
            <a:off x="9138601" y="4155186"/>
            <a:ext cx="2577149"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ADMIN</a:t>
            </a:r>
            <a:endParaRPr lang="en-US" dirty="0"/>
          </a:p>
        </p:txBody>
      </p:sp>
      <p:sp>
        <p:nvSpPr>
          <p:cNvPr id="27" name="Text 23"/>
          <p:cNvSpPr/>
          <p:nvPr/>
        </p:nvSpPr>
        <p:spPr>
          <a:xfrm>
            <a:off x="476250" y="4711827"/>
            <a:ext cx="2661977"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Synthea</a:t>
            </a:r>
            <a:endParaRPr lang="en-US" dirty="0"/>
          </a:p>
        </p:txBody>
      </p:sp>
      <p:sp>
        <p:nvSpPr>
          <p:cNvPr id="28" name="Text 24"/>
          <p:cNvSpPr/>
          <p:nvPr/>
        </p:nvSpPr>
        <p:spPr>
          <a:xfrm>
            <a:off x="3138227" y="4711827"/>
            <a:ext cx="3783283"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/api/admin/synthea/generate</a:t>
            </a:r>
            <a:endParaRPr lang="en-US" dirty="0"/>
          </a:p>
        </p:txBody>
      </p:sp>
      <p:sp>
        <p:nvSpPr>
          <p:cNvPr id="29" name="Text 25"/>
          <p:cNvSpPr/>
          <p:nvPr/>
        </p:nvSpPr>
        <p:spPr>
          <a:xfrm>
            <a:off x="6921510" y="4711827"/>
            <a:ext cx="2217090"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POST</a:t>
            </a:r>
            <a:endParaRPr lang="en-US" dirty="0"/>
          </a:p>
        </p:txBody>
      </p:sp>
      <p:sp>
        <p:nvSpPr>
          <p:cNvPr id="30" name="Text 26"/>
          <p:cNvSpPr/>
          <p:nvPr/>
        </p:nvSpPr>
        <p:spPr>
          <a:xfrm>
            <a:off x="9138601" y="4711827"/>
            <a:ext cx="2577149"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ADMIN</a:t>
            </a:r>
            <a:endParaRPr lang="en-US" dirty="0"/>
          </a:p>
        </p:txBody>
      </p:sp>
      <p:sp>
        <p:nvSpPr>
          <p:cNvPr id="31" name="Text 27"/>
          <p:cNvSpPr/>
          <p:nvPr/>
        </p:nvSpPr>
        <p:spPr>
          <a:xfrm>
            <a:off x="476250" y="5268468"/>
            <a:ext cx="2661977"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Synthea</a:t>
            </a:r>
            <a:endParaRPr lang="en-US" dirty="0"/>
          </a:p>
        </p:txBody>
      </p:sp>
      <p:sp>
        <p:nvSpPr>
          <p:cNvPr id="32" name="Text 28"/>
          <p:cNvSpPr/>
          <p:nvPr/>
        </p:nvSpPr>
        <p:spPr>
          <a:xfrm>
            <a:off x="3138227" y="5268468"/>
            <a:ext cx="3783283"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/api/admin/synthea/jobs</a:t>
            </a:r>
            <a:endParaRPr lang="en-US" dirty="0"/>
          </a:p>
        </p:txBody>
      </p:sp>
      <p:sp>
        <p:nvSpPr>
          <p:cNvPr id="33" name="Text 29"/>
          <p:cNvSpPr/>
          <p:nvPr/>
        </p:nvSpPr>
        <p:spPr>
          <a:xfrm>
            <a:off x="6921510" y="5268468"/>
            <a:ext cx="2217090"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GET</a:t>
            </a:r>
            <a:endParaRPr lang="en-US" dirty="0"/>
          </a:p>
        </p:txBody>
      </p:sp>
      <p:sp>
        <p:nvSpPr>
          <p:cNvPr id="34" name="Text 30"/>
          <p:cNvSpPr/>
          <p:nvPr/>
        </p:nvSpPr>
        <p:spPr>
          <a:xfrm>
            <a:off x="9138601" y="5268468"/>
            <a:ext cx="2577149"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Bearer token</a:t>
            </a:r>
            <a:endParaRPr lang="en-US" dirty="0"/>
          </a:p>
        </p:txBody>
      </p:sp>
      <p:sp>
        <p:nvSpPr>
          <p:cNvPr id="35" name="Text 31"/>
          <p:cNvSpPr/>
          <p:nvPr/>
        </p:nvSpPr>
        <p:spPr>
          <a:xfrm>
            <a:off x="476250" y="5825109"/>
            <a:ext cx="2661977"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Synthea</a:t>
            </a:r>
            <a:endParaRPr lang="en-US" dirty="0"/>
          </a:p>
        </p:txBody>
      </p:sp>
      <p:sp>
        <p:nvSpPr>
          <p:cNvPr id="36" name="Text 32"/>
          <p:cNvSpPr/>
          <p:nvPr/>
        </p:nvSpPr>
        <p:spPr>
          <a:xfrm>
            <a:off x="3138227" y="5825109"/>
            <a:ext cx="3783283"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/api/admin/synthea/jobs/{id}</a:t>
            </a:r>
            <a:endParaRPr lang="en-US" dirty="0"/>
          </a:p>
        </p:txBody>
      </p:sp>
      <p:sp>
        <p:nvSpPr>
          <p:cNvPr id="37" name="Text 33"/>
          <p:cNvSpPr/>
          <p:nvPr/>
        </p:nvSpPr>
        <p:spPr>
          <a:xfrm>
            <a:off x="6921510" y="5825109"/>
            <a:ext cx="2217090"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GET</a:t>
            </a:r>
            <a:endParaRPr lang="en-US" dirty="0"/>
          </a:p>
        </p:txBody>
      </p:sp>
      <p:sp>
        <p:nvSpPr>
          <p:cNvPr id="38" name="Text 34"/>
          <p:cNvSpPr/>
          <p:nvPr/>
        </p:nvSpPr>
        <p:spPr>
          <a:xfrm>
            <a:off x="9138601" y="5825109"/>
            <a:ext cx="2577149" cy="556641"/>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Bearer token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 name="native-414">
            <a:extLst>
              <a:ext uri="{FF2B5EF4-FFF2-40B4-BE49-F238E27FC236}">
                <a16:creationId xmlns:a16="http://schemas.microsoft.com/office/drawing/2014/main" id="{E5268645-8C20-4FE8-871B-48F32D96FF9B}"/>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Continuous integration graph</a:t>
            </a:r>
          </a:p>
        </p:txBody>
      </p:sp>
      <p:sp>
        <p:nvSpPr>
          <p:cNvPr id="2" name="native-415">
            <a:extLst>
              <a:ext uri="{FF2B5EF4-FFF2-40B4-BE49-F238E27FC236}">
                <a16:creationId xmlns:a16="http://schemas.microsoft.com/office/drawing/2014/main" id="{07E3BFA9-B3F2-4976-B323-B053216269A8}"/>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Parallel validation jobs feed the Docker Compose build gate</a:t>
            </a:r>
          </a:p>
        </p:txBody>
      </p:sp>
      <p:sp>
        <p:nvSpPr>
          <p:cNvPr id="3" name="native-416">
            <a:extLst>
              <a:ext uri="{FF2B5EF4-FFF2-40B4-BE49-F238E27FC236}">
                <a16:creationId xmlns:a16="http://schemas.microsoft.com/office/drawing/2014/main" id="{C9B95ED3-509D-4805-AFDE-5886B787725C}"/>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417">
            <a:extLst>
              <a:ext uri="{FF2B5EF4-FFF2-40B4-BE49-F238E27FC236}">
                <a16:creationId xmlns:a16="http://schemas.microsoft.com/office/drawing/2014/main" id="{91DC58F3-90EE-44DD-A16B-E52F5EF49A40}"/>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103" name="Straight Arrow Connector 102"/>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418">
            <a:extLst>
              <a:ext uri="{FF2B5EF4-FFF2-40B4-BE49-F238E27FC236}">
                <a16:creationId xmlns:a16="http://schemas.microsoft.com/office/drawing/2014/main" id="{81C69345-A9C4-4510-ADA6-F4F7739FE8AB}"/>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ci.yml runs for pull requests and pushes to master. Reference duration: about 2 minutes.</a:t>
            </a:r>
          </a:p>
        </p:txBody>
      </p:sp>
      <p:sp>
        <p:nvSpPr>
          <p:cNvPr id="7" name="native-419">
            <a:extLst>
              <a:ext uri="{FF2B5EF4-FFF2-40B4-BE49-F238E27FC236}">
                <a16:creationId xmlns:a16="http://schemas.microsoft.com/office/drawing/2014/main" id="{381D797B-0EFD-4104-B1EC-4A252E77A445}"/>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21</a:t>
            </a:r>
          </a:p>
        </p:txBody>
      </p:sp>
      <p:sp>
        <p:nvSpPr>
          <p:cNvPr id="8" name="native-420">
            <a:extLst>
              <a:ext uri="{FF2B5EF4-FFF2-40B4-BE49-F238E27FC236}">
                <a16:creationId xmlns:a16="http://schemas.microsoft.com/office/drawing/2014/main" id="{D2E089F4-D6BA-4978-920A-23F9B60EFC0E}"/>
              </a:ext>
            </a:extLst>
          </p:cNvPr>
          <p:cNvSpPr>
            <a:spLocks noGrp="1"/>
          </p:cNvSpPr>
          <p:nvPr/>
        </p:nvSpPr>
        <p:spPr>
          <a:xfrm>
            <a:off x="523875" y="3152775"/>
            <a:ext cx="2333625" cy="952500"/>
          </a:xfrm>
          <a:prstGeom prst="rect">
            <a:avLst/>
          </a:prstGeom>
          <a:solidFill>
            <a:srgbClr val="E2F2F1"/>
          </a:solidFill>
          <a:ln w="9525">
            <a:solidFill>
              <a:srgbClr val="B6C6D2"/>
            </a:solidFill>
          </a:ln>
        </p:spPr>
        <p:txBody>
          <a:bodyPr/>
          <a:lstStyle/>
          <a:p>
            <a:endParaRPr lang="en-US"/>
          </a:p>
        </p:txBody>
      </p:sp>
      <p:sp>
        <p:nvSpPr>
          <p:cNvPr id="9" name="native-421">
            <a:extLst>
              <a:ext uri="{FF2B5EF4-FFF2-40B4-BE49-F238E27FC236}">
                <a16:creationId xmlns:a16="http://schemas.microsoft.com/office/drawing/2014/main" id="{CF5B2717-2BB2-41A3-AB30-B32D30119E5E}"/>
              </a:ext>
            </a:extLst>
          </p:cNvPr>
          <p:cNvSpPr>
            <a:spLocks noGrp="1"/>
          </p:cNvSpPr>
          <p:nvPr/>
        </p:nvSpPr>
        <p:spPr>
          <a:xfrm>
            <a:off x="657225" y="3228975"/>
            <a:ext cx="2066925"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PR / master push</a:t>
            </a:r>
          </a:p>
        </p:txBody>
      </p:sp>
      <p:sp>
        <p:nvSpPr>
          <p:cNvPr id="10" name="native-422">
            <a:extLst>
              <a:ext uri="{FF2B5EF4-FFF2-40B4-BE49-F238E27FC236}">
                <a16:creationId xmlns:a16="http://schemas.microsoft.com/office/drawing/2014/main" id="{0F25A9A3-E096-48A7-9F89-3742B78AA9E9}"/>
              </a:ext>
            </a:extLst>
          </p:cNvPr>
          <p:cNvSpPr>
            <a:spLocks noGrp="1"/>
          </p:cNvSpPr>
          <p:nvPr/>
        </p:nvSpPr>
        <p:spPr>
          <a:xfrm>
            <a:off x="657225" y="3562350"/>
            <a:ext cx="2066925" cy="4857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GitHub Actions: ci.yml</a:t>
            </a:r>
          </a:p>
        </p:txBody>
      </p:sp>
      <p:sp>
        <p:nvSpPr>
          <p:cNvPr id="11" name="native-423">
            <a:extLst>
              <a:ext uri="{FF2B5EF4-FFF2-40B4-BE49-F238E27FC236}">
                <a16:creationId xmlns:a16="http://schemas.microsoft.com/office/drawing/2014/main" id="{57EF3729-A789-49E7-AEA2-ACC38320BEC3}"/>
              </a:ext>
            </a:extLst>
          </p:cNvPr>
          <p:cNvSpPr>
            <a:spLocks noGrp="1"/>
          </p:cNvSpPr>
          <p:nvPr/>
        </p:nvSpPr>
        <p:spPr>
          <a:xfrm>
            <a:off x="4667250" y="1809750"/>
            <a:ext cx="2857500" cy="809625"/>
          </a:xfrm>
          <a:prstGeom prst="rect">
            <a:avLst/>
          </a:prstGeom>
          <a:solidFill>
            <a:srgbClr val="E8EFF5"/>
          </a:solidFill>
          <a:ln w="9525">
            <a:solidFill>
              <a:srgbClr val="B6C6D2"/>
            </a:solidFill>
          </a:ln>
        </p:spPr>
        <p:txBody>
          <a:bodyPr/>
          <a:lstStyle/>
          <a:p>
            <a:endParaRPr lang="en-US"/>
          </a:p>
        </p:txBody>
      </p:sp>
      <p:sp>
        <p:nvSpPr>
          <p:cNvPr id="12" name="native-424">
            <a:extLst>
              <a:ext uri="{FF2B5EF4-FFF2-40B4-BE49-F238E27FC236}">
                <a16:creationId xmlns:a16="http://schemas.microsoft.com/office/drawing/2014/main" id="{C5F1D7DE-0B01-4263-831D-5080D7B98621}"/>
              </a:ext>
            </a:extLst>
          </p:cNvPr>
          <p:cNvSpPr>
            <a:spLocks noGrp="1"/>
          </p:cNvSpPr>
          <p:nvPr/>
        </p:nvSpPr>
        <p:spPr>
          <a:xfrm>
            <a:off x="4800600" y="1885950"/>
            <a:ext cx="2590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Backend</a:t>
            </a:r>
          </a:p>
        </p:txBody>
      </p:sp>
      <p:sp>
        <p:nvSpPr>
          <p:cNvPr id="13" name="native-425">
            <a:extLst>
              <a:ext uri="{FF2B5EF4-FFF2-40B4-BE49-F238E27FC236}">
                <a16:creationId xmlns:a16="http://schemas.microsoft.com/office/drawing/2014/main" id="{B776421B-6D07-4A2E-AC14-1CFF4A4389FB}"/>
              </a:ext>
            </a:extLst>
          </p:cNvPr>
          <p:cNvSpPr>
            <a:spLocks noGrp="1"/>
          </p:cNvSpPr>
          <p:nvPr/>
        </p:nvSpPr>
        <p:spPr>
          <a:xfrm>
            <a:off x="4800600" y="2219325"/>
            <a:ext cx="2590800" cy="3429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mvn verify, 23 tests</a:t>
            </a:r>
          </a:p>
        </p:txBody>
      </p:sp>
      <p:sp>
        <p:nvSpPr>
          <p:cNvPr id="14" name="native-426">
            <a:extLst>
              <a:ext uri="{FF2B5EF4-FFF2-40B4-BE49-F238E27FC236}">
                <a16:creationId xmlns:a16="http://schemas.microsoft.com/office/drawing/2014/main" id="{D2A62D1D-E1FC-4997-A5B2-3D0B8C115F6F}"/>
              </a:ext>
            </a:extLst>
          </p:cNvPr>
          <p:cNvSpPr>
            <a:spLocks noGrp="1"/>
          </p:cNvSpPr>
          <p:nvPr/>
        </p:nvSpPr>
        <p:spPr>
          <a:xfrm>
            <a:off x="2852738" y="3624263"/>
            <a:ext cx="9525" cy="9525"/>
          </a:xfrm>
          <a:prstGeom prst="rect">
            <a:avLst/>
          </a:prstGeom>
          <a:noFill/>
          <a:ln w="0">
            <a:noFill/>
          </a:ln>
        </p:spPr>
        <p:txBody>
          <a:bodyPr/>
          <a:lstStyle/>
          <a:p>
            <a:endParaRPr lang="en-US"/>
          </a:p>
        </p:txBody>
      </p:sp>
      <p:sp>
        <p:nvSpPr>
          <p:cNvPr id="15" name="native-427">
            <a:extLst>
              <a:ext uri="{FF2B5EF4-FFF2-40B4-BE49-F238E27FC236}">
                <a16:creationId xmlns:a16="http://schemas.microsoft.com/office/drawing/2014/main" id="{B26281A8-DB36-4A7F-B32E-600E8F597B72}"/>
              </a:ext>
            </a:extLst>
          </p:cNvPr>
          <p:cNvSpPr>
            <a:spLocks noGrp="1"/>
          </p:cNvSpPr>
          <p:nvPr/>
        </p:nvSpPr>
        <p:spPr>
          <a:xfrm>
            <a:off x="3671888" y="3624263"/>
            <a:ext cx="9525" cy="9525"/>
          </a:xfrm>
          <a:prstGeom prst="rect">
            <a:avLst/>
          </a:prstGeom>
          <a:noFill/>
          <a:ln w="0">
            <a:noFill/>
          </a:ln>
        </p:spPr>
        <p:txBody>
          <a:bodyPr/>
          <a:lstStyle/>
          <a:p>
            <a:endParaRPr lang="en-US"/>
          </a:p>
        </p:txBody>
      </p:sp>
      <p:cxnSp>
        <p:nvCxnSpPr>
          <p:cNvPr id="114" name="Straight Arrow Connector 113"/>
          <p:cNvCxnSpPr>
            <a:stCxn id="14" idx="3"/>
            <a:endCxn id="15" idx="1"/>
          </p:cNvCxnSpPr>
          <p:nvPr/>
        </p:nvCxnSpPr>
        <p:spPr>
          <a:xfrm>
            <a:off x="2862263" y="3629026"/>
            <a:ext cx="809625" cy="0"/>
          </a:xfrm>
          <a:prstGeom prst="straightConnector1">
            <a:avLst/>
          </a:prstGeom>
          <a:ln w="19050">
            <a:solidFill>
              <a:srgbClr val="0F8B8D"/>
            </a:solidFill>
            <a:prstDash val="solid"/>
          </a:ln>
        </p:spPr>
      </p:cxnSp>
      <p:sp>
        <p:nvSpPr>
          <p:cNvPr id="17" name="native-428">
            <a:extLst>
              <a:ext uri="{FF2B5EF4-FFF2-40B4-BE49-F238E27FC236}">
                <a16:creationId xmlns:a16="http://schemas.microsoft.com/office/drawing/2014/main" id="{EFF8BD3A-DEB9-48A8-ACB5-E5A5EC2F1FE9}"/>
              </a:ext>
            </a:extLst>
          </p:cNvPr>
          <p:cNvSpPr>
            <a:spLocks noGrp="1"/>
          </p:cNvSpPr>
          <p:nvPr/>
        </p:nvSpPr>
        <p:spPr>
          <a:xfrm>
            <a:off x="3671888" y="3624263"/>
            <a:ext cx="9525" cy="9525"/>
          </a:xfrm>
          <a:prstGeom prst="rect">
            <a:avLst/>
          </a:prstGeom>
          <a:noFill/>
          <a:ln w="0">
            <a:noFill/>
          </a:ln>
        </p:spPr>
        <p:txBody>
          <a:bodyPr/>
          <a:lstStyle/>
          <a:p>
            <a:endParaRPr lang="en-US"/>
          </a:p>
        </p:txBody>
      </p:sp>
      <p:sp>
        <p:nvSpPr>
          <p:cNvPr id="18" name="native-429">
            <a:extLst>
              <a:ext uri="{FF2B5EF4-FFF2-40B4-BE49-F238E27FC236}">
                <a16:creationId xmlns:a16="http://schemas.microsoft.com/office/drawing/2014/main" id="{D50E3717-0204-4C47-A891-2F2AE81EAB25}"/>
              </a:ext>
            </a:extLst>
          </p:cNvPr>
          <p:cNvSpPr>
            <a:spLocks noGrp="1"/>
          </p:cNvSpPr>
          <p:nvPr/>
        </p:nvSpPr>
        <p:spPr>
          <a:xfrm>
            <a:off x="3671888" y="2205038"/>
            <a:ext cx="9525" cy="9525"/>
          </a:xfrm>
          <a:prstGeom prst="rect">
            <a:avLst/>
          </a:prstGeom>
          <a:noFill/>
          <a:ln w="0">
            <a:noFill/>
          </a:ln>
        </p:spPr>
        <p:txBody>
          <a:bodyPr/>
          <a:lstStyle/>
          <a:p>
            <a:endParaRPr lang="en-US"/>
          </a:p>
        </p:txBody>
      </p:sp>
      <p:cxnSp>
        <p:nvCxnSpPr>
          <p:cNvPr id="117" name="Straight Arrow Connector 116"/>
          <p:cNvCxnSpPr>
            <a:stCxn id="17" idx="3"/>
            <a:endCxn id="18" idx="1"/>
          </p:cNvCxnSpPr>
          <p:nvPr/>
        </p:nvCxnSpPr>
        <p:spPr>
          <a:xfrm flipH="1" flipV="1">
            <a:off x="3671888" y="2209801"/>
            <a:ext cx="9525" cy="1419225"/>
          </a:xfrm>
          <a:prstGeom prst="straightConnector1">
            <a:avLst/>
          </a:prstGeom>
          <a:ln w="19050">
            <a:solidFill>
              <a:srgbClr val="0F8B8D"/>
            </a:solidFill>
            <a:prstDash val="solid"/>
          </a:ln>
        </p:spPr>
      </p:cxnSp>
      <p:sp>
        <p:nvSpPr>
          <p:cNvPr id="20" name="native-430">
            <a:extLst>
              <a:ext uri="{FF2B5EF4-FFF2-40B4-BE49-F238E27FC236}">
                <a16:creationId xmlns:a16="http://schemas.microsoft.com/office/drawing/2014/main" id="{80901447-1AF4-45FC-8DD0-8139171D6354}"/>
              </a:ext>
            </a:extLst>
          </p:cNvPr>
          <p:cNvSpPr>
            <a:spLocks noGrp="1"/>
          </p:cNvSpPr>
          <p:nvPr/>
        </p:nvSpPr>
        <p:spPr>
          <a:xfrm>
            <a:off x="3671888" y="2205038"/>
            <a:ext cx="9525" cy="9525"/>
          </a:xfrm>
          <a:prstGeom prst="rect">
            <a:avLst/>
          </a:prstGeom>
          <a:noFill/>
          <a:ln w="0">
            <a:noFill/>
          </a:ln>
        </p:spPr>
        <p:txBody>
          <a:bodyPr/>
          <a:lstStyle/>
          <a:p>
            <a:endParaRPr lang="en-US"/>
          </a:p>
        </p:txBody>
      </p:sp>
      <p:sp>
        <p:nvSpPr>
          <p:cNvPr id="21" name="native-431">
            <a:extLst>
              <a:ext uri="{FF2B5EF4-FFF2-40B4-BE49-F238E27FC236}">
                <a16:creationId xmlns:a16="http://schemas.microsoft.com/office/drawing/2014/main" id="{C0B03892-CA2C-481F-AA5B-C51A24AA3226}"/>
              </a:ext>
            </a:extLst>
          </p:cNvPr>
          <p:cNvSpPr>
            <a:spLocks noGrp="1"/>
          </p:cNvSpPr>
          <p:nvPr/>
        </p:nvSpPr>
        <p:spPr>
          <a:xfrm>
            <a:off x="4662488" y="2205038"/>
            <a:ext cx="9525" cy="9525"/>
          </a:xfrm>
          <a:prstGeom prst="rect">
            <a:avLst/>
          </a:prstGeom>
          <a:noFill/>
          <a:ln w="0">
            <a:noFill/>
          </a:ln>
        </p:spPr>
        <p:txBody>
          <a:bodyPr/>
          <a:lstStyle/>
          <a:p>
            <a:endParaRPr lang="en-US"/>
          </a:p>
        </p:txBody>
      </p:sp>
      <p:cxnSp>
        <p:nvCxnSpPr>
          <p:cNvPr id="120" name="Straight Arrow Connector 119"/>
          <p:cNvCxnSpPr>
            <a:stCxn id="20" idx="3"/>
            <a:endCxn id="21" idx="1"/>
          </p:cNvCxnSpPr>
          <p:nvPr/>
        </p:nvCxnSpPr>
        <p:spPr>
          <a:xfrm>
            <a:off x="3681413" y="2209801"/>
            <a:ext cx="981075" cy="0"/>
          </a:xfrm>
          <a:prstGeom prst="straightConnector1">
            <a:avLst/>
          </a:prstGeom>
          <a:ln w="19050">
            <a:solidFill>
              <a:srgbClr val="0F8B8D"/>
            </a:solidFill>
            <a:prstDash val="solid"/>
            <a:tailEnd type="triangle" w="med" len="med"/>
          </a:ln>
        </p:spPr>
      </p:cxnSp>
      <p:sp>
        <p:nvSpPr>
          <p:cNvPr id="23" name="native-432">
            <a:extLst>
              <a:ext uri="{FF2B5EF4-FFF2-40B4-BE49-F238E27FC236}">
                <a16:creationId xmlns:a16="http://schemas.microsoft.com/office/drawing/2014/main" id="{DEB27FBF-62C5-4F41-BFC9-A03B8F90D662}"/>
              </a:ext>
            </a:extLst>
          </p:cNvPr>
          <p:cNvSpPr>
            <a:spLocks noGrp="1"/>
          </p:cNvSpPr>
          <p:nvPr/>
        </p:nvSpPr>
        <p:spPr>
          <a:xfrm>
            <a:off x="4667250" y="2838450"/>
            <a:ext cx="2857500" cy="809625"/>
          </a:xfrm>
          <a:prstGeom prst="rect">
            <a:avLst/>
          </a:prstGeom>
          <a:solidFill>
            <a:srgbClr val="E8EFF5"/>
          </a:solidFill>
          <a:ln w="9525">
            <a:solidFill>
              <a:srgbClr val="B6C6D2"/>
            </a:solidFill>
          </a:ln>
        </p:spPr>
        <p:txBody>
          <a:bodyPr/>
          <a:lstStyle/>
          <a:p>
            <a:endParaRPr lang="en-US"/>
          </a:p>
        </p:txBody>
      </p:sp>
      <p:sp>
        <p:nvSpPr>
          <p:cNvPr id="24" name="native-433">
            <a:extLst>
              <a:ext uri="{FF2B5EF4-FFF2-40B4-BE49-F238E27FC236}">
                <a16:creationId xmlns:a16="http://schemas.microsoft.com/office/drawing/2014/main" id="{8ADFE493-5831-48A2-B3A7-2FEF774AA615}"/>
              </a:ext>
            </a:extLst>
          </p:cNvPr>
          <p:cNvSpPr>
            <a:spLocks noGrp="1"/>
          </p:cNvSpPr>
          <p:nvPr/>
        </p:nvSpPr>
        <p:spPr>
          <a:xfrm>
            <a:off x="4800600" y="2914650"/>
            <a:ext cx="2590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Admin frontend</a:t>
            </a:r>
          </a:p>
        </p:txBody>
      </p:sp>
      <p:sp>
        <p:nvSpPr>
          <p:cNvPr id="25" name="native-434">
            <a:extLst>
              <a:ext uri="{FF2B5EF4-FFF2-40B4-BE49-F238E27FC236}">
                <a16:creationId xmlns:a16="http://schemas.microsoft.com/office/drawing/2014/main" id="{C1F62B1E-4BC8-49EE-AE51-83001D437F1A}"/>
              </a:ext>
            </a:extLst>
          </p:cNvPr>
          <p:cNvSpPr>
            <a:spLocks noGrp="1"/>
          </p:cNvSpPr>
          <p:nvPr/>
        </p:nvSpPr>
        <p:spPr>
          <a:xfrm>
            <a:off x="4800600" y="3248025"/>
            <a:ext cx="2590800" cy="3429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TypeScript + Vite build</a:t>
            </a:r>
          </a:p>
        </p:txBody>
      </p:sp>
      <p:sp>
        <p:nvSpPr>
          <p:cNvPr id="26" name="native-435">
            <a:extLst>
              <a:ext uri="{FF2B5EF4-FFF2-40B4-BE49-F238E27FC236}">
                <a16:creationId xmlns:a16="http://schemas.microsoft.com/office/drawing/2014/main" id="{AF490F26-64AA-4684-944B-6DCABEB3427D}"/>
              </a:ext>
            </a:extLst>
          </p:cNvPr>
          <p:cNvSpPr>
            <a:spLocks noGrp="1"/>
          </p:cNvSpPr>
          <p:nvPr/>
        </p:nvSpPr>
        <p:spPr>
          <a:xfrm>
            <a:off x="2852738" y="3624263"/>
            <a:ext cx="9525" cy="9525"/>
          </a:xfrm>
          <a:prstGeom prst="rect">
            <a:avLst/>
          </a:prstGeom>
          <a:noFill/>
          <a:ln w="0">
            <a:noFill/>
          </a:ln>
        </p:spPr>
        <p:txBody>
          <a:bodyPr/>
          <a:lstStyle/>
          <a:p>
            <a:endParaRPr lang="en-US"/>
          </a:p>
        </p:txBody>
      </p:sp>
      <p:sp>
        <p:nvSpPr>
          <p:cNvPr id="27" name="native-436">
            <a:extLst>
              <a:ext uri="{FF2B5EF4-FFF2-40B4-BE49-F238E27FC236}">
                <a16:creationId xmlns:a16="http://schemas.microsoft.com/office/drawing/2014/main" id="{C655CEFD-99BE-4692-B7D2-2A9FFCAF5F4E}"/>
              </a:ext>
            </a:extLst>
          </p:cNvPr>
          <p:cNvSpPr>
            <a:spLocks noGrp="1"/>
          </p:cNvSpPr>
          <p:nvPr/>
        </p:nvSpPr>
        <p:spPr>
          <a:xfrm>
            <a:off x="3671888" y="3624263"/>
            <a:ext cx="9525" cy="9525"/>
          </a:xfrm>
          <a:prstGeom prst="rect">
            <a:avLst/>
          </a:prstGeom>
          <a:noFill/>
          <a:ln w="0">
            <a:noFill/>
          </a:ln>
        </p:spPr>
        <p:txBody>
          <a:bodyPr/>
          <a:lstStyle/>
          <a:p>
            <a:endParaRPr lang="en-US"/>
          </a:p>
        </p:txBody>
      </p:sp>
      <p:cxnSp>
        <p:nvCxnSpPr>
          <p:cNvPr id="126" name="Straight Arrow Connector 125"/>
          <p:cNvCxnSpPr>
            <a:stCxn id="26" idx="3"/>
            <a:endCxn id="27" idx="1"/>
          </p:cNvCxnSpPr>
          <p:nvPr/>
        </p:nvCxnSpPr>
        <p:spPr>
          <a:xfrm>
            <a:off x="2862263" y="3629026"/>
            <a:ext cx="809625" cy="0"/>
          </a:xfrm>
          <a:prstGeom prst="straightConnector1">
            <a:avLst/>
          </a:prstGeom>
          <a:ln w="19050">
            <a:solidFill>
              <a:srgbClr val="0F8B8D"/>
            </a:solidFill>
            <a:prstDash val="solid"/>
          </a:ln>
        </p:spPr>
      </p:cxnSp>
      <p:sp>
        <p:nvSpPr>
          <p:cNvPr id="29" name="native-437">
            <a:extLst>
              <a:ext uri="{FF2B5EF4-FFF2-40B4-BE49-F238E27FC236}">
                <a16:creationId xmlns:a16="http://schemas.microsoft.com/office/drawing/2014/main" id="{DAD772B3-4E6E-4F2B-98EA-DFB4CC0E7A56}"/>
              </a:ext>
            </a:extLst>
          </p:cNvPr>
          <p:cNvSpPr>
            <a:spLocks noGrp="1"/>
          </p:cNvSpPr>
          <p:nvPr/>
        </p:nvSpPr>
        <p:spPr>
          <a:xfrm>
            <a:off x="3671888" y="3624263"/>
            <a:ext cx="9525" cy="9525"/>
          </a:xfrm>
          <a:prstGeom prst="rect">
            <a:avLst/>
          </a:prstGeom>
          <a:noFill/>
          <a:ln w="0">
            <a:noFill/>
          </a:ln>
        </p:spPr>
        <p:txBody>
          <a:bodyPr/>
          <a:lstStyle/>
          <a:p>
            <a:endParaRPr lang="en-US"/>
          </a:p>
        </p:txBody>
      </p:sp>
      <p:sp>
        <p:nvSpPr>
          <p:cNvPr id="30" name="native-438">
            <a:extLst>
              <a:ext uri="{FF2B5EF4-FFF2-40B4-BE49-F238E27FC236}">
                <a16:creationId xmlns:a16="http://schemas.microsoft.com/office/drawing/2014/main" id="{A95653AD-E2BF-48E7-9D41-72F147942D52}"/>
              </a:ext>
            </a:extLst>
          </p:cNvPr>
          <p:cNvSpPr>
            <a:spLocks noGrp="1"/>
          </p:cNvSpPr>
          <p:nvPr/>
        </p:nvSpPr>
        <p:spPr>
          <a:xfrm>
            <a:off x="3671888" y="3233738"/>
            <a:ext cx="9525" cy="9525"/>
          </a:xfrm>
          <a:prstGeom prst="rect">
            <a:avLst/>
          </a:prstGeom>
          <a:noFill/>
          <a:ln w="0">
            <a:noFill/>
          </a:ln>
        </p:spPr>
        <p:txBody>
          <a:bodyPr/>
          <a:lstStyle/>
          <a:p>
            <a:endParaRPr lang="en-US"/>
          </a:p>
        </p:txBody>
      </p:sp>
      <p:cxnSp>
        <p:nvCxnSpPr>
          <p:cNvPr id="129" name="Straight Arrow Connector 128"/>
          <p:cNvCxnSpPr>
            <a:stCxn id="29" idx="3"/>
            <a:endCxn id="30" idx="1"/>
          </p:cNvCxnSpPr>
          <p:nvPr/>
        </p:nvCxnSpPr>
        <p:spPr>
          <a:xfrm flipH="1" flipV="1">
            <a:off x="3671888" y="3238501"/>
            <a:ext cx="9525" cy="390525"/>
          </a:xfrm>
          <a:prstGeom prst="straightConnector1">
            <a:avLst/>
          </a:prstGeom>
          <a:ln w="19050">
            <a:solidFill>
              <a:srgbClr val="0F8B8D"/>
            </a:solidFill>
            <a:prstDash val="solid"/>
          </a:ln>
        </p:spPr>
      </p:cxnSp>
      <p:sp>
        <p:nvSpPr>
          <p:cNvPr id="32" name="native-439">
            <a:extLst>
              <a:ext uri="{FF2B5EF4-FFF2-40B4-BE49-F238E27FC236}">
                <a16:creationId xmlns:a16="http://schemas.microsoft.com/office/drawing/2014/main" id="{FC012619-0DE9-4C90-80CF-8AD88DD3CA24}"/>
              </a:ext>
            </a:extLst>
          </p:cNvPr>
          <p:cNvSpPr>
            <a:spLocks noGrp="1"/>
          </p:cNvSpPr>
          <p:nvPr/>
        </p:nvSpPr>
        <p:spPr>
          <a:xfrm>
            <a:off x="3671888" y="3233738"/>
            <a:ext cx="9525" cy="9525"/>
          </a:xfrm>
          <a:prstGeom prst="rect">
            <a:avLst/>
          </a:prstGeom>
          <a:noFill/>
          <a:ln w="0">
            <a:noFill/>
          </a:ln>
        </p:spPr>
        <p:txBody>
          <a:bodyPr/>
          <a:lstStyle/>
          <a:p>
            <a:endParaRPr lang="en-US"/>
          </a:p>
        </p:txBody>
      </p:sp>
      <p:sp>
        <p:nvSpPr>
          <p:cNvPr id="33" name="native-440">
            <a:extLst>
              <a:ext uri="{FF2B5EF4-FFF2-40B4-BE49-F238E27FC236}">
                <a16:creationId xmlns:a16="http://schemas.microsoft.com/office/drawing/2014/main" id="{857BAF4C-BA9C-46D2-8775-58FEFB5F06E3}"/>
              </a:ext>
            </a:extLst>
          </p:cNvPr>
          <p:cNvSpPr>
            <a:spLocks noGrp="1"/>
          </p:cNvSpPr>
          <p:nvPr/>
        </p:nvSpPr>
        <p:spPr>
          <a:xfrm>
            <a:off x="4662488" y="3233738"/>
            <a:ext cx="9525" cy="9525"/>
          </a:xfrm>
          <a:prstGeom prst="rect">
            <a:avLst/>
          </a:prstGeom>
          <a:noFill/>
          <a:ln w="0">
            <a:noFill/>
          </a:ln>
        </p:spPr>
        <p:txBody>
          <a:bodyPr/>
          <a:lstStyle/>
          <a:p>
            <a:endParaRPr lang="en-US"/>
          </a:p>
        </p:txBody>
      </p:sp>
      <p:cxnSp>
        <p:nvCxnSpPr>
          <p:cNvPr id="132" name="Straight Arrow Connector 131"/>
          <p:cNvCxnSpPr>
            <a:stCxn id="32" idx="3"/>
            <a:endCxn id="33" idx="1"/>
          </p:cNvCxnSpPr>
          <p:nvPr/>
        </p:nvCxnSpPr>
        <p:spPr>
          <a:xfrm>
            <a:off x="3681413" y="3238501"/>
            <a:ext cx="981075" cy="0"/>
          </a:xfrm>
          <a:prstGeom prst="straightConnector1">
            <a:avLst/>
          </a:prstGeom>
          <a:ln w="19050">
            <a:solidFill>
              <a:srgbClr val="0F8B8D"/>
            </a:solidFill>
            <a:prstDash val="solid"/>
            <a:tailEnd type="triangle" w="med" len="med"/>
          </a:ln>
        </p:spPr>
      </p:cxnSp>
      <p:sp>
        <p:nvSpPr>
          <p:cNvPr id="35" name="native-441">
            <a:extLst>
              <a:ext uri="{FF2B5EF4-FFF2-40B4-BE49-F238E27FC236}">
                <a16:creationId xmlns:a16="http://schemas.microsoft.com/office/drawing/2014/main" id="{1CC5C09D-3296-4858-B721-4D1C7390DF99}"/>
              </a:ext>
            </a:extLst>
          </p:cNvPr>
          <p:cNvSpPr>
            <a:spLocks noGrp="1"/>
          </p:cNvSpPr>
          <p:nvPr/>
        </p:nvSpPr>
        <p:spPr>
          <a:xfrm>
            <a:off x="4667250" y="3867150"/>
            <a:ext cx="2857500" cy="809625"/>
          </a:xfrm>
          <a:prstGeom prst="rect">
            <a:avLst/>
          </a:prstGeom>
          <a:solidFill>
            <a:srgbClr val="E8EFF5"/>
          </a:solidFill>
          <a:ln w="9525">
            <a:solidFill>
              <a:srgbClr val="B6C6D2"/>
            </a:solidFill>
          </a:ln>
        </p:spPr>
        <p:txBody>
          <a:bodyPr/>
          <a:lstStyle/>
          <a:p>
            <a:endParaRPr lang="en-US"/>
          </a:p>
        </p:txBody>
      </p:sp>
      <p:sp>
        <p:nvSpPr>
          <p:cNvPr id="36" name="native-442">
            <a:extLst>
              <a:ext uri="{FF2B5EF4-FFF2-40B4-BE49-F238E27FC236}">
                <a16:creationId xmlns:a16="http://schemas.microsoft.com/office/drawing/2014/main" id="{1CBB09F5-8502-49E5-93A3-197823AC02DB}"/>
              </a:ext>
            </a:extLst>
          </p:cNvPr>
          <p:cNvSpPr>
            <a:spLocks noGrp="1"/>
          </p:cNvSpPr>
          <p:nvPr/>
        </p:nvSpPr>
        <p:spPr>
          <a:xfrm>
            <a:off x="4800600" y="3943350"/>
            <a:ext cx="2590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Frontend tests</a:t>
            </a:r>
          </a:p>
        </p:txBody>
      </p:sp>
      <p:sp>
        <p:nvSpPr>
          <p:cNvPr id="37" name="native-443">
            <a:extLst>
              <a:ext uri="{FF2B5EF4-FFF2-40B4-BE49-F238E27FC236}">
                <a16:creationId xmlns:a16="http://schemas.microsoft.com/office/drawing/2014/main" id="{723CDFB1-7479-4406-9BC9-994901E5D2A1}"/>
              </a:ext>
            </a:extLst>
          </p:cNvPr>
          <p:cNvSpPr>
            <a:spLocks noGrp="1"/>
          </p:cNvSpPr>
          <p:nvPr/>
        </p:nvSpPr>
        <p:spPr>
          <a:xfrm>
            <a:off x="4800600" y="4276725"/>
            <a:ext cx="2590800" cy="3429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Vitest, 26 tests</a:t>
            </a:r>
          </a:p>
        </p:txBody>
      </p:sp>
      <p:sp>
        <p:nvSpPr>
          <p:cNvPr id="38" name="native-444">
            <a:extLst>
              <a:ext uri="{FF2B5EF4-FFF2-40B4-BE49-F238E27FC236}">
                <a16:creationId xmlns:a16="http://schemas.microsoft.com/office/drawing/2014/main" id="{642AB471-53B0-49FD-B51C-3374EBA32BD3}"/>
              </a:ext>
            </a:extLst>
          </p:cNvPr>
          <p:cNvSpPr>
            <a:spLocks noGrp="1"/>
          </p:cNvSpPr>
          <p:nvPr/>
        </p:nvSpPr>
        <p:spPr>
          <a:xfrm>
            <a:off x="2852738" y="3624263"/>
            <a:ext cx="9525" cy="9525"/>
          </a:xfrm>
          <a:prstGeom prst="rect">
            <a:avLst/>
          </a:prstGeom>
          <a:noFill/>
          <a:ln w="0">
            <a:noFill/>
          </a:ln>
        </p:spPr>
        <p:txBody>
          <a:bodyPr/>
          <a:lstStyle/>
          <a:p>
            <a:endParaRPr lang="en-US"/>
          </a:p>
        </p:txBody>
      </p:sp>
      <p:sp>
        <p:nvSpPr>
          <p:cNvPr id="39" name="native-445">
            <a:extLst>
              <a:ext uri="{FF2B5EF4-FFF2-40B4-BE49-F238E27FC236}">
                <a16:creationId xmlns:a16="http://schemas.microsoft.com/office/drawing/2014/main" id="{69A16C25-5C20-4B83-9A64-5913DD0B914E}"/>
              </a:ext>
            </a:extLst>
          </p:cNvPr>
          <p:cNvSpPr>
            <a:spLocks noGrp="1"/>
          </p:cNvSpPr>
          <p:nvPr/>
        </p:nvSpPr>
        <p:spPr>
          <a:xfrm>
            <a:off x="3671888" y="3624263"/>
            <a:ext cx="9525" cy="9525"/>
          </a:xfrm>
          <a:prstGeom prst="rect">
            <a:avLst/>
          </a:prstGeom>
          <a:noFill/>
          <a:ln w="0">
            <a:noFill/>
          </a:ln>
        </p:spPr>
        <p:txBody>
          <a:bodyPr/>
          <a:lstStyle/>
          <a:p>
            <a:endParaRPr lang="en-US"/>
          </a:p>
        </p:txBody>
      </p:sp>
      <p:cxnSp>
        <p:nvCxnSpPr>
          <p:cNvPr id="138" name="Straight Arrow Connector 137"/>
          <p:cNvCxnSpPr>
            <a:stCxn id="38" idx="3"/>
            <a:endCxn id="39" idx="1"/>
          </p:cNvCxnSpPr>
          <p:nvPr/>
        </p:nvCxnSpPr>
        <p:spPr>
          <a:xfrm>
            <a:off x="2862263" y="3629026"/>
            <a:ext cx="809625" cy="0"/>
          </a:xfrm>
          <a:prstGeom prst="straightConnector1">
            <a:avLst/>
          </a:prstGeom>
          <a:ln w="19050">
            <a:solidFill>
              <a:srgbClr val="0F8B8D"/>
            </a:solidFill>
            <a:prstDash val="solid"/>
          </a:ln>
        </p:spPr>
      </p:cxnSp>
      <p:sp>
        <p:nvSpPr>
          <p:cNvPr id="41" name="native-446">
            <a:extLst>
              <a:ext uri="{FF2B5EF4-FFF2-40B4-BE49-F238E27FC236}">
                <a16:creationId xmlns:a16="http://schemas.microsoft.com/office/drawing/2014/main" id="{647D3F3F-5324-4128-B376-1C70B02AA17D}"/>
              </a:ext>
            </a:extLst>
          </p:cNvPr>
          <p:cNvSpPr>
            <a:spLocks noGrp="1"/>
          </p:cNvSpPr>
          <p:nvPr/>
        </p:nvSpPr>
        <p:spPr>
          <a:xfrm>
            <a:off x="3671888" y="3624263"/>
            <a:ext cx="9525" cy="9525"/>
          </a:xfrm>
          <a:prstGeom prst="rect">
            <a:avLst/>
          </a:prstGeom>
          <a:noFill/>
          <a:ln w="0">
            <a:noFill/>
          </a:ln>
        </p:spPr>
        <p:txBody>
          <a:bodyPr/>
          <a:lstStyle/>
          <a:p>
            <a:endParaRPr lang="en-US"/>
          </a:p>
        </p:txBody>
      </p:sp>
      <p:sp>
        <p:nvSpPr>
          <p:cNvPr id="42" name="native-447">
            <a:extLst>
              <a:ext uri="{FF2B5EF4-FFF2-40B4-BE49-F238E27FC236}">
                <a16:creationId xmlns:a16="http://schemas.microsoft.com/office/drawing/2014/main" id="{C4391BA5-8765-497D-993B-725FC97D7ACC}"/>
              </a:ext>
            </a:extLst>
          </p:cNvPr>
          <p:cNvSpPr>
            <a:spLocks noGrp="1"/>
          </p:cNvSpPr>
          <p:nvPr/>
        </p:nvSpPr>
        <p:spPr>
          <a:xfrm>
            <a:off x="3671888" y="4262438"/>
            <a:ext cx="9525" cy="9525"/>
          </a:xfrm>
          <a:prstGeom prst="rect">
            <a:avLst/>
          </a:prstGeom>
          <a:noFill/>
          <a:ln w="0">
            <a:noFill/>
          </a:ln>
        </p:spPr>
        <p:txBody>
          <a:bodyPr/>
          <a:lstStyle/>
          <a:p>
            <a:endParaRPr lang="en-US"/>
          </a:p>
        </p:txBody>
      </p:sp>
      <p:cxnSp>
        <p:nvCxnSpPr>
          <p:cNvPr id="141" name="Straight Arrow Connector 140"/>
          <p:cNvCxnSpPr>
            <a:stCxn id="41" idx="3"/>
            <a:endCxn id="42" idx="1"/>
          </p:cNvCxnSpPr>
          <p:nvPr/>
        </p:nvCxnSpPr>
        <p:spPr>
          <a:xfrm flipH="1">
            <a:off x="3671888" y="3629026"/>
            <a:ext cx="9525" cy="638175"/>
          </a:xfrm>
          <a:prstGeom prst="straightConnector1">
            <a:avLst/>
          </a:prstGeom>
          <a:ln w="19050">
            <a:solidFill>
              <a:srgbClr val="0F8B8D"/>
            </a:solidFill>
            <a:prstDash val="solid"/>
          </a:ln>
        </p:spPr>
      </p:cxnSp>
      <p:sp>
        <p:nvSpPr>
          <p:cNvPr id="44" name="native-448">
            <a:extLst>
              <a:ext uri="{FF2B5EF4-FFF2-40B4-BE49-F238E27FC236}">
                <a16:creationId xmlns:a16="http://schemas.microsoft.com/office/drawing/2014/main" id="{5ECA064F-0656-46CB-BB75-A9E6E843CB30}"/>
              </a:ext>
            </a:extLst>
          </p:cNvPr>
          <p:cNvSpPr>
            <a:spLocks noGrp="1"/>
          </p:cNvSpPr>
          <p:nvPr/>
        </p:nvSpPr>
        <p:spPr>
          <a:xfrm>
            <a:off x="3671888" y="4262438"/>
            <a:ext cx="9525" cy="9525"/>
          </a:xfrm>
          <a:prstGeom prst="rect">
            <a:avLst/>
          </a:prstGeom>
          <a:noFill/>
          <a:ln w="0">
            <a:noFill/>
          </a:ln>
        </p:spPr>
        <p:txBody>
          <a:bodyPr/>
          <a:lstStyle/>
          <a:p>
            <a:endParaRPr lang="en-US"/>
          </a:p>
        </p:txBody>
      </p:sp>
      <p:sp>
        <p:nvSpPr>
          <p:cNvPr id="45" name="native-449">
            <a:extLst>
              <a:ext uri="{FF2B5EF4-FFF2-40B4-BE49-F238E27FC236}">
                <a16:creationId xmlns:a16="http://schemas.microsoft.com/office/drawing/2014/main" id="{2BD7EB35-224B-4893-94B5-55C8DCC28F7E}"/>
              </a:ext>
            </a:extLst>
          </p:cNvPr>
          <p:cNvSpPr>
            <a:spLocks noGrp="1"/>
          </p:cNvSpPr>
          <p:nvPr/>
        </p:nvSpPr>
        <p:spPr>
          <a:xfrm>
            <a:off x="4662488" y="4262438"/>
            <a:ext cx="9525" cy="9525"/>
          </a:xfrm>
          <a:prstGeom prst="rect">
            <a:avLst/>
          </a:prstGeom>
          <a:noFill/>
          <a:ln w="0">
            <a:noFill/>
          </a:ln>
        </p:spPr>
        <p:txBody>
          <a:bodyPr/>
          <a:lstStyle/>
          <a:p>
            <a:endParaRPr lang="en-US"/>
          </a:p>
        </p:txBody>
      </p:sp>
      <p:cxnSp>
        <p:nvCxnSpPr>
          <p:cNvPr id="144" name="Straight Arrow Connector 143"/>
          <p:cNvCxnSpPr>
            <a:stCxn id="44" idx="3"/>
            <a:endCxn id="45" idx="1"/>
          </p:cNvCxnSpPr>
          <p:nvPr/>
        </p:nvCxnSpPr>
        <p:spPr>
          <a:xfrm>
            <a:off x="3681413" y="4267201"/>
            <a:ext cx="981075" cy="0"/>
          </a:xfrm>
          <a:prstGeom prst="straightConnector1">
            <a:avLst/>
          </a:prstGeom>
          <a:ln w="19050">
            <a:solidFill>
              <a:srgbClr val="0F8B8D"/>
            </a:solidFill>
            <a:prstDash val="solid"/>
            <a:tailEnd type="triangle" w="med" len="med"/>
          </a:ln>
        </p:spPr>
      </p:cxnSp>
      <p:sp>
        <p:nvSpPr>
          <p:cNvPr id="47" name="native-450">
            <a:extLst>
              <a:ext uri="{FF2B5EF4-FFF2-40B4-BE49-F238E27FC236}">
                <a16:creationId xmlns:a16="http://schemas.microsoft.com/office/drawing/2014/main" id="{FC3EEC6F-2B77-441B-A0D4-4A9DF2CCE4BA}"/>
              </a:ext>
            </a:extLst>
          </p:cNvPr>
          <p:cNvSpPr>
            <a:spLocks noGrp="1"/>
          </p:cNvSpPr>
          <p:nvPr/>
        </p:nvSpPr>
        <p:spPr>
          <a:xfrm>
            <a:off x="4667250" y="4895850"/>
            <a:ext cx="2857500" cy="809625"/>
          </a:xfrm>
          <a:prstGeom prst="rect">
            <a:avLst/>
          </a:prstGeom>
          <a:solidFill>
            <a:srgbClr val="E8EFF5"/>
          </a:solidFill>
          <a:ln w="9525">
            <a:solidFill>
              <a:srgbClr val="B6C6D2"/>
            </a:solidFill>
          </a:ln>
        </p:spPr>
        <p:txBody>
          <a:bodyPr/>
          <a:lstStyle/>
          <a:p>
            <a:endParaRPr lang="en-US"/>
          </a:p>
        </p:txBody>
      </p:sp>
      <p:sp>
        <p:nvSpPr>
          <p:cNvPr id="48" name="native-451">
            <a:extLst>
              <a:ext uri="{FF2B5EF4-FFF2-40B4-BE49-F238E27FC236}">
                <a16:creationId xmlns:a16="http://schemas.microsoft.com/office/drawing/2014/main" id="{22D5F824-9A49-4FD0-A2F5-193C5C6AA17A}"/>
              </a:ext>
            </a:extLst>
          </p:cNvPr>
          <p:cNvSpPr>
            <a:spLocks noGrp="1"/>
          </p:cNvSpPr>
          <p:nvPr/>
        </p:nvSpPr>
        <p:spPr>
          <a:xfrm>
            <a:off x="4800600" y="4972050"/>
            <a:ext cx="2590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Demo client</a:t>
            </a:r>
          </a:p>
        </p:txBody>
      </p:sp>
      <p:sp>
        <p:nvSpPr>
          <p:cNvPr id="49" name="native-452">
            <a:extLst>
              <a:ext uri="{FF2B5EF4-FFF2-40B4-BE49-F238E27FC236}">
                <a16:creationId xmlns:a16="http://schemas.microsoft.com/office/drawing/2014/main" id="{FFD268F3-3251-45B0-9289-CCB06036FB95}"/>
              </a:ext>
            </a:extLst>
          </p:cNvPr>
          <p:cNvSpPr>
            <a:spLocks noGrp="1"/>
          </p:cNvSpPr>
          <p:nvPr/>
        </p:nvSpPr>
        <p:spPr>
          <a:xfrm>
            <a:off x="4800600" y="5305425"/>
            <a:ext cx="2590800" cy="342900"/>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npm run build</a:t>
            </a:r>
          </a:p>
        </p:txBody>
      </p:sp>
      <p:sp>
        <p:nvSpPr>
          <p:cNvPr id="50" name="native-453">
            <a:extLst>
              <a:ext uri="{FF2B5EF4-FFF2-40B4-BE49-F238E27FC236}">
                <a16:creationId xmlns:a16="http://schemas.microsoft.com/office/drawing/2014/main" id="{6848E261-99F9-45B7-93CC-0402DC0ADBBC}"/>
              </a:ext>
            </a:extLst>
          </p:cNvPr>
          <p:cNvSpPr>
            <a:spLocks noGrp="1"/>
          </p:cNvSpPr>
          <p:nvPr/>
        </p:nvSpPr>
        <p:spPr>
          <a:xfrm>
            <a:off x="2852738" y="3624263"/>
            <a:ext cx="9525" cy="9525"/>
          </a:xfrm>
          <a:prstGeom prst="rect">
            <a:avLst/>
          </a:prstGeom>
          <a:noFill/>
          <a:ln w="0">
            <a:noFill/>
          </a:ln>
        </p:spPr>
        <p:txBody>
          <a:bodyPr/>
          <a:lstStyle/>
          <a:p>
            <a:endParaRPr lang="en-US"/>
          </a:p>
        </p:txBody>
      </p:sp>
      <p:sp>
        <p:nvSpPr>
          <p:cNvPr id="51" name="native-454">
            <a:extLst>
              <a:ext uri="{FF2B5EF4-FFF2-40B4-BE49-F238E27FC236}">
                <a16:creationId xmlns:a16="http://schemas.microsoft.com/office/drawing/2014/main" id="{9CB7EAA6-FB36-43D9-BFB3-3EA9AB6EF7A0}"/>
              </a:ext>
            </a:extLst>
          </p:cNvPr>
          <p:cNvSpPr>
            <a:spLocks noGrp="1"/>
          </p:cNvSpPr>
          <p:nvPr/>
        </p:nvSpPr>
        <p:spPr>
          <a:xfrm>
            <a:off x="3671888" y="3624263"/>
            <a:ext cx="9525" cy="9525"/>
          </a:xfrm>
          <a:prstGeom prst="rect">
            <a:avLst/>
          </a:prstGeom>
          <a:noFill/>
          <a:ln w="0">
            <a:noFill/>
          </a:ln>
        </p:spPr>
        <p:txBody>
          <a:bodyPr/>
          <a:lstStyle/>
          <a:p>
            <a:endParaRPr lang="en-US"/>
          </a:p>
        </p:txBody>
      </p:sp>
      <p:cxnSp>
        <p:nvCxnSpPr>
          <p:cNvPr id="150" name="Straight Arrow Connector 149"/>
          <p:cNvCxnSpPr>
            <a:stCxn id="50" idx="3"/>
            <a:endCxn id="51" idx="1"/>
          </p:cNvCxnSpPr>
          <p:nvPr/>
        </p:nvCxnSpPr>
        <p:spPr>
          <a:xfrm>
            <a:off x="2862263" y="3629026"/>
            <a:ext cx="809625" cy="0"/>
          </a:xfrm>
          <a:prstGeom prst="straightConnector1">
            <a:avLst/>
          </a:prstGeom>
          <a:ln w="19050">
            <a:solidFill>
              <a:srgbClr val="0F8B8D"/>
            </a:solidFill>
            <a:prstDash val="solid"/>
          </a:ln>
        </p:spPr>
      </p:cxnSp>
      <p:sp>
        <p:nvSpPr>
          <p:cNvPr id="53" name="native-455">
            <a:extLst>
              <a:ext uri="{FF2B5EF4-FFF2-40B4-BE49-F238E27FC236}">
                <a16:creationId xmlns:a16="http://schemas.microsoft.com/office/drawing/2014/main" id="{C7DDDEB6-CE43-44D7-8D3A-719EFE715723}"/>
              </a:ext>
            </a:extLst>
          </p:cNvPr>
          <p:cNvSpPr>
            <a:spLocks noGrp="1"/>
          </p:cNvSpPr>
          <p:nvPr/>
        </p:nvSpPr>
        <p:spPr>
          <a:xfrm>
            <a:off x="3671888" y="3624263"/>
            <a:ext cx="9525" cy="9525"/>
          </a:xfrm>
          <a:prstGeom prst="rect">
            <a:avLst/>
          </a:prstGeom>
          <a:noFill/>
          <a:ln w="0">
            <a:noFill/>
          </a:ln>
        </p:spPr>
        <p:txBody>
          <a:bodyPr/>
          <a:lstStyle/>
          <a:p>
            <a:endParaRPr lang="en-US"/>
          </a:p>
        </p:txBody>
      </p:sp>
      <p:sp>
        <p:nvSpPr>
          <p:cNvPr id="54" name="native-456">
            <a:extLst>
              <a:ext uri="{FF2B5EF4-FFF2-40B4-BE49-F238E27FC236}">
                <a16:creationId xmlns:a16="http://schemas.microsoft.com/office/drawing/2014/main" id="{827E595C-4A3D-4F1A-B9DA-4AFCB33FBE74}"/>
              </a:ext>
            </a:extLst>
          </p:cNvPr>
          <p:cNvSpPr>
            <a:spLocks noGrp="1"/>
          </p:cNvSpPr>
          <p:nvPr/>
        </p:nvSpPr>
        <p:spPr>
          <a:xfrm>
            <a:off x="3671888" y="5291138"/>
            <a:ext cx="9525" cy="9525"/>
          </a:xfrm>
          <a:prstGeom prst="rect">
            <a:avLst/>
          </a:prstGeom>
          <a:noFill/>
          <a:ln w="0">
            <a:noFill/>
          </a:ln>
        </p:spPr>
        <p:txBody>
          <a:bodyPr/>
          <a:lstStyle/>
          <a:p>
            <a:endParaRPr lang="en-US"/>
          </a:p>
        </p:txBody>
      </p:sp>
      <p:cxnSp>
        <p:nvCxnSpPr>
          <p:cNvPr id="153" name="Straight Arrow Connector 152"/>
          <p:cNvCxnSpPr>
            <a:stCxn id="53" idx="3"/>
            <a:endCxn id="54" idx="1"/>
          </p:cNvCxnSpPr>
          <p:nvPr/>
        </p:nvCxnSpPr>
        <p:spPr>
          <a:xfrm flipH="1">
            <a:off x="3671888" y="3629026"/>
            <a:ext cx="9525" cy="1666875"/>
          </a:xfrm>
          <a:prstGeom prst="straightConnector1">
            <a:avLst/>
          </a:prstGeom>
          <a:ln w="19050">
            <a:solidFill>
              <a:srgbClr val="0F8B8D"/>
            </a:solidFill>
            <a:prstDash val="solid"/>
          </a:ln>
        </p:spPr>
      </p:cxnSp>
      <p:sp>
        <p:nvSpPr>
          <p:cNvPr id="56" name="native-457">
            <a:extLst>
              <a:ext uri="{FF2B5EF4-FFF2-40B4-BE49-F238E27FC236}">
                <a16:creationId xmlns:a16="http://schemas.microsoft.com/office/drawing/2014/main" id="{A46185D2-D790-4E33-AE5F-D21722C3F701}"/>
              </a:ext>
            </a:extLst>
          </p:cNvPr>
          <p:cNvSpPr>
            <a:spLocks noGrp="1"/>
          </p:cNvSpPr>
          <p:nvPr/>
        </p:nvSpPr>
        <p:spPr>
          <a:xfrm>
            <a:off x="3671888" y="5291138"/>
            <a:ext cx="9525" cy="9525"/>
          </a:xfrm>
          <a:prstGeom prst="rect">
            <a:avLst/>
          </a:prstGeom>
          <a:noFill/>
          <a:ln w="0">
            <a:noFill/>
          </a:ln>
        </p:spPr>
        <p:txBody>
          <a:bodyPr/>
          <a:lstStyle/>
          <a:p>
            <a:endParaRPr lang="en-US"/>
          </a:p>
        </p:txBody>
      </p:sp>
      <p:sp>
        <p:nvSpPr>
          <p:cNvPr id="57" name="native-458">
            <a:extLst>
              <a:ext uri="{FF2B5EF4-FFF2-40B4-BE49-F238E27FC236}">
                <a16:creationId xmlns:a16="http://schemas.microsoft.com/office/drawing/2014/main" id="{FDC1E59C-33AA-4F6E-8F1D-AAF7E10327C5}"/>
              </a:ext>
            </a:extLst>
          </p:cNvPr>
          <p:cNvSpPr>
            <a:spLocks noGrp="1"/>
          </p:cNvSpPr>
          <p:nvPr/>
        </p:nvSpPr>
        <p:spPr>
          <a:xfrm>
            <a:off x="4662488" y="5291138"/>
            <a:ext cx="9525" cy="9525"/>
          </a:xfrm>
          <a:prstGeom prst="rect">
            <a:avLst/>
          </a:prstGeom>
          <a:noFill/>
          <a:ln w="0">
            <a:noFill/>
          </a:ln>
        </p:spPr>
        <p:txBody>
          <a:bodyPr/>
          <a:lstStyle/>
          <a:p>
            <a:endParaRPr lang="en-US"/>
          </a:p>
        </p:txBody>
      </p:sp>
      <p:cxnSp>
        <p:nvCxnSpPr>
          <p:cNvPr id="156" name="Straight Arrow Connector 155"/>
          <p:cNvCxnSpPr>
            <a:stCxn id="56" idx="3"/>
            <a:endCxn id="57" idx="1"/>
          </p:cNvCxnSpPr>
          <p:nvPr/>
        </p:nvCxnSpPr>
        <p:spPr>
          <a:xfrm>
            <a:off x="3681413" y="5295901"/>
            <a:ext cx="981075" cy="0"/>
          </a:xfrm>
          <a:prstGeom prst="straightConnector1">
            <a:avLst/>
          </a:prstGeom>
          <a:ln w="19050">
            <a:solidFill>
              <a:srgbClr val="0F8B8D"/>
            </a:solidFill>
            <a:prstDash val="solid"/>
            <a:tailEnd type="triangle" w="med" len="med"/>
          </a:ln>
        </p:spPr>
      </p:cxnSp>
      <p:sp>
        <p:nvSpPr>
          <p:cNvPr id="59" name="native-459">
            <a:extLst>
              <a:ext uri="{FF2B5EF4-FFF2-40B4-BE49-F238E27FC236}">
                <a16:creationId xmlns:a16="http://schemas.microsoft.com/office/drawing/2014/main" id="{852FD285-2B89-4462-A58F-93BF1D3385AF}"/>
              </a:ext>
            </a:extLst>
          </p:cNvPr>
          <p:cNvSpPr>
            <a:spLocks noGrp="1"/>
          </p:cNvSpPr>
          <p:nvPr/>
        </p:nvSpPr>
        <p:spPr>
          <a:xfrm>
            <a:off x="9048750" y="3162300"/>
            <a:ext cx="2524125" cy="952500"/>
          </a:xfrm>
          <a:prstGeom prst="rect">
            <a:avLst/>
          </a:prstGeom>
          <a:solidFill>
            <a:srgbClr val="E8EFF5"/>
          </a:solidFill>
          <a:ln w="9525">
            <a:solidFill>
              <a:srgbClr val="B6C6D2"/>
            </a:solidFill>
          </a:ln>
        </p:spPr>
        <p:txBody>
          <a:bodyPr/>
          <a:lstStyle/>
          <a:p>
            <a:endParaRPr lang="en-US"/>
          </a:p>
        </p:txBody>
      </p:sp>
      <p:sp>
        <p:nvSpPr>
          <p:cNvPr id="60" name="native-460">
            <a:extLst>
              <a:ext uri="{FF2B5EF4-FFF2-40B4-BE49-F238E27FC236}">
                <a16:creationId xmlns:a16="http://schemas.microsoft.com/office/drawing/2014/main" id="{059256FC-6192-4FB0-8E75-874287CB7195}"/>
              </a:ext>
            </a:extLst>
          </p:cNvPr>
          <p:cNvSpPr>
            <a:spLocks noGrp="1"/>
          </p:cNvSpPr>
          <p:nvPr/>
        </p:nvSpPr>
        <p:spPr>
          <a:xfrm>
            <a:off x="9182100" y="3238500"/>
            <a:ext cx="2257425"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Docker Compose</a:t>
            </a:r>
          </a:p>
        </p:txBody>
      </p:sp>
      <p:sp>
        <p:nvSpPr>
          <p:cNvPr id="61" name="native-461">
            <a:extLst>
              <a:ext uri="{FF2B5EF4-FFF2-40B4-BE49-F238E27FC236}">
                <a16:creationId xmlns:a16="http://schemas.microsoft.com/office/drawing/2014/main" id="{4EA77D43-22AF-4769-8CA4-FD941DCAB9BE}"/>
              </a:ext>
            </a:extLst>
          </p:cNvPr>
          <p:cNvSpPr>
            <a:spLocks noGrp="1"/>
          </p:cNvSpPr>
          <p:nvPr/>
        </p:nvSpPr>
        <p:spPr>
          <a:xfrm>
            <a:off x="9182100" y="3571875"/>
            <a:ext cx="2257425" cy="4857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Build gate</a:t>
            </a:r>
          </a:p>
        </p:txBody>
      </p:sp>
      <p:sp>
        <p:nvSpPr>
          <p:cNvPr id="62" name="native-462">
            <a:extLst>
              <a:ext uri="{FF2B5EF4-FFF2-40B4-BE49-F238E27FC236}">
                <a16:creationId xmlns:a16="http://schemas.microsoft.com/office/drawing/2014/main" id="{E81924A5-B323-4643-80E8-5165DFDE701C}"/>
              </a:ext>
            </a:extLst>
          </p:cNvPr>
          <p:cNvSpPr>
            <a:spLocks noGrp="1"/>
          </p:cNvSpPr>
          <p:nvPr/>
        </p:nvSpPr>
        <p:spPr>
          <a:xfrm>
            <a:off x="7519988" y="2205038"/>
            <a:ext cx="9525" cy="9525"/>
          </a:xfrm>
          <a:prstGeom prst="rect">
            <a:avLst/>
          </a:prstGeom>
          <a:noFill/>
          <a:ln w="0">
            <a:noFill/>
          </a:ln>
        </p:spPr>
        <p:txBody>
          <a:bodyPr/>
          <a:lstStyle/>
          <a:p>
            <a:endParaRPr lang="en-US"/>
          </a:p>
        </p:txBody>
      </p:sp>
      <p:sp>
        <p:nvSpPr>
          <p:cNvPr id="63" name="native-463">
            <a:extLst>
              <a:ext uri="{FF2B5EF4-FFF2-40B4-BE49-F238E27FC236}">
                <a16:creationId xmlns:a16="http://schemas.microsoft.com/office/drawing/2014/main" id="{AED45B60-FD8A-4088-9700-020FB9413B7A}"/>
              </a:ext>
            </a:extLst>
          </p:cNvPr>
          <p:cNvSpPr>
            <a:spLocks noGrp="1"/>
          </p:cNvSpPr>
          <p:nvPr/>
        </p:nvSpPr>
        <p:spPr>
          <a:xfrm>
            <a:off x="8281988" y="2205038"/>
            <a:ext cx="9525" cy="9525"/>
          </a:xfrm>
          <a:prstGeom prst="rect">
            <a:avLst/>
          </a:prstGeom>
          <a:noFill/>
          <a:ln w="0">
            <a:noFill/>
          </a:ln>
        </p:spPr>
        <p:txBody>
          <a:bodyPr/>
          <a:lstStyle/>
          <a:p>
            <a:endParaRPr lang="en-US"/>
          </a:p>
        </p:txBody>
      </p:sp>
      <p:cxnSp>
        <p:nvCxnSpPr>
          <p:cNvPr id="162" name="Straight Arrow Connector 161"/>
          <p:cNvCxnSpPr>
            <a:stCxn id="62" idx="3"/>
            <a:endCxn id="63" idx="1"/>
          </p:cNvCxnSpPr>
          <p:nvPr/>
        </p:nvCxnSpPr>
        <p:spPr>
          <a:xfrm>
            <a:off x="7529513" y="2209801"/>
            <a:ext cx="752475" cy="0"/>
          </a:xfrm>
          <a:prstGeom prst="straightConnector1">
            <a:avLst/>
          </a:prstGeom>
          <a:ln w="19050">
            <a:solidFill>
              <a:srgbClr val="3478B9"/>
            </a:solidFill>
            <a:prstDash val="solid"/>
          </a:ln>
        </p:spPr>
      </p:cxnSp>
      <p:sp>
        <p:nvSpPr>
          <p:cNvPr id="65" name="native-464">
            <a:extLst>
              <a:ext uri="{FF2B5EF4-FFF2-40B4-BE49-F238E27FC236}">
                <a16:creationId xmlns:a16="http://schemas.microsoft.com/office/drawing/2014/main" id="{A1475153-5B2E-42F1-A337-7AC62BDF870E}"/>
              </a:ext>
            </a:extLst>
          </p:cNvPr>
          <p:cNvSpPr>
            <a:spLocks noGrp="1"/>
          </p:cNvSpPr>
          <p:nvPr/>
        </p:nvSpPr>
        <p:spPr>
          <a:xfrm>
            <a:off x="8281988" y="2205038"/>
            <a:ext cx="9525" cy="9525"/>
          </a:xfrm>
          <a:prstGeom prst="rect">
            <a:avLst/>
          </a:prstGeom>
          <a:noFill/>
          <a:ln w="0">
            <a:noFill/>
          </a:ln>
        </p:spPr>
        <p:txBody>
          <a:bodyPr/>
          <a:lstStyle/>
          <a:p>
            <a:endParaRPr lang="en-US"/>
          </a:p>
        </p:txBody>
      </p:sp>
      <p:sp>
        <p:nvSpPr>
          <p:cNvPr id="66" name="native-465">
            <a:extLst>
              <a:ext uri="{FF2B5EF4-FFF2-40B4-BE49-F238E27FC236}">
                <a16:creationId xmlns:a16="http://schemas.microsoft.com/office/drawing/2014/main" id="{03004823-40BC-40C6-9620-AF83D353EBC6}"/>
              </a:ext>
            </a:extLst>
          </p:cNvPr>
          <p:cNvSpPr>
            <a:spLocks noGrp="1"/>
          </p:cNvSpPr>
          <p:nvPr/>
        </p:nvSpPr>
        <p:spPr>
          <a:xfrm>
            <a:off x="8281988" y="3633788"/>
            <a:ext cx="9525" cy="9525"/>
          </a:xfrm>
          <a:prstGeom prst="rect">
            <a:avLst/>
          </a:prstGeom>
          <a:noFill/>
          <a:ln w="0">
            <a:noFill/>
          </a:ln>
        </p:spPr>
        <p:txBody>
          <a:bodyPr/>
          <a:lstStyle/>
          <a:p>
            <a:endParaRPr lang="en-US"/>
          </a:p>
        </p:txBody>
      </p:sp>
      <p:cxnSp>
        <p:nvCxnSpPr>
          <p:cNvPr id="165" name="Straight Arrow Connector 164"/>
          <p:cNvCxnSpPr>
            <a:stCxn id="65" idx="3"/>
            <a:endCxn id="66" idx="1"/>
          </p:cNvCxnSpPr>
          <p:nvPr/>
        </p:nvCxnSpPr>
        <p:spPr>
          <a:xfrm flipH="1">
            <a:off x="8281988" y="2209801"/>
            <a:ext cx="9525" cy="1428750"/>
          </a:xfrm>
          <a:prstGeom prst="straightConnector1">
            <a:avLst/>
          </a:prstGeom>
          <a:ln w="19050">
            <a:solidFill>
              <a:srgbClr val="3478B9"/>
            </a:solidFill>
            <a:prstDash val="solid"/>
          </a:ln>
        </p:spPr>
      </p:cxnSp>
      <p:sp>
        <p:nvSpPr>
          <p:cNvPr id="68" name="native-466">
            <a:extLst>
              <a:ext uri="{FF2B5EF4-FFF2-40B4-BE49-F238E27FC236}">
                <a16:creationId xmlns:a16="http://schemas.microsoft.com/office/drawing/2014/main" id="{50C986FD-20D8-4497-9418-62121498A317}"/>
              </a:ext>
            </a:extLst>
          </p:cNvPr>
          <p:cNvSpPr>
            <a:spLocks noGrp="1"/>
          </p:cNvSpPr>
          <p:nvPr/>
        </p:nvSpPr>
        <p:spPr>
          <a:xfrm>
            <a:off x="8281988" y="3633788"/>
            <a:ext cx="9525" cy="9525"/>
          </a:xfrm>
          <a:prstGeom prst="rect">
            <a:avLst/>
          </a:prstGeom>
          <a:noFill/>
          <a:ln w="0">
            <a:noFill/>
          </a:ln>
        </p:spPr>
        <p:txBody>
          <a:bodyPr/>
          <a:lstStyle/>
          <a:p>
            <a:endParaRPr lang="en-US"/>
          </a:p>
        </p:txBody>
      </p:sp>
      <p:sp>
        <p:nvSpPr>
          <p:cNvPr id="69" name="native-467">
            <a:extLst>
              <a:ext uri="{FF2B5EF4-FFF2-40B4-BE49-F238E27FC236}">
                <a16:creationId xmlns:a16="http://schemas.microsoft.com/office/drawing/2014/main" id="{F622F345-E9EF-45F6-80CC-9C68250E9F1C}"/>
              </a:ext>
            </a:extLst>
          </p:cNvPr>
          <p:cNvSpPr>
            <a:spLocks noGrp="1"/>
          </p:cNvSpPr>
          <p:nvPr/>
        </p:nvSpPr>
        <p:spPr>
          <a:xfrm>
            <a:off x="9043988" y="3633788"/>
            <a:ext cx="9525" cy="9525"/>
          </a:xfrm>
          <a:prstGeom prst="rect">
            <a:avLst/>
          </a:prstGeom>
          <a:noFill/>
          <a:ln w="0">
            <a:noFill/>
          </a:ln>
        </p:spPr>
        <p:txBody>
          <a:bodyPr/>
          <a:lstStyle/>
          <a:p>
            <a:endParaRPr lang="en-US"/>
          </a:p>
        </p:txBody>
      </p:sp>
      <p:cxnSp>
        <p:nvCxnSpPr>
          <p:cNvPr id="168" name="Straight Arrow Connector 167"/>
          <p:cNvCxnSpPr>
            <a:stCxn id="68" idx="3"/>
            <a:endCxn id="69" idx="1"/>
          </p:cNvCxnSpPr>
          <p:nvPr/>
        </p:nvCxnSpPr>
        <p:spPr>
          <a:xfrm>
            <a:off x="8291513" y="3638551"/>
            <a:ext cx="752475" cy="0"/>
          </a:xfrm>
          <a:prstGeom prst="straightConnector1">
            <a:avLst/>
          </a:prstGeom>
          <a:ln w="19050">
            <a:solidFill>
              <a:srgbClr val="3478B9"/>
            </a:solidFill>
            <a:prstDash val="solid"/>
            <a:tailEnd type="triangle" w="med" len="med"/>
          </a:ln>
        </p:spPr>
      </p:cxnSp>
      <p:sp>
        <p:nvSpPr>
          <p:cNvPr id="71" name="native-468">
            <a:extLst>
              <a:ext uri="{FF2B5EF4-FFF2-40B4-BE49-F238E27FC236}">
                <a16:creationId xmlns:a16="http://schemas.microsoft.com/office/drawing/2014/main" id="{04F1E708-0363-471A-86B2-F3BEE8DAE7D9}"/>
              </a:ext>
            </a:extLst>
          </p:cNvPr>
          <p:cNvSpPr>
            <a:spLocks noGrp="1"/>
          </p:cNvSpPr>
          <p:nvPr/>
        </p:nvSpPr>
        <p:spPr>
          <a:xfrm>
            <a:off x="7519988" y="3233738"/>
            <a:ext cx="9525" cy="9525"/>
          </a:xfrm>
          <a:prstGeom prst="rect">
            <a:avLst/>
          </a:prstGeom>
          <a:noFill/>
          <a:ln w="0">
            <a:noFill/>
          </a:ln>
        </p:spPr>
        <p:txBody>
          <a:bodyPr/>
          <a:lstStyle/>
          <a:p>
            <a:endParaRPr lang="en-US"/>
          </a:p>
        </p:txBody>
      </p:sp>
      <p:sp>
        <p:nvSpPr>
          <p:cNvPr id="72" name="native-469">
            <a:extLst>
              <a:ext uri="{FF2B5EF4-FFF2-40B4-BE49-F238E27FC236}">
                <a16:creationId xmlns:a16="http://schemas.microsoft.com/office/drawing/2014/main" id="{F14417AD-3FDB-427F-8636-3C9B61B856F5}"/>
              </a:ext>
            </a:extLst>
          </p:cNvPr>
          <p:cNvSpPr>
            <a:spLocks noGrp="1"/>
          </p:cNvSpPr>
          <p:nvPr/>
        </p:nvSpPr>
        <p:spPr>
          <a:xfrm>
            <a:off x="8281988" y="3233738"/>
            <a:ext cx="9525" cy="9525"/>
          </a:xfrm>
          <a:prstGeom prst="rect">
            <a:avLst/>
          </a:prstGeom>
          <a:noFill/>
          <a:ln w="0">
            <a:noFill/>
          </a:ln>
        </p:spPr>
        <p:txBody>
          <a:bodyPr/>
          <a:lstStyle/>
          <a:p>
            <a:endParaRPr lang="en-US"/>
          </a:p>
        </p:txBody>
      </p:sp>
      <p:cxnSp>
        <p:nvCxnSpPr>
          <p:cNvPr id="171" name="Straight Arrow Connector 170"/>
          <p:cNvCxnSpPr>
            <a:stCxn id="71" idx="3"/>
            <a:endCxn id="72" idx="1"/>
          </p:cNvCxnSpPr>
          <p:nvPr/>
        </p:nvCxnSpPr>
        <p:spPr>
          <a:xfrm>
            <a:off x="7529513" y="3238501"/>
            <a:ext cx="752475" cy="0"/>
          </a:xfrm>
          <a:prstGeom prst="straightConnector1">
            <a:avLst/>
          </a:prstGeom>
          <a:ln w="19050">
            <a:solidFill>
              <a:srgbClr val="3478B9"/>
            </a:solidFill>
            <a:prstDash val="solid"/>
          </a:ln>
        </p:spPr>
      </p:cxnSp>
      <p:sp>
        <p:nvSpPr>
          <p:cNvPr id="74" name="native-470">
            <a:extLst>
              <a:ext uri="{FF2B5EF4-FFF2-40B4-BE49-F238E27FC236}">
                <a16:creationId xmlns:a16="http://schemas.microsoft.com/office/drawing/2014/main" id="{2CEF70B7-BF4B-4141-89E0-2AE49FBBFD42}"/>
              </a:ext>
            </a:extLst>
          </p:cNvPr>
          <p:cNvSpPr>
            <a:spLocks noGrp="1"/>
          </p:cNvSpPr>
          <p:nvPr/>
        </p:nvSpPr>
        <p:spPr>
          <a:xfrm>
            <a:off x="8281988" y="3233738"/>
            <a:ext cx="9525" cy="9525"/>
          </a:xfrm>
          <a:prstGeom prst="rect">
            <a:avLst/>
          </a:prstGeom>
          <a:noFill/>
          <a:ln w="0">
            <a:noFill/>
          </a:ln>
        </p:spPr>
        <p:txBody>
          <a:bodyPr/>
          <a:lstStyle/>
          <a:p>
            <a:endParaRPr lang="en-US"/>
          </a:p>
        </p:txBody>
      </p:sp>
      <p:sp>
        <p:nvSpPr>
          <p:cNvPr id="75" name="native-471">
            <a:extLst>
              <a:ext uri="{FF2B5EF4-FFF2-40B4-BE49-F238E27FC236}">
                <a16:creationId xmlns:a16="http://schemas.microsoft.com/office/drawing/2014/main" id="{7D89D275-9694-4B04-AB0B-DCC50D595D92}"/>
              </a:ext>
            </a:extLst>
          </p:cNvPr>
          <p:cNvSpPr>
            <a:spLocks noGrp="1"/>
          </p:cNvSpPr>
          <p:nvPr/>
        </p:nvSpPr>
        <p:spPr>
          <a:xfrm>
            <a:off x="8281988" y="3633788"/>
            <a:ext cx="9525" cy="9525"/>
          </a:xfrm>
          <a:prstGeom prst="rect">
            <a:avLst/>
          </a:prstGeom>
          <a:noFill/>
          <a:ln w="0">
            <a:noFill/>
          </a:ln>
        </p:spPr>
        <p:txBody>
          <a:bodyPr/>
          <a:lstStyle/>
          <a:p>
            <a:endParaRPr lang="en-US"/>
          </a:p>
        </p:txBody>
      </p:sp>
      <p:cxnSp>
        <p:nvCxnSpPr>
          <p:cNvPr id="174" name="Straight Arrow Connector 173"/>
          <p:cNvCxnSpPr>
            <a:stCxn id="74" idx="3"/>
            <a:endCxn id="75" idx="1"/>
          </p:cNvCxnSpPr>
          <p:nvPr/>
        </p:nvCxnSpPr>
        <p:spPr>
          <a:xfrm flipH="1">
            <a:off x="8281988" y="3238501"/>
            <a:ext cx="9525" cy="400050"/>
          </a:xfrm>
          <a:prstGeom prst="straightConnector1">
            <a:avLst/>
          </a:prstGeom>
          <a:ln w="19050">
            <a:solidFill>
              <a:srgbClr val="3478B9"/>
            </a:solidFill>
            <a:prstDash val="solid"/>
          </a:ln>
        </p:spPr>
      </p:cxnSp>
      <p:sp>
        <p:nvSpPr>
          <p:cNvPr id="77" name="native-472">
            <a:extLst>
              <a:ext uri="{FF2B5EF4-FFF2-40B4-BE49-F238E27FC236}">
                <a16:creationId xmlns:a16="http://schemas.microsoft.com/office/drawing/2014/main" id="{CAF8D2AD-DD56-400A-B300-7FE0BD4A526B}"/>
              </a:ext>
            </a:extLst>
          </p:cNvPr>
          <p:cNvSpPr>
            <a:spLocks noGrp="1"/>
          </p:cNvSpPr>
          <p:nvPr/>
        </p:nvSpPr>
        <p:spPr>
          <a:xfrm>
            <a:off x="8281988" y="3633788"/>
            <a:ext cx="9525" cy="9525"/>
          </a:xfrm>
          <a:prstGeom prst="rect">
            <a:avLst/>
          </a:prstGeom>
          <a:noFill/>
          <a:ln w="0">
            <a:noFill/>
          </a:ln>
        </p:spPr>
        <p:txBody>
          <a:bodyPr/>
          <a:lstStyle/>
          <a:p>
            <a:endParaRPr lang="en-US"/>
          </a:p>
        </p:txBody>
      </p:sp>
      <p:sp>
        <p:nvSpPr>
          <p:cNvPr id="78" name="native-473">
            <a:extLst>
              <a:ext uri="{FF2B5EF4-FFF2-40B4-BE49-F238E27FC236}">
                <a16:creationId xmlns:a16="http://schemas.microsoft.com/office/drawing/2014/main" id="{5B3E1177-9C3C-4EC4-AB04-83F4ECB99102}"/>
              </a:ext>
            </a:extLst>
          </p:cNvPr>
          <p:cNvSpPr>
            <a:spLocks noGrp="1"/>
          </p:cNvSpPr>
          <p:nvPr/>
        </p:nvSpPr>
        <p:spPr>
          <a:xfrm>
            <a:off x="9043988" y="3633788"/>
            <a:ext cx="9525" cy="9525"/>
          </a:xfrm>
          <a:prstGeom prst="rect">
            <a:avLst/>
          </a:prstGeom>
          <a:noFill/>
          <a:ln w="0">
            <a:noFill/>
          </a:ln>
        </p:spPr>
        <p:txBody>
          <a:bodyPr/>
          <a:lstStyle/>
          <a:p>
            <a:endParaRPr lang="en-US"/>
          </a:p>
        </p:txBody>
      </p:sp>
      <p:cxnSp>
        <p:nvCxnSpPr>
          <p:cNvPr id="177" name="Straight Arrow Connector 176"/>
          <p:cNvCxnSpPr>
            <a:stCxn id="77" idx="3"/>
            <a:endCxn id="78" idx="1"/>
          </p:cNvCxnSpPr>
          <p:nvPr/>
        </p:nvCxnSpPr>
        <p:spPr>
          <a:xfrm>
            <a:off x="8291513" y="3638551"/>
            <a:ext cx="752475" cy="0"/>
          </a:xfrm>
          <a:prstGeom prst="straightConnector1">
            <a:avLst/>
          </a:prstGeom>
          <a:ln w="19050">
            <a:solidFill>
              <a:srgbClr val="3478B9"/>
            </a:solidFill>
            <a:prstDash val="solid"/>
            <a:tailEnd type="triangle" w="med" len="med"/>
          </a:ln>
        </p:spPr>
      </p:cxnSp>
      <p:sp>
        <p:nvSpPr>
          <p:cNvPr id="80" name="native-474">
            <a:extLst>
              <a:ext uri="{FF2B5EF4-FFF2-40B4-BE49-F238E27FC236}">
                <a16:creationId xmlns:a16="http://schemas.microsoft.com/office/drawing/2014/main" id="{8D27E820-F894-4346-8654-285F541DEB89}"/>
              </a:ext>
            </a:extLst>
          </p:cNvPr>
          <p:cNvSpPr>
            <a:spLocks noGrp="1"/>
          </p:cNvSpPr>
          <p:nvPr/>
        </p:nvSpPr>
        <p:spPr>
          <a:xfrm>
            <a:off x="7519988" y="4262438"/>
            <a:ext cx="9525" cy="9525"/>
          </a:xfrm>
          <a:prstGeom prst="rect">
            <a:avLst/>
          </a:prstGeom>
          <a:noFill/>
          <a:ln w="0">
            <a:noFill/>
          </a:ln>
        </p:spPr>
        <p:txBody>
          <a:bodyPr/>
          <a:lstStyle/>
          <a:p>
            <a:endParaRPr lang="en-US"/>
          </a:p>
        </p:txBody>
      </p:sp>
      <p:sp>
        <p:nvSpPr>
          <p:cNvPr id="81" name="native-475">
            <a:extLst>
              <a:ext uri="{FF2B5EF4-FFF2-40B4-BE49-F238E27FC236}">
                <a16:creationId xmlns:a16="http://schemas.microsoft.com/office/drawing/2014/main" id="{5614BA1D-545C-432C-99BC-63D32DCA1D73}"/>
              </a:ext>
            </a:extLst>
          </p:cNvPr>
          <p:cNvSpPr>
            <a:spLocks noGrp="1"/>
          </p:cNvSpPr>
          <p:nvPr/>
        </p:nvSpPr>
        <p:spPr>
          <a:xfrm>
            <a:off x="8281988" y="4262438"/>
            <a:ext cx="9525" cy="9525"/>
          </a:xfrm>
          <a:prstGeom prst="rect">
            <a:avLst/>
          </a:prstGeom>
          <a:noFill/>
          <a:ln w="0">
            <a:noFill/>
          </a:ln>
        </p:spPr>
        <p:txBody>
          <a:bodyPr/>
          <a:lstStyle/>
          <a:p>
            <a:endParaRPr lang="en-US"/>
          </a:p>
        </p:txBody>
      </p:sp>
      <p:cxnSp>
        <p:nvCxnSpPr>
          <p:cNvPr id="180" name="Straight Arrow Connector 179"/>
          <p:cNvCxnSpPr>
            <a:stCxn id="80" idx="3"/>
            <a:endCxn id="81" idx="1"/>
          </p:cNvCxnSpPr>
          <p:nvPr/>
        </p:nvCxnSpPr>
        <p:spPr>
          <a:xfrm>
            <a:off x="7529513" y="4267201"/>
            <a:ext cx="752475" cy="0"/>
          </a:xfrm>
          <a:prstGeom prst="straightConnector1">
            <a:avLst/>
          </a:prstGeom>
          <a:ln w="19050">
            <a:solidFill>
              <a:srgbClr val="3478B9"/>
            </a:solidFill>
            <a:prstDash val="solid"/>
          </a:ln>
        </p:spPr>
      </p:cxnSp>
      <p:sp>
        <p:nvSpPr>
          <p:cNvPr id="83" name="native-476">
            <a:extLst>
              <a:ext uri="{FF2B5EF4-FFF2-40B4-BE49-F238E27FC236}">
                <a16:creationId xmlns:a16="http://schemas.microsoft.com/office/drawing/2014/main" id="{E169BBF1-EEBD-4463-BCA4-79E4FC990AEB}"/>
              </a:ext>
            </a:extLst>
          </p:cNvPr>
          <p:cNvSpPr>
            <a:spLocks noGrp="1"/>
          </p:cNvSpPr>
          <p:nvPr/>
        </p:nvSpPr>
        <p:spPr>
          <a:xfrm>
            <a:off x="8281988" y="4262438"/>
            <a:ext cx="9525" cy="9525"/>
          </a:xfrm>
          <a:prstGeom prst="rect">
            <a:avLst/>
          </a:prstGeom>
          <a:noFill/>
          <a:ln w="0">
            <a:noFill/>
          </a:ln>
        </p:spPr>
        <p:txBody>
          <a:bodyPr/>
          <a:lstStyle/>
          <a:p>
            <a:endParaRPr lang="en-US"/>
          </a:p>
        </p:txBody>
      </p:sp>
      <p:sp>
        <p:nvSpPr>
          <p:cNvPr id="84" name="native-477">
            <a:extLst>
              <a:ext uri="{FF2B5EF4-FFF2-40B4-BE49-F238E27FC236}">
                <a16:creationId xmlns:a16="http://schemas.microsoft.com/office/drawing/2014/main" id="{126F191E-9E47-4126-8ED6-7994582A3B0A}"/>
              </a:ext>
            </a:extLst>
          </p:cNvPr>
          <p:cNvSpPr>
            <a:spLocks noGrp="1"/>
          </p:cNvSpPr>
          <p:nvPr/>
        </p:nvSpPr>
        <p:spPr>
          <a:xfrm>
            <a:off x="8281988" y="3633788"/>
            <a:ext cx="9525" cy="9525"/>
          </a:xfrm>
          <a:prstGeom prst="rect">
            <a:avLst/>
          </a:prstGeom>
          <a:noFill/>
          <a:ln w="0">
            <a:noFill/>
          </a:ln>
        </p:spPr>
        <p:txBody>
          <a:bodyPr/>
          <a:lstStyle/>
          <a:p>
            <a:endParaRPr lang="en-US"/>
          </a:p>
        </p:txBody>
      </p:sp>
      <p:cxnSp>
        <p:nvCxnSpPr>
          <p:cNvPr id="183" name="Straight Arrow Connector 182"/>
          <p:cNvCxnSpPr>
            <a:stCxn id="83" idx="3"/>
            <a:endCxn id="84" idx="1"/>
          </p:cNvCxnSpPr>
          <p:nvPr/>
        </p:nvCxnSpPr>
        <p:spPr>
          <a:xfrm flipH="1" flipV="1">
            <a:off x="8281988" y="3638551"/>
            <a:ext cx="9525" cy="628650"/>
          </a:xfrm>
          <a:prstGeom prst="straightConnector1">
            <a:avLst/>
          </a:prstGeom>
          <a:ln w="19050">
            <a:solidFill>
              <a:srgbClr val="3478B9"/>
            </a:solidFill>
            <a:prstDash val="solid"/>
          </a:ln>
        </p:spPr>
      </p:cxnSp>
      <p:sp>
        <p:nvSpPr>
          <p:cNvPr id="86" name="native-478">
            <a:extLst>
              <a:ext uri="{FF2B5EF4-FFF2-40B4-BE49-F238E27FC236}">
                <a16:creationId xmlns:a16="http://schemas.microsoft.com/office/drawing/2014/main" id="{21AD6232-3EF4-410C-93B3-F02C79E3DC1B}"/>
              </a:ext>
            </a:extLst>
          </p:cNvPr>
          <p:cNvSpPr>
            <a:spLocks noGrp="1"/>
          </p:cNvSpPr>
          <p:nvPr/>
        </p:nvSpPr>
        <p:spPr>
          <a:xfrm>
            <a:off x="8281988" y="3633788"/>
            <a:ext cx="9525" cy="9525"/>
          </a:xfrm>
          <a:prstGeom prst="rect">
            <a:avLst/>
          </a:prstGeom>
          <a:noFill/>
          <a:ln w="0">
            <a:noFill/>
          </a:ln>
        </p:spPr>
        <p:txBody>
          <a:bodyPr/>
          <a:lstStyle/>
          <a:p>
            <a:endParaRPr lang="en-US"/>
          </a:p>
        </p:txBody>
      </p:sp>
      <p:sp>
        <p:nvSpPr>
          <p:cNvPr id="87" name="native-479">
            <a:extLst>
              <a:ext uri="{FF2B5EF4-FFF2-40B4-BE49-F238E27FC236}">
                <a16:creationId xmlns:a16="http://schemas.microsoft.com/office/drawing/2014/main" id="{779D9AD3-F79B-4081-A9DC-A178D15C9F92}"/>
              </a:ext>
            </a:extLst>
          </p:cNvPr>
          <p:cNvSpPr>
            <a:spLocks noGrp="1"/>
          </p:cNvSpPr>
          <p:nvPr/>
        </p:nvSpPr>
        <p:spPr>
          <a:xfrm>
            <a:off x="9043988" y="3633788"/>
            <a:ext cx="9525" cy="9525"/>
          </a:xfrm>
          <a:prstGeom prst="rect">
            <a:avLst/>
          </a:prstGeom>
          <a:noFill/>
          <a:ln w="0">
            <a:noFill/>
          </a:ln>
        </p:spPr>
        <p:txBody>
          <a:bodyPr/>
          <a:lstStyle/>
          <a:p>
            <a:endParaRPr lang="en-US"/>
          </a:p>
        </p:txBody>
      </p:sp>
      <p:cxnSp>
        <p:nvCxnSpPr>
          <p:cNvPr id="186" name="Straight Arrow Connector 185"/>
          <p:cNvCxnSpPr>
            <a:stCxn id="86" idx="3"/>
            <a:endCxn id="87" idx="1"/>
          </p:cNvCxnSpPr>
          <p:nvPr/>
        </p:nvCxnSpPr>
        <p:spPr>
          <a:xfrm>
            <a:off x="8291513" y="3638551"/>
            <a:ext cx="752475" cy="0"/>
          </a:xfrm>
          <a:prstGeom prst="straightConnector1">
            <a:avLst/>
          </a:prstGeom>
          <a:ln w="19050">
            <a:solidFill>
              <a:srgbClr val="3478B9"/>
            </a:solidFill>
            <a:prstDash val="solid"/>
            <a:tailEnd type="triangle" w="med" len="med"/>
          </a:ln>
        </p:spPr>
      </p:cxnSp>
      <p:sp>
        <p:nvSpPr>
          <p:cNvPr id="89" name="native-480">
            <a:extLst>
              <a:ext uri="{FF2B5EF4-FFF2-40B4-BE49-F238E27FC236}">
                <a16:creationId xmlns:a16="http://schemas.microsoft.com/office/drawing/2014/main" id="{FF07D253-BC11-42A7-9686-4BF4677C9D40}"/>
              </a:ext>
            </a:extLst>
          </p:cNvPr>
          <p:cNvSpPr>
            <a:spLocks noGrp="1"/>
          </p:cNvSpPr>
          <p:nvPr/>
        </p:nvSpPr>
        <p:spPr>
          <a:xfrm>
            <a:off x="7519988" y="5291138"/>
            <a:ext cx="9525" cy="9525"/>
          </a:xfrm>
          <a:prstGeom prst="rect">
            <a:avLst/>
          </a:prstGeom>
          <a:noFill/>
          <a:ln w="0">
            <a:noFill/>
          </a:ln>
        </p:spPr>
        <p:txBody>
          <a:bodyPr/>
          <a:lstStyle/>
          <a:p>
            <a:endParaRPr lang="en-US"/>
          </a:p>
        </p:txBody>
      </p:sp>
      <p:sp>
        <p:nvSpPr>
          <p:cNvPr id="90" name="native-481">
            <a:extLst>
              <a:ext uri="{FF2B5EF4-FFF2-40B4-BE49-F238E27FC236}">
                <a16:creationId xmlns:a16="http://schemas.microsoft.com/office/drawing/2014/main" id="{B06842E8-CD7C-4716-8F52-ECA70D65844C}"/>
              </a:ext>
            </a:extLst>
          </p:cNvPr>
          <p:cNvSpPr>
            <a:spLocks noGrp="1"/>
          </p:cNvSpPr>
          <p:nvPr/>
        </p:nvSpPr>
        <p:spPr>
          <a:xfrm>
            <a:off x="8281988" y="5291138"/>
            <a:ext cx="9525" cy="9525"/>
          </a:xfrm>
          <a:prstGeom prst="rect">
            <a:avLst/>
          </a:prstGeom>
          <a:noFill/>
          <a:ln w="0">
            <a:noFill/>
          </a:ln>
        </p:spPr>
        <p:txBody>
          <a:bodyPr/>
          <a:lstStyle/>
          <a:p>
            <a:endParaRPr lang="en-US"/>
          </a:p>
        </p:txBody>
      </p:sp>
      <p:cxnSp>
        <p:nvCxnSpPr>
          <p:cNvPr id="189" name="Straight Arrow Connector 188"/>
          <p:cNvCxnSpPr>
            <a:stCxn id="89" idx="3"/>
            <a:endCxn id="90" idx="1"/>
          </p:cNvCxnSpPr>
          <p:nvPr/>
        </p:nvCxnSpPr>
        <p:spPr>
          <a:xfrm>
            <a:off x="7529513" y="5295901"/>
            <a:ext cx="752475" cy="0"/>
          </a:xfrm>
          <a:prstGeom prst="straightConnector1">
            <a:avLst/>
          </a:prstGeom>
          <a:ln w="19050">
            <a:solidFill>
              <a:srgbClr val="3478B9"/>
            </a:solidFill>
            <a:prstDash val="solid"/>
          </a:ln>
        </p:spPr>
      </p:cxnSp>
      <p:sp>
        <p:nvSpPr>
          <p:cNvPr id="92" name="native-482">
            <a:extLst>
              <a:ext uri="{FF2B5EF4-FFF2-40B4-BE49-F238E27FC236}">
                <a16:creationId xmlns:a16="http://schemas.microsoft.com/office/drawing/2014/main" id="{AE78D6BD-526F-4A0A-8546-F162EFDA657E}"/>
              </a:ext>
            </a:extLst>
          </p:cNvPr>
          <p:cNvSpPr>
            <a:spLocks noGrp="1"/>
          </p:cNvSpPr>
          <p:nvPr/>
        </p:nvSpPr>
        <p:spPr>
          <a:xfrm>
            <a:off x="8281988" y="5291138"/>
            <a:ext cx="9525" cy="9525"/>
          </a:xfrm>
          <a:prstGeom prst="rect">
            <a:avLst/>
          </a:prstGeom>
          <a:noFill/>
          <a:ln w="0">
            <a:noFill/>
          </a:ln>
        </p:spPr>
        <p:txBody>
          <a:bodyPr/>
          <a:lstStyle/>
          <a:p>
            <a:endParaRPr lang="en-US"/>
          </a:p>
        </p:txBody>
      </p:sp>
      <p:sp>
        <p:nvSpPr>
          <p:cNvPr id="93" name="native-483">
            <a:extLst>
              <a:ext uri="{FF2B5EF4-FFF2-40B4-BE49-F238E27FC236}">
                <a16:creationId xmlns:a16="http://schemas.microsoft.com/office/drawing/2014/main" id="{708A0F7C-DB1B-490A-A3F9-F368445FCF29}"/>
              </a:ext>
            </a:extLst>
          </p:cNvPr>
          <p:cNvSpPr>
            <a:spLocks noGrp="1"/>
          </p:cNvSpPr>
          <p:nvPr/>
        </p:nvSpPr>
        <p:spPr>
          <a:xfrm>
            <a:off x="8281988" y="3633788"/>
            <a:ext cx="9525" cy="9525"/>
          </a:xfrm>
          <a:prstGeom prst="rect">
            <a:avLst/>
          </a:prstGeom>
          <a:noFill/>
          <a:ln w="0">
            <a:noFill/>
          </a:ln>
        </p:spPr>
        <p:txBody>
          <a:bodyPr/>
          <a:lstStyle/>
          <a:p>
            <a:endParaRPr lang="en-US"/>
          </a:p>
        </p:txBody>
      </p:sp>
      <p:cxnSp>
        <p:nvCxnSpPr>
          <p:cNvPr id="192" name="Straight Arrow Connector 191"/>
          <p:cNvCxnSpPr>
            <a:stCxn id="92" idx="3"/>
            <a:endCxn id="93" idx="1"/>
          </p:cNvCxnSpPr>
          <p:nvPr/>
        </p:nvCxnSpPr>
        <p:spPr>
          <a:xfrm flipH="1" flipV="1">
            <a:off x="8281988" y="3638551"/>
            <a:ext cx="9525" cy="1657350"/>
          </a:xfrm>
          <a:prstGeom prst="straightConnector1">
            <a:avLst/>
          </a:prstGeom>
          <a:ln w="19050">
            <a:solidFill>
              <a:srgbClr val="3478B9"/>
            </a:solidFill>
            <a:prstDash val="solid"/>
          </a:ln>
        </p:spPr>
      </p:cxnSp>
      <p:sp>
        <p:nvSpPr>
          <p:cNvPr id="95" name="native-484">
            <a:extLst>
              <a:ext uri="{FF2B5EF4-FFF2-40B4-BE49-F238E27FC236}">
                <a16:creationId xmlns:a16="http://schemas.microsoft.com/office/drawing/2014/main" id="{CB97AAB2-1E7B-4096-BA93-9202961838D9}"/>
              </a:ext>
            </a:extLst>
          </p:cNvPr>
          <p:cNvSpPr>
            <a:spLocks noGrp="1"/>
          </p:cNvSpPr>
          <p:nvPr/>
        </p:nvSpPr>
        <p:spPr>
          <a:xfrm>
            <a:off x="8281988" y="3633788"/>
            <a:ext cx="9525" cy="9525"/>
          </a:xfrm>
          <a:prstGeom prst="rect">
            <a:avLst/>
          </a:prstGeom>
          <a:noFill/>
          <a:ln w="0">
            <a:noFill/>
          </a:ln>
        </p:spPr>
        <p:txBody>
          <a:bodyPr/>
          <a:lstStyle/>
          <a:p>
            <a:endParaRPr lang="en-US"/>
          </a:p>
        </p:txBody>
      </p:sp>
      <p:sp>
        <p:nvSpPr>
          <p:cNvPr id="96" name="native-485">
            <a:extLst>
              <a:ext uri="{FF2B5EF4-FFF2-40B4-BE49-F238E27FC236}">
                <a16:creationId xmlns:a16="http://schemas.microsoft.com/office/drawing/2014/main" id="{05612E6B-E06F-4261-B2B7-9624723F7E72}"/>
              </a:ext>
            </a:extLst>
          </p:cNvPr>
          <p:cNvSpPr>
            <a:spLocks noGrp="1"/>
          </p:cNvSpPr>
          <p:nvPr/>
        </p:nvSpPr>
        <p:spPr>
          <a:xfrm>
            <a:off x="9043988" y="3633788"/>
            <a:ext cx="9525" cy="9525"/>
          </a:xfrm>
          <a:prstGeom prst="rect">
            <a:avLst/>
          </a:prstGeom>
          <a:noFill/>
          <a:ln w="0">
            <a:noFill/>
          </a:ln>
        </p:spPr>
        <p:txBody>
          <a:bodyPr/>
          <a:lstStyle/>
          <a:p>
            <a:endParaRPr lang="en-US"/>
          </a:p>
        </p:txBody>
      </p:sp>
      <p:cxnSp>
        <p:nvCxnSpPr>
          <p:cNvPr id="195" name="Straight Arrow Connector 194"/>
          <p:cNvCxnSpPr>
            <a:stCxn id="95" idx="3"/>
            <a:endCxn id="96" idx="1"/>
          </p:cNvCxnSpPr>
          <p:nvPr/>
        </p:nvCxnSpPr>
        <p:spPr>
          <a:xfrm>
            <a:off x="8291513" y="3638551"/>
            <a:ext cx="752475" cy="0"/>
          </a:xfrm>
          <a:prstGeom prst="straightConnector1">
            <a:avLst/>
          </a:prstGeom>
          <a:ln w="19050">
            <a:solidFill>
              <a:srgbClr val="3478B9"/>
            </a:solidFill>
            <a:prstDash val="solid"/>
            <a:tailEnd type="triangle" w="med" len="med"/>
          </a:ln>
        </p:spPr>
      </p:cxnSp>
      <p:sp>
        <p:nvSpPr>
          <p:cNvPr id="98" name="native-486">
            <a:extLst>
              <a:ext uri="{FF2B5EF4-FFF2-40B4-BE49-F238E27FC236}">
                <a16:creationId xmlns:a16="http://schemas.microsoft.com/office/drawing/2014/main" id="{C732136D-A315-4CD5-AECB-18E3C2E2228E}"/>
              </a:ext>
            </a:extLst>
          </p:cNvPr>
          <p:cNvSpPr>
            <a:spLocks noGrp="1"/>
          </p:cNvSpPr>
          <p:nvPr/>
        </p:nvSpPr>
        <p:spPr>
          <a:xfrm>
            <a:off x="9001125" y="4391025"/>
            <a:ext cx="2667000" cy="838200"/>
          </a:xfrm>
          <a:prstGeom prst="rect">
            <a:avLst/>
          </a:prstGeom>
          <a:noFill/>
          <a:ln w="0">
            <a:noFill/>
          </a:ln>
        </p:spPr>
        <p:txBody>
          <a:bodyPr anchor="ctr">
            <a:noAutofit/>
          </a:bodyPr>
          <a:lstStyle/>
          <a:p>
            <a:pPr algn="l">
              <a:defRPr sz="1500" b="0">
                <a:solidFill>
                  <a:srgbClr val="5D6C79"/>
                </a:solidFill>
                <a:latin typeface="Arial"/>
                <a:ea typeface="Arial"/>
                <a:cs typeface="Arial"/>
              </a:defRPr>
            </a:pPr>
            <a:r>
              <a:rPr sz="1500" b="0">
                <a:solidFill>
                  <a:srgbClr val="5D6C79"/>
                </a:solidFill>
                <a:latin typeface="Arial"/>
                <a:ea typeface="Arial"/>
                <a:cs typeface="Arial"/>
              </a:rPr>
              <a:t>All four checks must pass before</a:t>
            </a:r>
          </a:p>
          <a:p>
            <a:pPr algn="l">
              <a:defRPr sz="1500" b="0">
                <a:solidFill>
                  <a:srgbClr val="5D6C79"/>
                </a:solidFill>
                <a:latin typeface="Arial"/>
                <a:ea typeface="Arial"/>
                <a:cs typeface="Arial"/>
              </a:defRPr>
            </a:pPr>
            <a:r>
              <a:rPr sz="1500" b="0">
                <a:solidFill>
                  <a:srgbClr val="5D6C79"/>
                </a:solidFill>
                <a:latin typeface="Arial"/>
                <a:ea typeface="Arial"/>
                <a:cs typeface="Arial"/>
              </a:rPr>
              <a:t>the integration build proceeds.</a:t>
            </a:r>
          </a:p>
        </p:txBody>
      </p:sp>
    </p:spTree>
    <p:extLst>
      <p:ext uri="{BB962C8B-B14F-4D97-AF65-F5344CB8AC3E}">
        <p14:creationId xmlns:p14="http://schemas.microsoft.com/office/powerpoint/2010/main" val="991513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native-487">
            <a:extLst>
              <a:ext uri="{FF2B5EF4-FFF2-40B4-BE49-F238E27FC236}">
                <a16:creationId xmlns:a16="http://schemas.microsoft.com/office/drawing/2014/main" id="{67142A8F-32EC-410F-860B-B2E9A364B0B4}"/>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Staging and production delivery</a:t>
            </a:r>
          </a:p>
        </p:txBody>
      </p:sp>
      <p:sp>
        <p:nvSpPr>
          <p:cNvPr id="2" name="native-488">
            <a:extLst>
              <a:ext uri="{FF2B5EF4-FFF2-40B4-BE49-F238E27FC236}">
                <a16:creationId xmlns:a16="http://schemas.microsoft.com/office/drawing/2014/main" id="{39A7E6AB-C395-4899-AB1F-5141B7B88D9E}"/>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Separate triggers, build paths and endpoint verification</a:t>
            </a:r>
          </a:p>
        </p:txBody>
      </p:sp>
      <p:sp>
        <p:nvSpPr>
          <p:cNvPr id="3" name="native-489">
            <a:extLst>
              <a:ext uri="{FF2B5EF4-FFF2-40B4-BE49-F238E27FC236}">
                <a16:creationId xmlns:a16="http://schemas.microsoft.com/office/drawing/2014/main" id="{809BAB95-6FF4-4D55-B6B3-AC6947F1A352}"/>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490">
            <a:extLst>
              <a:ext uri="{FF2B5EF4-FFF2-40B4-BE49-F238E27FC236}">
                <a16:creationId xmlns:a16="http://schemas.microsoft.com/office/drawing/2014/main" id="{6A0BB31C-7784-460D-8ADF-77E7852F1020}"/>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50" name="Straight Arrow Connector 49"/>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491">
            <a:extLst>
              <a:ext uri="{FF2B5EF4-FFF2-40B4-BE49-F238E27FC236}">
                <a16:creationId xmlns:a16="http://schemas.microsoft.com/office/drawing/2014/main" id="{E16D1C10-11AB-4294-BB59-112A04DF4362}"/>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Documented runtimes: staging about 1.5 minutes, production about 5 minutes. A stopped staging runner leaves the job queued.</a:t>
            </a:r>
          </a:p>
        </p:txBody>
      </p:sp>
      <p:sp>
        <p:nvSpPr>
          <p:cNvPr id="7" name="native-492">
            <a:extLst>
              <a:ext uri="{FF2B5EF4-FFF2-40B4-BE49-F238E27FC236}">
                <a16:creationId xmlns:a16="http://schemas.microsoft.com/office/drawing/2014/main" id="{62C0DC63-4FFB-4863-AA12-ECA88ED2D6CE}"/>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22</a:t>
            </a:r>
          </a:p>
        </p:txBody>
      </p:sp>
      <p:sp>
        <p:nvSpPr>
          <p:cNvPr id="8" name="native-493">
            <a:extLst>
              <a:ext uri="{FF2B5EF4-FFF2-40B4-BE49-F238E27FC236}">
                <a16:creationId xmlns:a16="http://schemas.microsoft.com/office/drawing/2014/main" id="{CFF33100-3871-4C47-833A-1B5DE5046798}"/>
              </a:ext>
            </a:extLst>
          </p:cNvPr>
          <p:cNvSpPr>
            <a:spLocks noGrp="1"/>
          </p:cNvSpPr>
          <p:nvPr/>
        </p:nvSpPr>
        <p:spPr>
          <a:xfrm>
            <a:off x="523875" y="1695450"/>
            <a:ext cx="2286000" cy="342900"/>
          </a:xfrm>
          <a:prstGeom prst="rect">
            <a:avLst/>
          </a:prstGeom>
          <a:noFill/>
          <a:ln w="0">
            <a:noFill/>
          </a:ln>
        </p:spPr>
        <p:txBody>
          <a:bodyPr anchor="ctr">
            <a:noAutofit/>
          </a:bodyPr>
          <a:lstStyle/>
          <a:p>
            <a:pPr algn="l">
              <a:defRPr sz="1725" b="1">
                <a:solidFill>
                  <a:srgbClr val="0F8B8D"/>
                </a:solidFill>
                <a:latin typeface="Arial"/>
                <a:ea typeface="Arial"/>
                <a:cs typeface="Arial"/>
              </a:defRPr>
            </a:pPr>
            <a:r>
              <a:rPr sz="1725" b="1">
                <a:solidFill>
                  <a:srgbClr val="0F8B8D"/>
                </a:solidFill>
                <a:latin typeface="Arial"/>
                <a:ea typeface="Arial"/>
                <a:cs typeface="Arial"/>
              </a:rPr>
              <a:t>STAGING</a:t>
            </a:r>
          </a:p>
        </p:txBody>
      </p:sp>
      <p:sp>
        <p:nvSpPr>
          <p:cNvPr id="9" name="native-494">
            <a:extLst>
              <a:ext uri="{FF2B5EF4-FFF2-40B4-BE49-F238E27FC236}">
                <a16:creationId xmlns:a16="http://schemas.microsoft.com/office/drawing/2014/main" id="{23158A14-CE5B-4124-A00D-97D95E17D79A}"/>
              </a:ext>
            </a:extLst>
          </p:cNvPr>
          <p:cNvSpPr>
            <a:spLocks noGrp="1"/>
          </p:cNvSpPr>
          <p:nvPr/>
        </p:nvSpPr>
        <p:spPr>
          <a:xfrm>
            <a:off x="523875" y="2381250"/>
            <a:ext cx="2476500" cy="1009650"/>
          </a:xfrm>
          <a:prstGeom prst="rect">
            <a:avLst/>
          </a:prstGeom>
          <a:solidFill>
            <a:srgbClr val="E2F2F1"/>
          </a:solidFill>
          <a:ln w="9525">
            <a:solidFill>
              <a:srgbClr val="B6C6D2"/>
            </a:solidFill>
          </a:ln>
        </p:spPr>
        <p:txBody>
          <a:bodyPr/>
          <a:lstStyle/>
          <a:p>
            <a:endParaRPr lang="en-US"/>
          </a:p>
        </p:txBody>
      </p:sp>
      <p:sp>
        <p:nvSpPr>
          <p:cNvPr id="10" name="native-495">
            <a:extLst>
              <a:ext uri="{FF2B5EF4-FFF2-40B4-BE49-F238E27FC236}">
                <a16:creationId xmlns:a16="http://schemas.microsoft.com/office/drawing/2014/main" id="{92E2D19C-01B8-4504-9DE2-D5FE065E7A6B}"/>
              </a:ext>
            </a:extLst>
          </p:cNvPr>
          <p:cNvSpPr>
            <a:spLocks noGrp="1"/>
          </p:cNvSpPr>
          <p:nvPr/>
        </p:nvSpPr>
        <p:spPr>
          <a:xfrm>
            <a:off x="657225" y="2457450"/>
            <a:ext cx="2209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Push to master</a:t>
            </a:r>
          </a:p>
        </p:txBody>
      </p:sp>
      <p:sp>
        <p:nvSpPr>
          <p:cNvPr id="11" name="native-496">
            <a:extLst>
              <a:ext uri="{FF2B5EF4-FFF2-40B4-BE49-F238E27FC236}">
                <a16:creationId xmlns:a16="http://schemas.microsoft.com/office/drawing/2014/main" id="{1463DAB0-2E85-4BD0-9239-5C1AA9CBAC57}"/>
              </a:ext>
            </a:extLst>
          </p:cNvPr>
          <p:cNvSpPr>
            <a:spLocks noGrp="1"/>
          </p:cNvSpPr>
          <p:nvPr/>
        </p:nvSpPr>
        <p:spPr>
          <a:xfrm>
            <a:off x="657225" y="2790825"/>
            <a:ext cx="2209800" cy="5429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deploy-staging.yml</a:t>
            </a:r>
          </a:p>
        </p:txBody>
      </p:sp>
      <p:sp>
        <p:nvSpPr>
          <p:cNvPr id="12" name="native-497">
            <a:extLst>
              <a:ext uri="{FF2B5EF4-FFF2-40B4-BE49-F238E27FC236}">
                <a16:creationId xmlns:a16="http://schemas.microsoft.com/office/drawing/2014/main" id="{15D7F3A0-09E5-44DE-A5F0-2F85A158C557}"/>
              </a:ext>
            </a:extLst>
          </p:cNvPr>
          <p:cNvSpPr>
            <a:spLocks noGrp="1"/>
          </p:cNvSpPr>
          <p:nvPr/>
        </p:nvSpPr>
        <p:spPr>
          <a:xfrm>
            <a:off x="3857625" y="2381250"/>
            <a:ext cx="3333750" cy="1009650"/>
          </a:xfrm>
          <a:prstGeom prst="rect">
            <a:avLst/>
          </a:prstGeom>
          <a:solidFill>
            <a:srgbClr val="E8EFF5"/>
          </a:solidFill>
          <a:ln w="9525">
            <a:solidFill>
              <a:srgbClr val="B6C6D2"/>
            </a:solidFill>
          </a:ln>
        </p:spPr>
        <p:txBody>
          <a:bodyPr/>
          <a:lstStyle/>
          <a:p>
            <a:endParaRPr lang="en-US"/>
          </a:p>
        </p:txBody>
      </p:sp>
      <p:sp>
        <p:nvSpPr>
          <p:cNvPr id="13" name="native-498">
            <a:extLst>
              <a:ext uri="{FF2B5EF4-FFF2-40B4-BE49-F238E27FC236}">
                <a16:creationId xmlns:a16="http://schemas.microsoft.com/office/drawing/2014/main" id="{1AAD22AD-4C1E-4648-986E-58ABE40DF289}"/>
              </a:ext>
            </a:extLst>
          </p:cNvPr>
          <p:cNvSpPr>
            <a:spLocks noGrp="1"/>
          </p:cNvSpPr>
          <p:nvPr/>
        </p:nvSpPr>
        <p:spPr>
          <a:xfrm>
            <a:off x="3990975" y="2457450"/>
            <a:ext cx="30670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Windows runner</a:t>
            </a:r>
          </a:p>
        </p:txBody>
      </p:sp>
      <p:sp>
        <p:nvSpPr>
          <p:cNvPr id="14" name="native-499">
            <a:extLst>
              <a:ext uri="{FF2B5EF4-FFF2-40B4-BE49-F238E27FC236}">
                <a16:creationId xmlns:a16="http://schemas.microsoft.com/office/drawing/2014/main" id="{482BFD60-B7C8-42BC-AAE2-F87EB5FFF43C}"/>
              </a:ext>
            </a:extLst>
          </p:cNvPr>
          <p:cNvSpPr>
            <a:spLocks noGrp="1"/>
          </p:cNvSpPr>
          <p:nvPr/>
        </p:nvSpPr>
        <p:spPr>
          <a:xfrm>
            <a:off x="3990975" y="2790825"/>
            <a:ext cx="3067050" cy="5429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deploy-staging.ps1</a:t>
            </a:r>
          </a:p>
          <a:p>
            <a:pPr algn="l">
              <a:defRPr sz="1425" b="0">
                <a:solidFill>
                  <a:srgbClr val="5D6C79"/>
                </a:solidFill>
                <a:latin typeface="Arial"/>
                <a:ea typeface="Arial"/>
                <a:cs typeface="Arial"/>
              </a:defRPr>
            </a:pPr>
            <a:r>
              <a:rPr sz="1425" b="0">
                <a:solidFill>
                  <a:srgbClr val="5D6C79"/>
                </a:solidFill>
                <a:latin typeface="Arial"/>
                <a:ea typeface="Arial"/>
                <a:cs typeface="Arial"/>
              </a:rPr>
              <a:t>Local Docker deployment</a:t>
            </a:r>
          </a:p>
        </p:txBody>
      </p:sp>
      <p:sp>
        <p:nvSpPr>
          <p:cNvPr id="15" name="native-500">
            <a:extLst>
              <a:ext uri="{FF2B5EF4-FFF2-40B4-BE49-F238E27FC236}">
                <a16:creationId xmlns:a16="http://schemas.microsoft.com/office/drawing/2014/main" id="{0B4E0A9B-6AA9-49C5-8CB2-2BBE2012A9A1}"/>
              </a:ext>
            </a:extLst>
          </p:cNvPr>
          <p:cNvSpPr>
            <a:spLocks noGrp="1"/>
          </p:cNvSpPr>
          <p:nvPr/>
        </p:nvSpPr>
        <p:spPr>
          <a:xfrm>
            <a:off x="8286750" y="2381250"/>
            <a:ext cx="3286125" cy="1009650"/>
          </a:xfrm>
          <a:prstGeom prst="rect">
            <a:avLst/>
          </a:prstGeom>
          <a:solidFill>
            <a:srgbClr val="E8EFF5"/>
          </a:solidFill>
          <a:ln w="9525">
            <a:solidFill>
              <a:srgbClr val="B6C6D2"/>
            </a:solidFill>
          </a:ln>
        </p:spPr>
        <p:txBody>
          <a:bodyPr/>
          <a:lstStyle/>
          <a:p>
            <a:endParaRPr lang="en-US"/>
          </a:p>
        </p:txBody>
      </p:sp>
      <p:sp>
        <p:nvSpPr>
          <p:cNvPr id="16" name="native-501">
            <a:extLst>
              <a:ext uri="{FF2B5EF4-FFF2-40B4-BE49-F238E27FC236}">
                <a16:creationId xmlns:a16="http://schemas.microsoft.com/office/drawing/2014/main" id="{98EB0D1B-C3D9-4D24-9796-D30B0155AA7B}"/>
              </a:ext>
            </a:extLst>
          </p:cNvPr>
          <p:cNvSpPr>
            <a:spLocks noGrp="1"/>
          </p:cNvSpPr>
          <p:nvPr/>
        </p:nvSpPr>
        <p:spPr>
          <a:xfrm>
            <a:off x="8420100" y="2457450"/>
            <a:ext cx="3019425"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Endpoint verification</a:t>
            </a:r>
          </a:p>
        </p:txBody>
      </p:sp>
      <p:sp>
        <p:nvSpPr>
          <p:cNvPr id="17" name="native-502">
            <a:extLst>
              <a:ext uri="{FF2B5EF4-FFF2-40B4-BE49-F238E27FC236}">
                <a16:creationId xmlns:a16="http://schemas.microsoft.com/office/drawing/2014/main" id="{93096965-89DB-4D20-99D2-951EDCF3BAF5}"/>
              </a:ext>
            </a:extLst>
          </p:cNvPr>
          <p:cNvSpPr>
            <a:spLocks noGrp="1"/>
          </p:cNvSpPr>
          <p:nvPr/>
        </p:nvSpPr>
        <p:spPr>
          <a:xfrm>
            <a:off x="8420100" y="2790825"/>
            <a:ext cx="3019425" cy="5429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FHIR, login, frontend</a:t>
            </a:r>
          </a:p>
        </p:txBody>
      </p:sp>
      <p:sp>
        <p:nvSpPr>
          <p:cNvPr id="18" name="native-503">
            <a:extLst>
              <a:ext uri="{FF2B5EF4-FFF2-40B4-BE49-F238E27FC236}">
                <a16:creationId xmlns:a16="http://schemas.microsoft.com/office/drawing/2014/main" id="{6C2A435E-6A27-49DE-BF65-9BC124CE0093}"/>
              </a:ext>
            </a:extLst>
          </p:cNvPr>
          <p:cNvSpPr>
            <a:spLocks noGrp="1"/>
          </p:cNvSpPr>
          <p:nvPr/>
        </p:nvSpPr>
        <p:spPr>
          <a:xfrm>
            <a:off x="2995613" y="2881313"/>
            <a:ext cx="9525" cy="9525"/>
          </a:xfrm>
          <a:prstGeom prst="rect">
            <a:avLst/>
          </a:prstGeom>
          <a:noFill/>
          <a:ln w="0">
            <a:noFill/>
          </a:ln>
        </p:spPr>
        <p:txBody>
          <a:bodyPr/>
          <a:lstStyle/>
          <a:p>
            <a:endParaRPr lang="en-US"/>
          </a:p>
        </p:txBody>
      </p:sp>
      <p:sp>
        <p:nvSpPr>
          <p:cNvPr id="19" name="native-504">
            <a:extLst>
              <a:ext uri="{FF2B5EF4-FFF2-40B4-BE49-F238E27FC236}">
                <a16:creationId xmlns:a16="http://schemas.microsoft.com/office/drawing/2014/main" id="{EDA5560C-29F9-4B7C-BBC5-86895E3CD97B}"/>
              </a:ext>
            </a:extLst>
          </p:cNvPr>
          <p:cNvSpPr>
            <a:spLocks noGrp="1"/>
          </p:cNvSpPr>
          <p:nvPr/>
        </p:nvSpPr>
        <p:spPr>
          <a:xfrm>
            <a:off x="3852863" y="2881313"/>
            <a:ext cx="9525" cy="9525"/>
          </a:xfrm>
          <a:prstGeom prst="rect">
            <a:avLst/>
          </a:prstGeom>
          <a:noFill/>
          <a:ln w="0">
            <a:noFill/>
          </a:ln>
        </p:spPr>
        <p:txBody>
          <a:bodyPr/>
          <a:lstStyle/>
          <a:p>
            <a:endParaRPr lang="en-US"/>
          </a:p>
        </p:txBody>
      </p:sp>
      <p:cxnSp>
        <p:nvCxnSpPr>
          <p:cNvPr id="65" name="Straight Arrow Connector 64"/>
          <p:cNvCxnSpPr>
            <a:stCxn id="18" idx="3"/>
            <a:endCxn id="19" idx="1"/>
          </p:cNvCxnSpPr>
          <p:nvPr/>
        </p:nvCxnSpPr>
        <p:spPr>
          <a:xfrm>
            <a:off x="3005138" y="2886076"/>
            <a:ext cx="847725" cy="0"/>
          </a:xfrm>
          <a:prstGeom prst="straightConnector1">
            <a:avLst/>
          </a:prstGeom>
          <a:ln w="19050">
            <a:solidFill>
              <a:srgbClr val="0F8B8D"/>
            </a:solidFill>
            <a:prstDash val="solid"/>
            <a:tailEnd type="triangle" w="med" len="med"/>
          </a:ln>
        </p:spPr>
      </p:cxnSp>
      <p:sp>
        <p:nvSpPr>
          <p:cNvPr id="21" name="native-505">
            <a:extLst>
              <a:ext uri="{FF2B5EF4-FFF2-40B4-BE49-F238E27FC236}">
                <a16:creationId xmlns:a16="http://schemas.microsoft.com/office/drawing/2014/main" id="{DF48E629-7799-4834-9185-83B7210BF147}"/>
              </a:ext>
            </a:extLst>
          </p:cNvPr>
          <p:cNvSpPr>
            <a:spLocks noGrp="1"/>
          </p:cNvSpPr>
          <p:nvPr/>
        </p:nvSpPr>
        <p:spPr>
          <a:xfrm>
            <a:off x="7186613" y="2881313"/>
            <a:ext cx="9525" cy="9525"/>
          </a:xfrm>
          <a:prstGeom prst="rect">
            <a:avLst/>
          </a:prstGeom>
          <a:noFill/>
          <a:ln w="0">
            <a:noFill/>
          </a:ln>
        </p:spPr>
        <p:txBody>
          <a:bodyPr/>
          <a:lstStyle/>
          <a:p>
            <a:endParaRPr lang="en-US"/>
          </a:p>
        </p:txBody>
      </p:sp>
      <p:sp>
        <p:nvSpPr>
          <p:cNvPr id="22" name="native-506">
            <a:extLst>
              <a:ext uri="{FF2B5EF4-FFF2-40B4-BE49-F238E27FC236}">
                <a16:creationId xmlns:a16="http://schemas.microsoft.com/office/drawing/2014/main" id="{493C14D5-4EE9-4F92-9106-19F24AE2BDA8}"/>
              </a:ext>
            </a:extLst>
          </p:cNvPr>
          <p:cNvSpPr>
            <a:spLocks noGrp="1"/>
          </p:cNvSpPr>
          <p:nvPr/>
        </p:nvSpPr>
        <p:spPr>
          <a:xfrm>
            <a:off x="8281988" y="2881313"/>
            <a:ext cx="9525" cy="9525"/>
          </a:xfrm>
          <a:prstGeom prst="rect">
            <a:avLst/>
          </a:prstGeom>
          <a:noFill/>
          <a:ln w="0">
            <a:noFill/>
          </a:ln>
        </p:spPr>
        <p:txBody>
          <a:bodyPr/>
          <a:lstStyle/>
          <a:p>
            <a:endParaRPr lang="en-US"/>
          </a:p>
        </p:txBody>
      </p:sp>
      <p:cxnSp>
        <p:nvCxnSpPr>
          <p:cNvPr id="68" name="Straight Arrow Connector 67"/>
          <p:cNvCxnSpPr>
            <a:stCxn id="21" idx="3"/>
            <a:endCxn id="22" idx="1"/>
          </p:cNvCxnSpPr>
          <p:nvPr/>
        </p:nvCxnSpPr>
        <p:spPr>
          <a:xfrm>
            <a:off x="7196138" y="2886076"/>
            <a:ext cx="1085850" cy="0"/>
          </a:xfrm>
          <a:prstGeom prst="straightConnector1">
            <a:avLst/>
          </a:prstGeom>
          <a:ln w="19050">
            <a:solidFill>
              <a:srgbClr val="0F8B8D"/>
            </a:solidFill>
            <a:prstDash val="solid"/>
            <a:tailEnd type="triangle" w="med" len="med"/>
          </a:ln>
        </p:spPr>
      </p:cxnSp>
      <p:sp>
        <p:nvSpPr>
          <p:cNvPr id="24" name="native-507">
            <a:extLst>
              <a:ext uri="{FF2B5EF4-FFF2-40B4-BE49-F238E27FC236}">
                <a16:creationId xmlns:a16="http://schemas.microsoft.com/office/drawing/2014/main" id="{33E39CD4-82B8-4C24-949B-0D8CD32F06F6}"/>
              </a:ext>
            </a:extLst>
          </p:cNvPr>
          <p:cNvSpPr>
            <a:spLocks noGrp="1"/>
          </p:cNvSpPr>
          <p:nvPr/>
        </p:nvSpPr>
        <p:spPr>
          <a:xfrm>
            <a:off x="523875" y="3914775"/>
            <a:ext cx="2571750" cy="342900"/>
          </a:xfrm>
          <a:prstGeom prst="rect">
            <a:avLst/>
          </a:prstGeom>
          <a:noFill/>
          <a:ln w="0">
            <a:noFill/>
          </a:ln>
        </p:spPr>
        <p:txBody>
          <a:bodyPr anchor="ctr">
            <a:noAutofit/>
          </a:bodyPr>
          <a:lstStyle/>
          <a:p>
            <a:pPr algn="l">
              <a:defRPr sz="1725" b="1">
                <a:solidFill>
                  <a:srgbClr val="3478B9"/>
                </a:solidFill>
                <a:latin typeface="Arial"/>
                <a:ea typeface="Arial"/>
                <a:cs typeface="Arial"/>
              </a:defRPr>
            </a:pPr>
            <a:r>
              <a:rPr sz="1725" b="1">
                <a:solidFill>
                  <a:srgbClr val="3478B9"/>
                </a:solidFill>
                <a:latin typeface="Arial"/>
                <a:ea typeface="Arial"/>
                <a:cs typeface="Arial"/>
              </a:rPr>
              <a:t>PRODUCTION</a:t>
            </a:r>
          </a:p>
        </p:txBody>
      </p:sp>
      <p:sp>
        <p:nvSpPr>
          <p:cNvPr id="25" name="native-508">
            <a:extLst>
              <a:ext uri="{FF2B5EF4-FFF2-40B4-BE49-F238E27FC236}">
                <a16:creationId xmlns:a16="http://schemas.microsoft.com/office/drawing/2014/main" id="{83CB5BA9-D5F8-4E9F-A4EA-CF1AA4F14DE9}"/>
              </a:ext>
            </a:extLst>
          </p:cNvPr>
          <p:cNvSpPr>
            <a:spLocks noGrp="1"/>
          </p:cNvSpPr>
          <p:nvPr/>
        </p:nvSpPr>
        <p:spPr>
          <a:xfrm>
            <a:off x="523875" y="4667250"/>
            <a:ext cx="2476500" cy="1009650"/>
          </a:xfrm>
          <a:prstGeom prst="rect">
            <a:avLst/>
          </a:prstGeom>
          <a:solidFill>
            <a:srgbClr val="E8EFF5"/>
          </a:solidFill>
          <a:ln w="9525">
            <a:solidFill>
              <a:srgbClr val="B6C6D2"/>
            </a:solidFill>
          </a:ln>
        </p:spPr>
        <p:txBody>
          <a:bodyPr/>
          <a:lstStyle/>
          <a:p>
            <a:endParaRPr lang="en-US"/>
          </a:p>
        </p:txBody>
      </p:sp>
      <p:sp>
        <p:nvSpPr>
          <p:cNvPr id="26" name="native-509">
            <a:extLst>
              <a:ext uri="{FF2B5EF4-FFF2-40B4-BE49-F238E27FC236}">
                <a16:creationId xmlns:a16="http://schemas.microsoft.com/office/drawing/2014/main" id="{25C2C72C-C6C5-459C-8F48-C76BF65E62BB}"/>
              </a:ext>
            </a:extLst>
          </p:cNvPr>
          <p:cNvSpPr>
            <a:spLocks noGrp="1"/>
          </p:cNvSpPr>
          <p:nvPr/>
        </p:nvSpPr>
        <p:spPr>
          <a:xfrm>
            <a:off x="657225" y="4743450"/>
            <a:ext cx="22098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v* tag / manual run</a:t>
            </a:r>
          </a:p>
        </p:txBody>
      </p:sp>
      <p:sp>
        <p:nvSpPr>
          <p:cNvPr id="27" name="native-510">
            <a:extLst>
              <a:ext uri="{FF2B5EF4-FFF2-40B4-BE49-F238E27FC236}">
                <a16:creationId xmlns:a16="http://schemas.microsoft.com/office/drawing/2014/main" id="{D672704F-5D5F-43EF-BD8F-06C96FD9BCB2}"/>
              </a:ext>
            </a:extLst>
          </p:cNvPr>
          <p:cNvSpPr>
            <a:spLocks noGrp="1"/>
          </p:cNvSpPr>
          <p:nvPr/>
        </p:nvSpPr>
        <p:spPr>
          <a:xfrm>
            <a:off x="657225" y="5076825"/>
            <a:ext cx="2209800" cy="5429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deploy-production.yml</a:t>
            </a:r>
          </a:p>
        </p:txBody>
      </p:sp>
      <p:sp>
        <p:nvSpPr>
          <p:cNvPr id="28" name="native-511">
            <a:extLst>
              <a:ext uri="{FF2B5EF4-FFF2-40B4-BE49-F238E27FC236}">
                <a16:creationId xmlns:a16="http://schemas.microsoft.com/office/drawing/2014/main" id="{3BBEECA0-7516-462B-B019-8F2F1E0F059D}"/>
              </a:ext>
            </a:extLst>
          </p:cNvPr>
          <p:cNvSpPr>
            <a:spLocks noGrp="1"/>
          </p:cNvSpPr>
          <p:nvPr/>
        </p:nvSpPr>
        <p:spPr>
          <a:xfrm>
            <a:off x="3619500" y="4667250"/>
            <a:ext cx="2667000" cy="1009650"/>
          </a:xfrm>
          <a:prstGeom prst="rect">
            <a:avLst/>
          </a:prstGeom>
          <a:solidFill>
            <a:srgbClr val="E8EFF5"/>
          </a:solidFill>
          <a:ln w="9525">
            <a:solidFill>
              <a:srgbClr val="B6C6D2"/>
            </a:solidFill>
          </a:ln>
        </p:spPr>
        <p:txBody>
          <a:bodyPr/>
          <a:lstStyle/>
          <a:p>
            <a:endParaRPr lang="en-US"/>
          </a:p>
        </p:txBody>
      </p:sp>
      <p:sp>
        <p:nvSpPr>
          <p:cNvPr id="29" name="native-512">
            <a:extLst>
              <a:ext uri="{FF2B5EF4-FFF2-40B4-BE49-F238E27FC236}">
                <a16:creationId xmlns:a16="http://schemas.microsoft.com/office/drawing/2014/main" id="{07CD08CF-9431-42A9-B288-3FCE912F16A8}"/>
              </a:ext>
            </a:extLst>
          </p:cNvPr>
          <p:cNvSpPr>
            <a:spLocks noGrp="1"/>
          </p:cNvSpPr>
          <p:nvPr/>
        </p:nvSpPr>
        <p:spPr>
          <a:xfrm>
            <a:off x="3752850" y="4743450"/>
            <a:ext cx="24003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Build + publish</a:t>
            </a:r>
          </a:p>
        </p:txBody>
      </p:sp>
      <p:sp>
        <p:nvSpPr>
          <p:cNvPr id="30" name="native-513">
            <a:extLst>
              <a:ext uri="{FF2B5EF4-FFF2-40B4-BE49-F238E27FC236}">
                <a16:creationId xmlns:a16="http://schemas.microsoft.com/office/drawing/2014/main" id="{40451713-ABD9-4B57-A4D8-DD2209EC37B2}"/>
              </a:ext>
            </a:extLst>
          </p:cNvPr>
          <p:cNvSpPr>
            <a:spLocks noGrp="1"/>
          </p:cNvSpPr>
          <p:nvPr/>
        </p:nvSpPr>
        <p:spPr>
          <a:xfrm>
            <a:off x="3752850" y="5076825"/>
            <a:ext cx="2400300" cy="5429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3 container images</a:t>
            </a:r>
          </a:p>
          <a:p>
            <a:pPr algn="l">
              <a:defRPr sz="1425" b="0">
                <a:solidFill>
                  <a:srgbClr val="5D6C79"/>
                </a:solidFill>
                <a:latin typeface="Arial"/>
                <a:ea typeface="Arial"/>
                <a:cs typeface="Arial"/>
              </a:defRPr>
            </a:pPr>
            <a:r>
              <a:rPr sz="1425" b="0">
                <a:solidFill>
                  <a:srgbClr val="5D6C79"/>
                </a:solidFill>
                <a:latin typeface="Arial"/>
                <a:ea typeface="Arial"/>
                <a:cs typeface="Arial"/>
              </a:rPr>
              <a:t>Push to GHCR</a:t>
            </a:r>
          </a:p>
        </p:txBody>
      </p:sp>
      <p:sp>
        <p:nvSpPr>
          <p:cNvPr id="31" name="native-514">
            <a:extLst>
              <a:ext uri="{FF2B5EF4-FFF2-40B4-BE49-F238E27FC236}">
                <a16:creationId xmlns:a16="http://schemas.microsoft.com/office/drawing/2014/main" id="{81309131-055C-4575-9D39-8EA0565F06BA}"/>
              </a:ext>
            </a:extLst>
          </p:cNvPr>
          <p:cNvSpPr>
            <a:spLocks noGrp="1"/>
          </p:cNvSpPr>
          <p:nvPr/>
        </p:nvSpPr>
        <p:spPr>
          <a:xfrm>
            <a:off x="6858000" y="4667250"/>
            <a:ext cx="2286000" cy="1009650"/>
          </a:xfrm>
          <a:prstGeom prst="rect">
            <a:avLst/>
          </a:prstGeom>
          <a:solidFill>
            <a:srgbClr val="E8EFF5"/>
          </a:solidFill>
          <a:ln w="9525">
            <a:solidFill>
              <a:srgbClr val="B6C6D2"/>
            </a:solidFill>
          </a:ln>
        </p:spPr>
        <p:txBody>
          <a:bodyPr/>
          <a:lstStyle/>
          <a:p>
            <a:endParaRPr lang="en-US"/>
          </a:p>
        </p:txBody>
      </p:sp>
      <p:sp>
        <p:nvSpPr>
          <p:cNvPr id="32" name="native-515">
            <a:extLst>
              <a:ext uri="{FF2B5EF4-FFF2-40B4-BE49-F238E27FC236}">
                <a16:creationId xmlns:a16="http://schemas.microsoft.com/office/drawing/2014/main" id="{1123CF61-DB4F-4FF0-AA0E-D767DE22EBD4}"/>
              </a:ext>
            </a:extLst>
          </p:cNvPr>
          <p:cNvSpPr>
            <a:spLocks noGrp="1"/>
          </p:cNvSpPr>
          <p:nvPr/>
        </p:nvSpPr>
        <p:spPr>
          <a:xfrm>
            <a:off x="6991350" y="4743450"/>
            <a:ext cx="201930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SSH deployment</a:t>
            </a:r>
          </a:p>
        </p:txBody>
      </p:sp>
      <p:sp>
        <p:nvSpPr>
          <p:cNvPr id="33" name="native-516">
            <a:extLst>
              <a:ext uri="{FF2B5EF4-FFF2-40B4-BE49-F238E27FC236}">
                <a16:creationId xmlns:a16="http://schemas.microsoft.com/office/drawing/2014/main" id="{9B5E698E-61AB-4E35-A787-47468C25B218}"/>
              </a:ext>
            </a:extLst>
          </p:cNvPr>
          <p:cNvSpPr>
            <a:spLocks noGrp="1"/>
          </p:cNvSpPr>
          <p:nvPr/>
        </p:nvSpPr>
        <p:spPr>
          <a:xfrm>
            <a:off x="6991350" y="5076825"/>
            <a:ext cx="2019300" cy="5429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Pull images on VPS</a:t>
            </a:r>
          </a:p>
        </p:txBody>
      </p:sp>
      <p:sp>
        <p:nvSpPr>
          <p:cNvPr id="34" name="native-517">
            <a:extLst>
              <a:ext uri="{FF2B5EF4-FFF2-40B4-BE49-F238E27FC236}">
                <a16:creationId xmlns:a16="http://schemas.microsoft.com/office/drawing/2014/main" id="{C43A2092-3098-4CCD-B218-7C54DE2D57A9}"/>
              </a:ext>
            </a:extLst>
          </p:cNvPr>
          <p:cNvSpPr>
            <a:spLocks noGrp="1"/>
          </p:cNvSpPr>
          <p:nvPr/>
        </p:nvSpPr>
        <p:spPr>
          <a:xfrm>
            <a:off x="9715500" y="4667250"/>
            <a:ext cx="2000250" cy="1009650"/>
          </a:xfrm>
          <a:prstGeom prst="rect">
            <a:avLst/>
          </a:prstGeom>
          <a:solidFill>
            <a:srgbClr val="E8EFF5"/>
          </a:solidFill>
          <a:ln w="9525">
            <a:solidFill>
              <a:srgbClr val="B6C6D2"/>
            </a:solidFill>
          </a:ln>
        </p:spPr>
        <p:txBody>
          <a:bodyPr/>
          <a:lstStyle/>
          <a:p>
            <a:endParaRPr lang="en-US"/>
          </a:p>
        </p:txBody>
      </p:sp>
      <p:sp>
        <p:nvSpPr>
          <p:cNvPr id="35" name="native-518">
            <a:extLst>
              <a:ext uri="{FF2B5EF4-FFF2-40B4-BE49-F238E27FC236}">
                <a16:creationId xmlns:a16="http://schemas.microsoft.com/office/drawing/2014/main" id="{4C6117F9-CF84-40C8-816E-CA1293971165}"/>
              </a:ext>
            </a:extLst>
          </p:cNvPr>
          <p:cNvSpPr>
            <a:spLocks noGrp="1"/>
          </p:cNvSpPr>
          <p:nvPr/>
        </p:nvSpPr>
        <p:spPr>
          <a:xfrm>
            <a:off x="9848850" y="4743450"/>
            <a:ext cx="1733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Health check</a:t>
            </a:r>
          </a:p>
        </p:txBody>
      </p:sp>
      <p:sp>
        <p:nvSpPr>
          <p:cNvPr id="36" name="native-519">
            <a:extLst>
              <a:ext uri="{FF2B5EF4-FFF2-40B4-BE49-F238E27FC236}">
                <a16:creationId xmlns:a16="http://schemas.microsoft.com/office/drawing/2014/main" id="{63C031F8-B368-471F-8A0D-4721496731C0}"/>
              </a:ext>
            </a:extLst>
          </p:cNvPr>
          <p:cNvSpPr>
            <a:spLocks noGrp="1"/>
          </p:cNvSpPr>
          <p:nvPr/>
        </p:nvSpPr>
        <p:spPr>
          <a:xfrm>
            <a:off x="9848850" y="5076825"/>
            <a:ext cx="1733550" cy="54292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/fhir/metadata</a:t>
            </a:r>
          </a:p>
          <a:p>
            <a:pPr algn="l">
              <a:defRPr sz="1425" b="0">
                <a:solidFill>
                  <a:srgbClr val="5D6C79"/>
                </a:solidFill>
                <a:latin typeface="Arial"/>
                <a:ea typeface="Arial"/>
                <a:cs typeface="Arial"/>
              </a:defRPr>
            </a:pPr>
            <a:r>
              <a:rPr sz="1425" b="0">
                <a:solidFill>
                  <a:srgbClr val="5D6C79"/>
                </a:solidFill>
                <a:latin typeface="Arial"/>
                <a:ea typeface="Arial"/>
                <a:cs typeface="Arial"/>
              </a:rPr>
              <a:t>HTTP 200</a:t>
            </a:r>
          </a:p>
        </p:txBody>
      </p:sp>
      <p:sp>
        <p:nvSpPr>
          <p:cNvPr id="37" name="native-520">
            <a:extLst>
              <a:ext uri="{FF2B5EF4-FFF2-40B4-BE49-F238E27FC236}">
                <a16:creationId xmlns:a16="http://schemas.microsoft.com/office/drawing/2014/main" id="{6E1C498D-8948-45D5-B760-0771DC10C04D}"/>
              </a:ext>
            </a:extLst>
          </p:cNvPr>
          <p:cNvSpPr>
            <a:spLocks noGrp="1"/>
          </p:cNvSpPr>
          <p:nvPr/>
        </p:nvSpPr>
        <p:spPr>
          <a:xfrm>
            <a:off x="2995613" y="5167313"/>
            <a:ext cx="9525" cy="9525"/>
          </a:xfrm>
          <a:prstGeom prst="rect">
            <a:avLst/>
          </a:prstGeom>
          <a:noFill/>
          <a:ln w="0">
            <a:noFill/>
          </a:ln>
        </p:spPr>
        <p:txBody>
          <a:bodyPr/>
          <a:lstStyle/>
          <a:p>
            <a:endParaRPr lang="en-US"/>
          </a:p>
        </p:txBody>
      </p:sp>
      <p:sp>
        <p:nvSpPr>
          <p:cNvPr id="38" name="native-521">
            <a:extLst>
              <a:ext uri="{FF2B5EF4-FFF2-40B4-BE49-F238E27FC236}">
                <a16:creationId xmlns:a16="http://schemas.microsoft.com/office/drawing/2014/main" id="{0F4DF2A6-CB81-4758-9D56-26F05D5F22A3}"/>
              </a:ext>
            </a:extLst>
          </p:cNvPr>
          <p:cNvSpPr>
            <a:spLocks noGrp="1"/>
          </p:cNvSpPr>
          <p:nvPr/>
        </p:nvSpPr>
        <p:spPr>
          <a:xfrm>
            <a:off x="3614738" y="5167313"/>
            <a:ext cx="9525" cy="9525"/>
          </a:xfrm>
          <a:prstGeom prst="rect">
            <a:avLst/>
          </a:prstGeom>
          <a:noFill/>
          <a:ln w="0">
            <a:noFill/>
          </a:ln>
        </p:spPr>
        <p:txBody>
          <a:bodyPr/>
          <a:lstStyle/>
          <a:p>
            <a:endParaRPr lang="en-US"/>
          </a:p>
        </p:txBody>
      </p:sp>
      <p:cxnSp>
        <p:nvCxnSpPr>
          <p:cNvPr id="84" name="Straight Arrow Connector 83"/>
          <p:cNvCxnSpPr>
            <a:stCxn id="37" idx="3"/>
            <a:endCxn id="38" idx="1"/>
          </p:cNvCxnSpPr>
          <p:nvPr/>
        </p:nvCxnSpPr>
        <p:spPr>
          <a:xfrm>
            <a:off x="3005138" y="5172076"/>
            <a:ext cx="609600" cy="0"/>
          </a:xfrm>
          <a:prstGeom prst="straightConnector1">
            <a:avLst/>
          </a:prstGeom>
          <a:ln w="19050">
            <a:solidFill>
              <a:srgbClr val="3478B9"/>
            </a:solidFill>
            <a:prstDash val="solid"/>
            <a:tailEnd type="triangle" w="med" len="med"/>
          </a:ln>
        </p:spPr>
      </p:cxnSp>
      <p:sp>
        <p:nvSpPr>
          <p:cNvPr id="40" name="native-522">
            <a:extLst>
              <a:ext uri="{FF2B5EF4-FFF2-40B4-BE49-F238E27FC236}">
                <a16:creationId xmlns:a16="http://schemas.microsoft.com/office/drawing/2014/main" id="{7C8910C7-383E-4A57-A80E-B020BA372984}"/>
              </a:ext>
            </a:extLst>
          </p:cNvPr>
          <p:cNvSpPr>
            <a:spLocks noGrp="1"/>
          </p:cNvSpPr>
          <p:nvPr/>
        </p:nvSpPr>
        <p:spPr>
          <a:xfrm>
            <a:off x="6281738" y="5167313"/>
            <a:ext cx="9525" cy="9525"/>
          </a:xfrm>
          <a:prstGeom prst="rect">
            <a:avLst/>
          </a:prstGeom>
          <a:noFill/>
          <a:ln w="0">
            <a:noFill/>
          </a:ln>
        </p:spPr>
        <p:txBody>
          <a:bodyPr/>
          <a:lstStyle/>
          <a:p>
            <a:endParaRPr lang="en-US"/>
          </a:p>
        </p:txBody>
      </p:sp>
      <p:sp>
        <p:nvSpPr>
          <p:cNvPr id="41" name="native-523">
            <a:extLst>
              <a:ext uri="{FF2B5EF4-FFF2-40B4-BE49-F238E27FC236}">
                <a16:creationId xmlns:a16="http://schemas.microsoft.com/office/drawing/2014/main" id="{B7E34A98-E8E4-40AA-AE2C-100503C92D0A}"/>
              </a:ext>
            </a:extLst>
          </p:cNvPr>
          <p:cNvSpPr>
            <a:spLocks noGrp="1"/>
          </p:cNvSpPr>
          <p:nvPr/>
        </p:nvSpPr>
        <p:spPr>
          <a:xfrm>
            <a:off x="6853238" y="5167313"/>
            <a:ext cx="9525" cy="9525"/>
          </a:xfrm>
          <a:prstGeom prst="rect">
            <a:avLst/>
          </a:prstGeom>
          <a:noFill/>
          <a:ln w="0">
            <a:noFill/>
          </a:ln>
        </p:spPr>
        <p:txBody>
          <a:bodyPr/>
          <a:lstStyle/>
          <a:p>
            <a:endParaRPr lang="en-US"/>
          </a:p>
        </p:txBody>
      </p:sp>
      <p:cxnSp>
        <p:nvCxnSpPr>
          <p:cNvPr id="87" name="Straight Arrow Connector 86"/>
          <p:cNvCxnSpPr>
            <a:stCxn id="40" idx="3"/>
            <a:endCxn id="41" idx="1"/>
          </p:cNvCxnSpPr>
          <p:nvPr/>
        </p:nvCxnSpPr>
        <p:spPr>
          <a:xfrm>
            <a:off x="6291263" y="5172076"/>
            <a:ext cx="561975" cy="0"/>
          </a:xfrm>
          <a:prstGeom prst="straightConnector1">
            <a:avLst/>
          </a:prstGeom>
          <a:ln w="19050">
            <a:solidFill>
              <a:srgbClr val="3478B9"/>
            </a:solidFill>
            <a:prstDash val="solid"/>
            <a:tailEnd type="triangle" w="med" len="med"/>
          </a:ln>
        </p:spPr>
      </p:cxnSp>
      <p:sp>
        <p:nvSpPr>
          <p:cNvPr id="43" name="native-524">
            <a:extLst>
              <a:ext uri="{FF2B5EF4-FFF2-40B4-BE49-F238E27FC236}">
                <a16:creationId xmlns:a16="http://schemas.microsoft.com/office/drawing/2014/main" id="{A4CC04F7-D30C-4C8E-8FA5-B1B5A2A2C654}"/>
              </a:ext>
            </a:extLst>
          </p:cNvPr>
          <p:cNvSpPr>
            <a:spLocks noGrp="1"/>
          </p:cNvSpPr>
          <p:nvPr/>
        </p:nvSpPr>
        <p:spPr>
          <a:xfrm>
            <a:off x="9139238" y="5167313"/>
            <a:ext cx="9525" cy="9525"/>
          </a:xfrm>
          <a:prstGeom prst="rect">
            <a:avLst/>
          </a:prstGeom>
          <a:noFill/>
          <a:ln w="0">
            <a:noFill/>
          </a:ln>
        </p:spPr>
        <p:txBody>
          <a:bodyPr/>
          <a:lstStyle/>
          <a:p>
            <a:endParaRPr lang="en-US"/>
          </a:p>
        </p:txBody>
      </p:sp>
      <p:sp>
        <p:nvSpPr>
          <p:cNvPr id="44" name="native-525">
            <a:extLst>
              <a:ext uri="{FF2B5EF4-FFF2-40B4-BE49-F238E27FC236}">
                <a16:creationId xmlns:a16="http://schemas.microsoft.com/office/drawing/2014/main" id="{B585004A-9559-4C94-A11F-1A6BAAE44B9F}"/>
              </a:ext>
            </a:extLst>
          </p:cNvPr>
          <p:cNvSpPr>
            <a:spLocks noGrp="1"/>
          </p:cNvSpPr>
          <p:nvPr/>
        </p:nvSpPr>
        <p:spPr>
          <a:xfrm>
            <a:off x="9710738" y="5167313"/>
            <a:ext cx="9525" cy="9525"/>
          </a:xfrm>
          <a:prstGeom prst="rect">
            <a:avLst/>
          </a:prstGeom>
          <a:noFill/>
          <a:ln w="0">
            <a:noFill/>
          </a:ln>
        </p:spPr>
        <p:txBody>
          <a:bodyPr/>
          <a:lstStyle/>
          <a:p>
            <a:endParaRPr lang="en-US"/>
          </a:p>
        </p:txBody>
      </p:sp>
      <p:cxnSp>
        <p:nvCxnSpPr>
          <p:cNvPr id="90" name="Straight Arrow Connector 89"/>
          <p:cNvCxnSpPr>
            <a:stCxn id="43" idx="3"/>
            <a:endCxn id="44" idx="1"/>
          </p:cNvCxnSpPr>
          <p:nvPr/>
        </p:nvCxnSpPr>
        <p:spPr>
          <a:xfrm>
            <a:off x="9148763" y="5172076"/>
            <a:ext cx="561975" cy="0"/>
          </a:xfrm>
          <a:prstGeom prst="straightConnector1">
            <a:avLst/>
          </a:prstGeom>
          <a:ln w="19050">
            <a:solidFill>
              <a:srgbClr val="3478B9"/>
            </a:solidFill>
            <a:prstDash val="solid"/>
            <a:tailEnd type="triangle" w="med" len="med"/>
          </a:ln>
        </p:spPr>
      </p:cxnSp>
    </p:spTree>
    <p:extLst>
      <p:ext uri="{BB962C8B-B14F-4D97-AF65-F5344CB8AC3E}">
        <p14:creationId xmlns:p14="http://schemas.microsoft.com/office/powerpoint/2010/main" val="244901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Environment Isolation Strategy</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Service Port Mapping &amp; Infrastructure Overview</a:t>
            </a:r>
            <a:endParaRPr lang="en-US" dirty="0"/>
          </a:p>
        </p:txBody>
      </p:sp>
      <p:sp>
        <p:nvSpPr>
          <p:cNvPr id="4" name="Shape 2"/>
          <p:cNvSpPr/>
          <p:nvPr/>
        </p:nvSpPr>
        <p:spPr>
          <a:xfrm>
            <a:off x="476250" y="1743075"/>
            <a:ext cx="11239500" cy="3667125"/>
          </a:xfrm>
          <a:prstGeom prst="roundRect">
            <a:avLst>
              <a:gd name="adj" fmla="val 2494"/>
            </a:avLst>
          </a:prstGeom>
          <a:solidFill>
            <a:srgbClr val="000000">
              <a:alpha val="0"/>
            </a:srgbClr>
          </a:solidFill>
          <a:ln>
            <a:miter lim="800000"/>
          </a:ln>
        </p:spPr>
        <p:txBody>
          <a:bodyPr/>
          <a:lstStyle/>
          <a:p>
            <a:endParaRPr lang="en-US"/>
          </a:p>
        </p:txBody>
      </p:sp>
      <p:pic>
        <p:nvPicPr>
          <p:cNvPr id="5" name="Image 0" descr="-70b66d1e.png"/>
          <p:cNvPicPr>
            <a:picLocks noChangeAspect="1"/>
          </p:cNvPicPr>
          <p:nvPr/>
        </p:nvPicPr>
        <p:blipFill>
          <a:blip r:embed="rId3"/>
          <a:stretch>
            <a:fillRect/>
          </a:stretch>
        </p:blipFill>
        <p:spPr>
          <a:xfrm>
            <a:off x="476250" y="1743075"/>
            <a:ext cx="11249025" cy="3676650"/>
          </a:xfrm>
          <a:prstGeom prst="rect">
            <a:avLst/>
          </a:prstGeom>
        </p:spPr>
      </p:pic>
      <p:pic>
        <p:nvPicPr>
          <p:cNvPr id="6" name="Image 1" descr="61650022.png"/>
          <p:cNvPicPr>
            <a:picLocks noChangeAspect="1"/>
          </p:cNvPicPr>
          <p:nvPr/>
        </p:nvPicPr>
        <p:blipFill>
          <a:blip r:embed="rId4"/>
          <a:stretch>
            <a:fillRect/>
          </a:stretch>
        </p:blipFill>
        <p:spPr>
          <a:xfrm>
            <a:off x="476250" y="1743075"/>
            <a:ext cx="11239500" cy="3667125"/>
          </a:xfrm>
          <a:prstGeom prst="rect">
            <a:avLst/>
          </a:prstGeom>
        </p:spPr>
      </p:pic>
      <p:sp>
        <p:nvSpPr>
          <p:cNvPr id="7" name="Text 3"/>
          <p:cNvSpPr/>
          <p:nvPr/>
        </p:nvSpPr>
        <p:spPr>
          <a:xfrm>
            <a:off x="476250" y="1743075"/>
            <a:ext cx="2829997" cy="916781"/>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Service</a:t>
            </a:r>
            <a:endParaRPr lang="en-US" dirty="0"/>
          </a:p>
        </p:txBody>
      </p:sp>
      <p:sp>
        <p:nvSpPr>
          <p:cNvPr id="8" name="Text 4"/>
          <p:cNvSpPr/>
          <p:nvPr/>
        </p:nvSpPr>
        <p:spPr>
          <a:xfrm>
            <a:off x="3306247" y="1743075"/>
            <a:ext cx="3038209" cy="916781"/>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Development</a:t>
            </a:r>
            <a:endParaRPr lang="en-US" dirty="0"/>
          </a:p>
        </p:txBody>
      </p:sp>
      <p:sp>
        <p:nvSpPr>
          <p:cNvPr id="9" name="Text 5"/>
          <p:cNvSpPr/>
          <p:nvPr/>
        </p:nvSpPr>
        <p:spPr>
          <a:xfrm>
            <a:off x="6344456" y="1743075"/>
            <a:ext cx="2186888" cy="916781"/>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Staging</a:t>
            </a:r>
            <a:endParaRPr lang="en-US" dirty="0"/>
          </a:p>
        </p:txBody>
      </p:sp>
      <p:sp>
        <p:nvSpPr>
          <p:cNvPr id="10" name="Text 6"/>
          <p:cNvSpPr/>
          <p:nvPr/>
        </p:nvSpPr>
        <p:spPr>
          <a:xfrm>
            <a:off x="8531344" y="1743075"/>
            <a:ext cx="3184406" cy="916781"/>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Production</a:t>
            </a:r>
            <a:endParaRPr lang="en-US" dirty="0"/>
          </a:p>
        </p:txBody>
      </p:sp>
      <p:sp>
        <p:nvSpPr>
          <p:cNvPr id="11" name="Text 7"/>
          <p:cNvSpPr/>
          <p:nvPr/>
        </p:nvSpPr>
        <p:spPr>
          <a:xfrm>
            <a:off x="476250" y="2659856"/>
            <a:ext cx="2829997"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Admin UI</a:t>
            </a:r>
            <a:endParaRPr lang="en-US" dirty="0"/>
          </a:p>
        </p:txBody>
      </p:sp>
      <p:sp>
        <p:nvSpPr>
          <p:cNvPr id="12" name="Text 8"/>
          <p:cNvSpPr/>
          <p:nvPr/>
        </p:nvSpPr>
        <p:spPr>
          <a:xfrm>
            <a:off x="3306247" y="2659856"/>
            <a:ext cx="3038209"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5173</a:t>
            </a:r>
            <a:endParaRPr lang="en-US" dirty="0"/>
          </a:p>
        </p:txBody>
      </p:sp>
      <p:sp>
        <p:nvSpPr>
          <p:cNvPr id="13" name="Text 9"/>
          <p:cNvSpPr/>
          <p:nvPr/>
        </p:nvSpPr>
        <p:spPr>
          <a:xfrm>
            <a:off x="6344456" y="2659856"/>
            <a:ext cx="2186888"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5174</a:t>
            </a:r>
            <a:endParaRPr lang="en-US" dirty="0"/>
          </a:p>
        </p:txBody>
      </p:sp>
      <p:sp>
        <p:nvSpPr>
          <p:cNvPr id="14" name="Text 10"/>
          <p:cNvSpPr/>
          <p:nvPr/>
        </p:nvSpPr>
        <p:spPr>
          <a:xfrm>
            <a:off x="8531344" y="2659856"/>
            <a:ext cx="3184406"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80 (Caddy)</a:t>
            </a:r>
            <a:endParaRPr lang="en-US" dirty="0"/>
          </a:p>
        </p:txBody>
      </p:sp>
      <p:sp>
        <p:nvSpPr>
          <p:cNvPr id="15" name="Text 11"/>
          <p:cNvSpPr/>
          <p:nvPr/>
        </p:nvSpPr>
        <p:spPr>
          <a:xfrm>
            <a:off x="476250" y="3347442"/>
            <a:ext cx="2829997"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Demo</a:t>
            </a:r>
            <a:endParaRPr lang="en-US" dirty="0"/>
          </a:p>
        </p:txBody>
      </p:sp>
      <p:sp>
        <p:nvSpPr>
          <p:cNvPr id="16" name="Text 12"/>
          <p:cNvSpPr/>
          <p:nvPr/>
        </p:nvSpPr>
        <p:spPr>
          <a:xfrm>
            <a:off x="3306247" y="3347442"/>
            <a:ext cx="3038209"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5175</a:t>
            </a:r>
            <a:endParaRPr lang="en-US" dirty="0"/>
          </a:p>
        </p:txBody>
      </p:sp>
      <p:sp>
        <p:nvSpPr>
          <p:cNvPr id="17" name="Text 13"/>
          <p:cNvSpPr/>
          <p:nvPr/>
        </p:nvSpPr>
        <p:spPr>
          <a:xfrm>
            <a:off x="6344456" y="3347442"/>
            <a:ext cx="2186888"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5176</a:t>
            </a:r>
            <a:endParaRPr lang="en-US" dirty="0"/>
          </a:p>
        </p:txBody>
      </p:sp>
      <p:sp>
        <p:nvSpPr>
          <p:cNvPr id="18" name="Text 14"/>
          <p:cNvSpPr/>
          <p:nvPr/>
        </p:nvSpPr>
        <p:spPr>
          <a:xfrm>
            <a:off x="8531344" y="3347442"/>
            <a:ext cx="3184406"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5175 (Direct)</a:t>
            </a:r>
            <a:endParaRPr lang="en-US" dirty="0"/>
          </a:p>
        </p:txBody>
      </p:sp>
      <p:sp>
        <p:nvSpPr>
          <p:cNvPr id="19" name="Text 15"/>
          <p:cNvSpPr/>
          <p:nvPr/>
        </p:nvSpPr>
        <p:spPr>
          <a:xfrm>
            <a:off x="476250" y="4035028"/>
            <a:ext cx="2829997"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FHIR Server</a:t>
            </a:r>
            <a:endParaRPr lang="en-US" dirty="0"/>
          </a:p>
        </p:txBody>
      </p:sp>
      <p:sp>
        <p:nvSpPr>
          <p:cNvPr id="20" name="Text 16"/>
          <p:cNvSpPr/>
          <p:nvPr/>
        </p:nvSpPr>
        <p:spPr>
          <a:xfrm>
            <a:off x="3306247" y="4035028"/>
            <a:ext cx="3038209"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8080</a:t>
            </a:r>
            <a:endParaRPr lang="en-US" dirty="0"/>
          </a:p>
        </p:txBody>
      </p:sp>
      <p:sp>
        <p:nvSpPr>
          <p:cNvPr id="21" name="Text 17"/>
          <p:cNvSpPr/>
          <p:nvPr/>
        </p:nvSpPr>
        <p:spPr>
          <a:xfrm>
            <a:off x="6344456" y="4035028"/>
            <a:ext cx="2186888"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8081</a:t>
            </a:r>
            <a:endParaRPr lang="en-US" dirty="0"/>
          </a:p>
        </p:txBody>
      </p:sp>
      <p:sp>
        <p:nvSpPr>
          <p:cNvPr id="22" name="Text 18"/>
          <p:cNvSpPr/>
          <p:nvPr/>
        </p:nvSpPr>
        <p:spPr>
          <a:xfrm>
            <a:off x="8531344" y="4035028"/>
            <a:ext cx="3184406"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Internal Only</a:t>
            </a:r>
            <a:endParaRPr lang="en-US" dirty="0"/>
          </a:p>
        </p:txBody>
      </p:sp>
      <p:sp>
        <p:nvSpPr>
          <p:cNvPr id="23" name="Text 19"/>
          <p:cNvSpPr/>
          <p:nvPr/>
        </p:nvSpPr>
        <p:spPr>
          <a:xfrm>
            <a:off x="476250" y="4722614"/>
            <a:ext cx="2829997"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MongoDB</a:t>
            </a:r>
            <a:endParaRPr lang="en-US" dirty="0"/>
          </a:p>
        </p:txBody>
      </p:sp>
      <p:sp>
        <p:nvSpPr>
          <p:cNvPr id="24" name="Text 20"/>
          <p:cNvSpPr/>
          <p:nvPr/>
        </p:nvSpPr>
        <p:spPr>
          <a:xfrm>
            <a:off x="3306247" y="4722614"/>
            <a:ext cx="3038209"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27017</a:t>
            </a:r>
            <a:endParaRPr lang="en-US" dirty="0"/>
          </a:p>
        </p:txBody>
      </p:sp>
      <p:sp>
        <p:nvSpPr>
          <p:cNvPr id="25" name="Text 21"/>
          <p:cNvSpPr/>
          <p:nvPr/>
        </p:nvSpPr>
        <p:spPr>
          <a:xfrm>
            <a:off x="6344456" y="4722614"/>
            <a:ext cx="2186888"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27018</a:t>
            </a:r>
            <a:endParaRPr lang="en-US" dirty="0"/>
          </a:p>
        </p:txBody>
      </p:sp>
      <p:sp>
        <p:nvSpPr>
          <p:cNvPr id="26" name="Text 22"/>
          <p:cNvSpPr/>
          <p:nvPr/>
        </p:nvSpPr>
        <p:spPr>
          <a:xfrm>
            <a:off x="8531344" y="4722614"/>
            <a:ext cx="3184406" cy="687586"/>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127.0.0.1:27017</a:t>
            </a:r>
            <a:endParaRPr lang="en-US" dirty="0"/>
          </a:p>
        </p:txBody>
      </p:sp>
      <p:sp>
        <p:nvSpPr>
          <p:cNvPr id="27" name="Shape 23"/>
          <p:cNvSpPr/>
          <p:nvPr/>
        </p:nvSpPr>
        <p:spPr>
          <a:xfrm>
            <a:off x="0" y="5886450"/>
            <a:ext cx="12192000" cy="971550"/>
          </a:xfrm>
          <a:prstGeom prst="rect">
            <a:avLst/>
          </a:prstGeom>
          <a:solidFill>
            <a:srgbClr val="222222"/>
          </a:solidFill>
          <a:ln>
            <a:miter lim="800000"/>
          </a:ln>
        </p:spPr>
        <p:txBody>
          <a:bodyPr/>
          <a:lstStyle/>
          <a:p>
            <a:endParaRPr lang="en-US"/>
          </a:p>
        </p:txBody>
      </p:sp>
      <p:sp>
        <p:nvSpPr>
          <p:cNvPr id="28" name="Text 24"/>
          <p:cNvSpPr/>
          <p:nvPr/>
        </p:nvSpPr>
        <p:spPr>
          <a:xfrm>
            <a:off x="1785938" y="6129040"/>
            <a:ext cx="8620125" cy="482798"/>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Production pulls GHCR images. Staging has a separate database and JWT secret.</a:t>
            </a:r>
            <a:br>
              <a:rPr lang="en-US" sz="1650" b="1" kern="0" spc="-99" dirty="0">
                <a:solidFill>
                  <a:srgbClr val="FFFFFF"/>
                </a:solidFill>
                <a:latin typeface="Arial" pitchFamily="34" charset="0"/>
                <a:ea typeface="Arial" pitchFamily="34" charset="-122"/>
                <a:cs typeface="Arial" pitchFamily="34" charset="-120"/>
              </a:rPr>
            </a:br>
            <a:r>
              <a:rPr lang="en-US" sz="1650" b="1" kern="0" spc="-99" dirty="0">
                <a:solidFill>
                  <a:srgbClr val="FFFFFF"/>
                </a:solidFill>
                <a:latin typeface="Arial" pitchFamily="34" charset="0"/>
                <a:ea typeface="Arial" pitchFamily="34" charset="-122"/>
                <a:cs typeface="Arial" pitchFamily="34" charset="-120"/>
              </a:rPr>
              <a:t>Compose !override replaces port and volume lists rather than merging them.</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Deployment and Configuration Modes</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Overview of installer modes and essential configuration parameters</a:t>
            </a:r>
            <a:endParaRPr lang="en-US" dirty="0"/>
          </a:p>
        </p:txBody>
      </p:sp>
      <p:sp>
        <p:nvSpPr>
          <p:cNvPr id="4" name="Shape 2"/>
          <p:cNvSpPr/>
          <p:nvPr/>
        </p:nvSpPr>
        <p:spPr>
          <a:xfrm>
            <a:off x="476250" y="2100263"/>
            <a:ext cx="2667000" cy="1552575"/>
          </a:xfrm>
          <a:prstGeom prst="roundRect">
            <a:avLst>
              <a:gd name="adj" fmla="val 5890"/>
            </a:avLst>
          </a:prstGeom>
          <a:solidFill>
            <a:srgbClr val="0F8B8D">
              <a:alpha val="30000"/>
            </a:srgbClr>
          </a:solidFill>
          <a:ln>
            <a:miter lim="800000"/>
          </a:ln>
        </p:spPr>
        <p:txBody>
          <a:bodyPr/>
          <a:lstStyle/>
          <a:p>
            <a:endParaRPr lang="en-US"/>
          </a:p>
        </p:txBody>
      </p:sp>
      <p:sp>
        <p:nvSpPr>
          <p:cNvPr id="5" name="Text 3"/>
          <p:cNvSpPr/>
          <p:nvPr/>
        </p:nvSpPr>
        <p:spPr>
          <a:xfrm>
            <a:off x="762000" y="2607171"/>
            <a:ext cx="2381250" cy="228154"/>
          </a:xfrm>
          <a:prstGeom prst="rect">
            <a:avLst/>
          </a:prstGeom>
          <a:noFill/>
          <a:ln>
            <a:miter lim="800000"/>
          </a:ln>
        </p:spPr>
        <p:txBody>
          <a:bodyPr wrap="square" lIns="0" tIns="0" rIns="0" bIns="0" rtlCol="0" anchor="t"/>
          <a:lstStyle/>
          <a:p>
            <a:pPr algn="l" fontAlgn="ctr">
              <a:lnSpc>
                <a:spcPts val="1797"/>
              </a:lnSpc>
            </a:pPr>
            <a:r>
              <a:rPr lang="en-US" sz="1560" b="1" kern="0" spc="-94" dirty="0">
                <a:solidFill>
                  <a:srgbClr val="333333"/>
                </a:solidFill>
                <a:latin typeface="Arial" pitchFamily="34" charset="0"/>
                <a:ea typeface="Arial" pitchFamily="34" charset="-122"/>
                <a:cs typeface="Arial" pitchFamily="34" charset="-120"/>
              </a:rPr>
              <a:t>All-in-One</a:t>
            </a:r>
            <a:endParaRPr lang="en-US" dirty="0"/>
          </a:p>
        </p:txBody>
      </p:sp>
      <p:sp>
        <p:nvSpPr>
          <p:cNvPr id="6" name="Text 4"/>
          <p:cNvSpPr/>
          <p:nvPr/>
        </p:nvSpPr>
        <p:spPr>
          <a:xfrm>
            <a:off x="762000" y="2895005"/>
            <a:ext cx="2381399" cy="416719"/>
          </a:xfrm>
          <a:prstGeom prst="rect">
            <a:avLst/>
          </a:prstGeom>
          <a:noFill/>
          <a:ln>
            <a:miter lim="800000"/>
          </a:ln>
        </p:spPr>
        <p:txBody>
          <a:bodyPr wrap="square" lIns="0" tIns="0" rIns="0" bIns="0" rtlCol="0" anchor="t"/>
          <a:lstStyle/>
          <a:p>
            <a:pPr algn="l" fontAlgn="ctr">
              <a:lnSpc>
                <a:spcPts val="1642"/>
              </a:lnSpc>
              <a:spcBef>
                <a:spcPts val="461"/>
              </a:spcBef>
            </a:pPr>
            <a:r>
              <a:rPr lang="en-US" sz="1200" kern="0" spc="-24" dirty="0">
                <a:solidFill>
                  <a:srgbClr val="000000">
                    <a:alpha val="55000"/>
                  </a:srgbClr>
                </a:solidFill>
                <a:latin typeface="Arial" pitchFamily="34" charset="0"/>
                <a:ea typeface="Arial" pitchFamily="34" charset="-122"/>
                <a:cs typeface="Arial" pitchFamily="34" charset="-120"/>
              </a:rPr>
              <a:t>Server and client components</a:t>
            </a:r>
            <a:br>
              <a:rPr lang="en-US" sz="1200" kern="0" spc="-24" dirty="0">
                <a:solidFill>
                  <a:srgbClr val="000000">
                    <a:alpha val="55000"/>
                  </a:srgbClr>
                </a:solidFill>
                <a:latin typeface="Arial" pitchFamily="34" charset="0"/>
                <a:ea typeface="Arial" pitchFamily="34" charset="-122"/>
                <a:cs typeface="Arial" pitchFamily="34" charset="-120"/>
              </a:rPr>
            </a:br>
            <a:r>
              <a:rPr lang="en-US" sz="1200" kern="0" spc="-24" dirty="0">
                <a:solidFill>
                  <a:srgbClr val="000000">
                    <a:alpha val="55000"/>
                  </a:srgbClr>
                </a:solidFill>
                <a:latin typeface="Arial" pitchFamily="34" charset="0"/>
                <a:ea typeface="Arial" pitchFamily="34" charset="-122"/>
                <a:cs typeface="Arial" pitchFamily="34" charset="-120"/>
              </a:rPr>
              <a:t>deployed on a single machine.</a:t>
            </a:r>
            <a:endParaRPr lang="en-US" dirty="0"/>
          </a:p>
        </p:txBody>
      </p:sp>
      <p:sp>
        <p:nvSpPr>
          <p:cNvPr id="7" name="Shape 5"/>
          <p:cNvSpPr/>
          <p:nvPr/>
        </p:nvSpPr>
        <p:spPr>
          <a:xfrm>
            <a:off x="1452563" y="1743075"/>
            <a:ext cx="714375" cy="714375"/>
          </a:xfrm>
          <a:prstGeom prst="ellipse">
            <a:avLst/>
          </a:prstGeom>
          <a:solidFill>
            <a:srgbClr val="FFFFFF"/>
          </a:solidFill>
          <a:ln w="38100">
            <a:solidFill>
              <a:srgbClr val="0A5E5F"/>
            </a:solidFill>
            <a:prstDash val="solid"/>
            <a:miter lim="800000"/>
          </a:ln>
        </p:spPr>
        <p:txBody>
          <a:bodyPr/>
          <a:lstStyle/>
          <a:p>
            <a:endParaRPr lang="en-US"/>
          </a:p>
        </p:txBody>
      </p:sp>
      <p:pic>
        <p:nvPicPr>
          <p:cNvPr id="8" name="Image 0" descr="-523a5ede.png"/>
          <p:cNvPicPr>
            <a:picLocks noChangeAspect="1"/>
          </p:cNvPicPr>
          <p:nvPr/>
        </p:nvPicPr>
        <p:blipFill>
          <a:blip r:embed="rId3"/>
          <a:stretch>
            <a:fillRect/>
          </a:stretch>
        </p:blipFill>
        <p:spPr>
          <a:xfrm>
            <a:off x="1679991" y="1957943"/>
            <a:ext cx="257175" cy="285750"/>
          </a:xfrm>
          <a:prstGeom prst="rect">
            <a:avLst/>
          </a:prstGeom>
        </p:spPr>
      </p:pic>
      <p:sp>
        <p:nvSpPr>
          <p:cNvPr id="9" name="Shape 6"/>
          <p:cNvSpPr/>
          <p:nvPr/>
        </p:nvSpPr>
        <p:spPr>
          <a:xfrm>
            <a:off x="3333750" y="2100263"/>
            <a:ext cx="2667000" cy="1552575"/>
          </a:xfrm>
          <a:prstGeom prst="roundRect">
            <a:avLst>
              <a:gd name="adj" fmla="val 5890"/>
            </a:avLst>
          </a:prstGeom>
          <a:solidFill>
            <a:srgbClr val="3478B9">
              <a:alpha val="30000"/>
            </a:srgbClr>
          </a:solidFill>
          <a:ln>
            <a:miter lim="800000"/>
          </a:ln>
        </p:spPr>
        <p:txBody>
          <a:bodyPr/>
          <a:lstStyle/>
          <a:p>
            <a:endParaRPr lang="en-US"/>
          </a:p>
        </p:txBody>
      </p:sp>
      <p:sp>
        <p:nvSpPr>
          <p:cNvPr id="10" name="Text 7"/>
          <p:cNvSpPr/>
          <p:nvPr/>
        </p:nvSpPr>
        <p:spPr>
          <a:xfrm>
            <a:off x="3619500" y="2607171"/>
            <a:ext cx="2381250" cy="228154"/>
          </a:xfrm>
          <a:prstGeom prst="rect">
            <a:avLst/>
          </a:prstGeom>
          <a:noFill/>
          <a:ln>
            <a:miter lim="800000"/>
          </a:ln>
        </p:spPr>
        <p:txBody>
          <a:bodyPr wrap="square" lIns="0" tIns="0" rIns="0" bIns="0" rtlCol="0" anchor="t"/>
          <a:lstStyle/>
          <a:p>
            <a:pPr algn="l" fontAlgn="ctr">
              <a:lnSpc>
                <a:spcPts val="1797"/>
              </a:lnSpc>
            </a:pPr>
            <a:r>
              <a:rPr lang="en-US" sz="1560" b="1" kern="0" spc="-94" dirty="0">
                <a:solidFill>
                  <a:srgbClr val="333333"/>
                </a:solidFill>
                <a:latin typeface="Arial" pitchFamily="34" charset="0"/>
                <a:ea typeface="Arial" pitchFamily="34" charset="-122"/>
                <a:cs typeface="Arial" pitchFamily="34" charset="-120"/>
              </a:rPr>
              <a:t>Server-Only</a:t>
            </a:r>
            <a:endParaRPr lang="en-US" dirty="0"/>
          </a:p>
        </p:txBody>
      </p:sp>
      <p:sp>
        <p:nvSpPr>
          <p:cNvPr id="11" name="Text 8"/>
          <p:cNvSpPr/>
          <p:nvPr/>
        </p:nvSpPr>
        <p:spPr>
          <a:xfrm>
            <a:off x="3619500" y="2895005"/>
            <a:ext cx="2381250" cy="416719"/>
          </a:xfrm>
          <a:prstGeom prst="rect">
            <a:avLst/>
          </a:prstGeom>
          <a:noFill/>
          <a:ln>
            <a:miter lim="800000"/>
          </a:ln>
        </p:spPr>
        <p:txBody>
          <a:bodyPr wrap="square" lIns="0" tIns="0" rIns="0" bIns="0" rtlCol="0" anchor="t"/>
          <a:lstStyle/>
          <a:p>
            <a:pPr algn="l" fontAlgn="ctr">
              <a:lnSpc>
                <a:spcPts val="1642"/>
              </a:lnSpc>
              <a:spcBef>
                <a:spcPts val="461"/>
              </a:spcBef>
            </a:pPr>
            <a:r>
              <a:rPr lang="en-US" sz="1200" kern="0" spc="-24" dirty="0">
                <a:solidFill>
                  <a:srgbClr val="000000">
                    <a:alpha val="55000"/>
                  </a:srgbClr>
                </a:solidFill>
                <a:latin typeface="Arial" pitchFamily="34" charset="0"/>
                <a:ea typeface="Arial" pitchFamily="34" charset="-122"/>
                <a:cs typeface="Arial" pitchFamily="34" charset="-120"/>
              </a:rPr>
              <a:t>Centralized backend services</a:t>
            </a:r>
            <a:br>
              <a:rPr lang="en-US" sz="1200" kern="0" spc="-24" dirty="0">
                <a:solidFill>
                  <a:srgbClr val="000000">
                    <a:alpha val="55000"/>
                  </a:srgbClr>
                </a:solidFill>
                <a:latin typeface="Arial" pitchFamily="34" charset="0"/>
                <a:ea typeface="Arial" pitchFamily="34" charset="-122"/>
                <a:cs typeface="Arial" pitchFamily="34" charset="-120"/>
              </a:rPr>
            </a:br>
            <a:r>
              <a:rPr lang="en-US" sz="1200" kern="0" spc="-24" dirty="0">
                <a:solidFill>
                  <a:srgbClr val="000000">
                    <a:alpha val="55000"/>
                  </a:srgbClr>
                </a:solidFill>
                <a:latin typeface="Arial" pitchFamily="34" charset="0"/>
                <a:ea typeface="Arial" pitchFamily="34" charset="-122"/>
                <a:cs typeface="Arial" pitchFamily="34" charset="-120"/>
              </a:rPr>
              <a:t>and MongoDB instance.</a:t>
            </a:r>
            <a:endParaRPr lang="en-US" dirty="0"/>
          </a:p>
        </p:txBody>
      </p:sp>
      <p:sp>
        <p:nvSpPr>
          <p:cNvPr id="12" name="Shape 9"/>
          <p:cNvSpPr/>
          <p:nvPr/>
        </p:nvSpPr>
        <p:spPr>
          <a:xfrm>
            <a:off x="4310063" y="1743075"/>
            <a:ext cx="714375" cy="714375"/>
          </a:xfrm>
          <a:prstGeom prst="ellipse">
            <a:avLst/>
          </a:prstGeom>
          <a:solidFill>
            <a:srgbClr val="FFFFFF"/>
          </a:solidFill>
          <a:ln w="38100">
            <a:solidFill>
              <a:srgbClr val="295E91"/>
            </a:solidFill>
            <a:prstDash val="solid"/>
            <a:miter lim="800000"/>
          </a:ln>
        </p:spPr>
        <p:txBody>
          <a:bodyPr/>
          <a:lstStyle/>
          <a:p>
            <a:endParaRPr lang="en-US"/>
          </a:p>
        </p:txBody>
      </p:sp>
      <p:pic>
        <p:nvPicPr>
          <p:cNvPr id="13" name="Image 1" descr="0085fa22.png"/>
          <p:cNvPicPr>
            <a:picLocks noChangeAspect="1"/>
          </p:cNvPicPr>
          <p:nvPr/>
        </p:nvPicPr>
        <p:blipFill>
          <a:blip r:embed="rId4"/>
          <a:stretch>
            <a:fillRect/>
          </a:stretch>
        </p:blipFill>
        <p:spPr>
          <a:xfrm>
            <a:off x="4512376" y="1966316"/>
            <a:ext cx="304800" cy="276225"/>
          </a:xfrm>
          <a:prstGeom prst="rect">
            <a:avLst/>
          </a:prstGeom>
        </p:spPr>
      </p:pic>
      <p:sp>
        <p:nvSpPr>
          <p:cNvPr id="14" name="Shape 10"/>
          <p:cNvSpPr/>
          <p:nvPr/>
        </p:nvSpPr>
        <p:spPr>
          <a:xfrm>
            <a:off x="6191250" y="2100263"/>
            <a:ext cx="2667000" cy="1552575"/>
          </a:xfrm>
          <a:prstGeom prst="roundRect">
            <a:avLst>
              <a:gd name="adj" fmla="val 5890"/>
            </a:avLst>
          </a:prstGeom>
          <a:solidFill>
            <a:srgbClr val="E8EFF5">
              <a:alpha val="30000"/>
            </a:srgbClr>
          </a:solidFill>
          <a:ln>
            <a:miter lim="800000"/>
          </a:ln>
        </p:spPr>
        <p:txBody>
          <a:bodyPr/>
          <a:lstStyle/>
          <a:p>
            <a:endParaRPr lang="en-US"/>
          </a:p>
        </p:txBody>
      </p:sp>
      <p:sp>
        <p:nvSpPr>
          <p:cNvPr id="15" name="Text 11"/>
          <p:cNvSpPr/>
          <p:nvPr/>
        </p:nvSpPr>
        <p:spPr>
          <a:xfrm>
            <a:off x="6477000" y="2607171"/>
            <a:ext cx="2381250" cy="228154"/>
          </a:xfrm>
          <a:prstGeom prst="rect">
            <a:avLst/>
          </a:prstGeom>
          <a:noFill/>
          <a:ln>
            <a:miter lim="800000"/>
          </a:ln>
        </p:spPr>
        <p:txBody>
          <a:bodyPr wrap="square" lIns="0" tIns="0" rIns="0" bIns="0" rtlCol="0" anchor="t"/>
          <a:lstStyle/>
          <a:p>
            <a:pPr algn="l" fontAlgn="ctr">
              <a:lnSpc>
                <a:spcPts val="1797"/>
              </a:lnSpc>
            </a:pPr>
            <a:r>
              <a:rPr lang="en-US" sz="1560" b="1" kern="0" spc="-94" dirty="0">
                <a:solidFill>
                  <a:srgbClr val="333333"/>
                </a:solidFill>
                <a:latin typeface="Arial" pitchFamily="34" charset="0"/>
                <a:ea typeface="Arial" pitchFamily="34" charset="-122"/>
                <a:cs typeface="Arial" pitchFamily="34" charset="-120"/>
              </a:rPr>
              <a:t>Client-Only</a:t>
            </a:r>
            <a:endParaRPr lang="en-US" dirty="0"/>
          </a:p>
        </p:txBody>
      </p:sp>
      <p:sp>
        <p:nvSpPr>
          <p:cNvPr id="16" name="Text 12"/>
          <p:cNvSpPr/>
          <p:nvPr/>
        </p:nvSpPr>
        <p:spPr>
          <a:xfrm>
            <a:off x="6477000" y="2895005"/>
            <a:ext cx="2487513" cy="416719"/>
          </a:xfrm>
          <a:prstGeom prst="rect">
            <a:avLst/>
          </a:prstGeom>
          <a:noFill/>
          <a:ln>
            <a:miter lim="800000"/>
          </a:ln>
        </p:spPr>
        <p:txBody>
          <a:bodyPr wrap="square" lIns="0" tIns="0" rIns="0" bIns="0" rtlCol="0" anchor="t"/>
          <a:lstStyle/>
          <a:p>
            <a:pPr algn="l" fontAlgn="ctr">
              <a:lnSpc>
                <a:spcPts val="1642"/>
              </a:lnSpc>
              <a:spcBef>
                <a:spcPts val="461"/>
              </a:spcBef>
            </a:pPr>
            <a:r>
              <a:rPr lang="en-US" sz="1200" kern="0" spc="-24" dirty="0">
                <a:solidFill>
                  <a:srgbClr val="000000">
                    <a:alpha val="55000"/>
                  </a:srgbClr>
                </a:solidFill>
                <a:latin typeface="Arial" pitchFamily="34" charset="0"/>
                <a:ea typeface="Arial" pitchFamily="34" charset="-122"/>
                <a:cs typeface="Arial" pitchFamily="34" charset="-120"/>
              </a:rPr>
              <a:t>Admin UI configured to connect</a:t>
            </a:r>
            <a:br>
              <a:rPr lang="en-US" sz="1200" kern="0" spc="-24" dirty="0">
                <a:solidFill>
                  <a:srgbClr val="000000">
                    <a:alpha val="55000"/>
                  </a:srgbClr>
                </a:solidFill>
                <a:latin typeface="Arial" pitchFamily="34" charset="0"/>
                <a:ea typeface="Arial" pitchFamily="34" charset="-122"/>
                <a:cs typeface="Arial" pitchFamily="34" charset="-120"/>
              </a:rPr>
            </a:br>
            <a:r>
              <a:rPr lang="en-US" sz="1200" kern="0" spc="-24" dirty="0">
                <a:solidFill>
                  <a:srgbClr val="000000">
                    <a:alpha val="55000"/>
                  </a:srgbClr>
                </a:solidFill>
                <a:latin typeface="Arial" pitchFamily="34" charset="0"/>
                <a:ea typeface="Arial" pitchFamily="34" charset="-122"/>
                <a:cs typeface="Arial" pitchFamily="34" charset="-120"/>
              </a:rPr>
              <a:t>to a remote server backend.</a:t>
            </a:r>
            <a:endParaRPr lang="en-US" dirty="0"/>
          </a:p>
        </p:txBody>
      </p:sp>
      <p:sp>
        <p:nvSpPr>
          <p:cNvPr id="17" name="Shape 13"/>
          <p:cNvSpPr/>
          <p:nvPr/>
        </p:nvSpPr>
        <p:spPr>
          <a:xfrm>
            <a:off x="7167563" y="1743075"/>
            <a:ext cx="714375" cy="714375"/>
          </a:xfrm>
          <a:prstGeom prst="ellipse">
            <a:avLst/>
          </a:prstGeom>
          <a:solidFill>
            <a:srgbClr val="FFFFFF"/>
          </a:solidFill>
          <a:ln w="38100">
            <a:solidFill>
              <a:srgbClr val="C4D6E6"/>
            </a:solidFill>
            <a:prstDash val="solid"/>
            <a:miter lim="800000"/>
          </a:ln>
        </p:spPr>
        <p:txBody>
          <a:bodyPr/>
          <a:lstStyle/>
          <a:p>
            <a:endParaRPr lang="en-US"/>
          </a:p>
        </p:txBody>
      </p:sp>
      <p:pic>
        <p:nvPicPr>
          <p:cNvPr id="18" name="Image 2" descr="-6273375e.png"/>
          <p:cNvPicPr>
            <a:picLocks noChangeAspect="1"/>
          </p:cNvPicPr>
          <p:nvPr/>
        </p:nvPicPr>
        <p:blipFill>
          <a:blip r:embed="rId5"/>
          <a:stretch>
            <a:fillRect/>
          </a:stretch>
        </p:blipFill>
        <p:spPr>
          <a:xfrm>
            <a:off x="7382434" y="1953756"/>
            <a:ext cx="295275" cy="295275"/>
          </a:xfrm>
          <a:prstGeom prst="rect">
            <a:avLst/>
          </a:prstGeom>
        </p:spPr>
      </p:pic>
      <p:sp>
        <p:nvSpPr>
          <p:cNvPr id="19" name="Shape 14"/>
          <p:cNvSpPr/>
          <p:nvPr/>
        </p:nvSpPr>
        <p:spPr>
          <a:xfrm>
            <a:off x="9048750" y="2100263"/>
            <a:ext cx="2667000" cy="1552575"/>
          </a:xfrm>
          <a:prstGeom prst="roundRect">
            <a:avLst>
              <a:gd name="adj" fmla="val 5890"/>
            </a:avLst>
          </a:prstGeom>
          <a:solidFill>
            <a:srgbClr val="FF8000">
              <a:alpha val="30000"/>
            </a:srgbClr>
          </a:solidFill>
          <a:ln>
            <a:miter lim="800000"/>
          </a:ln>
        </p:spPr>
        <p:txBody>
          <a:bodyPr/>
          <a:lstStyle/>
          <a:p>
            <a:endParaRPr lang="en-US"/>
          </a:p>
        </p:txBody>
      </p:sp>
      <p:sp>
        <p:nvSpPr>
          <p:cNvPr id="20" name="Text 15"/>
          <p:cNvSpPr/>
          <p:nvPr/>
        </p:nvSpPr>
        <p:spPr>
          <a:xfrm>
            <a:off x="9334500" y="2607171"/>
            <a:ext cx="2381250" cy="228154"/>
          </a:xfrm>
          <a:prstGeom prst="rect">
            <a:avLst/>
          </a:prstGeom>
          <a:noFill/>
          <a:ln>
            <a:miter lim="800000"/>
          </a:ln>
        </p:spPr>
        <p:txBody>
          <a:bodyPr wrap="square" lIns="0" tIns="0" rIns="0" bIns="0" rtlCol="0" anchor="t"/>
          <a:lstStyle/>
          <a:p>
            <a:pPr algn="l" fontAlgn="ctr">
              <a:lnSpc>
                <a:spcPts val="1797"/>
              </a:lnSpc>
            </a:pPr>
            <a:r>
              <a:rPr lang="en-US" sz="1560" b="1" kern="0" spc="-94" dirty="0">
                <a:solidFill>
                  <a:srgbClr val="333333"/>
                </a:solidFill>
                <a:latin typeface="Arial" pitchFamily="34" charset="0"/>
                <a:ea typeface="Arial" pitchFamily="34" charset="-122"/>
                <a:cs typeface="Arial" pitchFamily="34" charset="-120"/>
              </a:rPr>
              <a:t>Distributed</a:t>
            </a:r>
            <a:endParaRPr lang="en-US" dirty="0"/>
          </a:p>
        </p:txBody>
      </p:sp>
      <p:sp>
        <p:nvSpPr>
          <p:cNvPr id="21" name="Text 16"/>
          <p:cNvSpPr/>
          <p:nvPr/>
        </p:nvSpPr>
        <p:spPr>
          <a:xfrm>
            <a:off x="9334500" y="2895005"/>
            <a:ext cx="2381250" cy="416719"/>
          </a:xfrm>
          <a:prstGeom prst="rect">
            <a:avLst/>
          </a:prstGeom>
          <a:noFill/>
          <a:ln>
            <a:miter lim="800000"/>
          </a:ln>
        </p:spPr>
        <p:txBody>
          <a:bodyPr wrap="square" lIns="0" tIns="0" rIns="0" bIns="0" rtlCol="0" anchor="t"/>
          <a:lstStyle/>
          <a:p>
            <a:pPr algn="l" fontAlgn="ctr">
              <a:lnSpc>
                <a:spcPts val="1642"/>
              </a:lnSpc>
              <a:spcBef>
                <a:spcPts val="461"/>
              </a:spcBef>
            </a:pPr>
            <a:r>
              <a:rPr lang="en-US" sz="1200" kern="0" spc="-24" dirty="0">
                <a:solidFill>
                  <a:srgbClr val="000000">
                    <a:alpha val="55000"/>
                  </a:srgbClr>
                </a:solidFill>
                <a:latin typeface="Arial" pitchFamily="34" charset="0"/>
                <a:ea typeface="Arial" pitchFamily="34" charset="-122"/>
                <a:cs typeface="Arial" pitchFamily="34" charset="-120"/>
              </a:rPr>
              <a:t>Decoupled server and client</a:t>
            </a:r>
            <a:br>
              <a:rPr lang="en-US" sz="1200" kern="0" spc="-24" dirty="0">
                <a:solidFill>
                  <a:srgbClr val="000000">
                    <a:alpha val="55000"/>
                  </a:srgbClr>
                </a:solidFill>
                <a:latin typeface="Arial" pitchFamily="34" charset="0"/>
                <a:ea typeface="Arial" pitchFamily="34" charset="-122"/>
                <a:cs typeface="Arial" pitchFamily="34" charset="-120"/>
              </a:rPr>
            </a:br>
            <a:r>
              <a:rPr lang="en-US" sz="1200" kern="0" spc="-24" dirty="0">
                <a:solidFill>
                  <a:srgbClr val="000000">
                    <a:alpha val="55000"/>
                  </a:srgbClr>
                </a:solidFill>
                <a:latin typeface="Arial" pitchFamily="34" charset="0"/>
                <a:ea typeface="Arial" pitchFamily="34" charset="-122"/>
                <a:cs typeface="Arial" pitchFamily="34" charset="-120"/>
              </a:rPr>
              <a:t>instances on separate hosts.</a:t>
            </a:r>
            <a:endParaRPr lang="en-US" dirty="0"/>
          </a:p>
        </p:txBody>
      </p:sp>
      <p:sp>
        <p:nvSpPr>
          <p:cNvPr id="22" name="Shape 17"/>
          <p:cNvSpPr/>
          <p:nvPr/>
        </p:nvSpPr>
        <p:spPr>
          <a:xfrm>
            <a:off x="10025063" y="1743075"/>
            <a:ext cx="714375" cy="714375"/>
          </a:xfrm>
          <a:prstGeom prst="ellipse">
            <a:avLst/>
          </a:prstGeom>
          <a:solidFill>
            <a:srgbClr val="FFFFFF"/>
          </a:solidFill>
          <a:ln w="38100">
            <a:solidFill>
              <a:srgbClr val="CC6600"/>
            </a:solidFill>
            <a:prstDash val="solid"/>
            <a:miter lim="800000"/>
          </a:ln>
        </p:spPr>
        <p:txBody>
          <a:bodyPr/>
          <a:lstStyle/>
          <a:p>
            <a:endParaRPr lang="en-US"/>
          </a:p>
        </p:txBody>
      </p:sp>
      <p:pic>
        <p:nvPicPr>
          <p:cNvPr id="23" name="Image 3" descr="-5401e8de.png"/>
          <p:cNvPicPr>
            <a:picLocks noChangeAspect="1"/>
          </p:cNvPicPr>
          <p:nvPr/>
        </p:nvPicPr>
        <p:blipFill>
          <a:blip r:embed="rId6"/>
          <a:stretch>
            <a:fillRect/>
          </a:stretch>
        </p:blipFill>
        <p:spPr>
          <a:xfrm>
            <a:off x="10239930" y="1937018"/>
            <a:ext cx="285750" cy="323850"/>
          </a:xfrm>
          <a:prstGeom prst="rect">
            <a:avLst/>
          </a:prstGeom>
        </p:spPr>
      </p:pic>
      <p:sp>
        <p:nvSpPr>
          <p:cNvPr id="24" name="Shape 18"/>
          <p:cNvSpPr/>
          <p:nvPr/>
        </p:nvSpPr>
        <p:spPr>
          <a:xfrm>
            <a:off x="476250" y="4105275"/>
            <a:ext cx="3619500" cy="1552575"/>
          </a:xfrm>
          <a:prstGeom prst="roundRect">
            <a:avLst>
              <a:gd name="adj" fmla="val 5890"/>
            </a:avLst>
          </a:prstGeom>
          <a:solidFill>
            <a:srgbClr val="FF797A">
              <a:alpha val="30000"/>
            </a:srgbClr>
          </a:solidFill>
          <a:ln>
            <a:miter lim="800000"/>
          </a:ln>
        </p:spPr>
        <p:txBody>
          <a:bodyPr/>
          <a:lstStyle/>
          <a:p>
            <a:endParaRPr lang="en-US"/>
          </a:p>
        </p:txBody>
      </p:sp>
      <p:sp>
        <p:nvSpPr>
          <p:cNvPr id="25" name="Text 19"/>
          <p:cNvSpPr/>
          <p:nvPr/>
        </p:nvSpPr>
        <p:spPr>
          <a:xfrm>
            <a:off x="762000" y="4612184"/>
            <a:ext cx="3333750" cy="228154"/>
          </a:xfrm>
          <a:prstGeom prst="rect">
            <a:avLst/>
          </a:prstGeom>
          <a:noFill/>
          <a:ln>
            <a:miter lim="800000"/>
          </a:ln>
        </p:spPr>
        <p:txBody>
          <a:bodyPr wrap="square" lIns="0" tIns="0" rIns="0" bIns="0" rtlCol="0" anchor="t"/>
          <a:lstStyle/>
          <a:p>
            <a:pPr algn="l" fontAlgn="ctr">
              <a:lnSpc>
                <a:spcPts val="1797"/>
              </a:lnSpc>
            </a:pPr>
            <a:r>
              <a:rPr lang="en-US" sz="1560" b="1" kern="0" spc="-94" dirty="0">
                <a:solidFill>
                  <a:srgbClr val="333333"/>
                </a:solidFill>
                <a:latin typeface="Arial" pitchFamily="34" charset="0"/>
                <a:ea typeface="Arial" pitchFamily="34" charset="-122"/>
                <a:cs typeface="Arial" pitchFamily="34" charset="-120"/>
              </a:rPr>
              <a:t>Security Configuration</a:t>
            </a:r>
            <a:endParaRPr lang="en-US" dirty="0"/>
          </a:p>
        </p:txBody>
      </p:sp>
      <p:sp>
        <p:nvSpPr>
          <p:cNvPr id="26" name="Text 20"/>
          <p:cNvSpPr/>
          <p:nvPr/>
        </p:nvSpPr>
        <p:spPr>
          <a:xfrm>
            <a:off x="762000" y="4900017"/>
            <a:ext cx="3333750" cy="416719"/>
          </a:xfrm>
          <a:prstGeom prst="rect">
            <a:avLst/>
          </a:prstGeom>
          <a:noFill/>
          <a:ln>
            <a:miter lim="800000"/>
          </a:ln>
        </p:spPr>
        <p:txBody>
          <a:bodyPr wrap="square" lIns="0" tIns="0" rIns="0" bIns="0" rtlCol="0" anchor="t"/>
          <a:lstStyle/>
          <a:p>
            <a:pPr algn="l" fontAlgn="ctr">
              <a:lnSpc>
                <a:spcPts val="1642"/>
              </a:lnSpc>
              <a:spcBef>
                <a:spcPts val="461"/>
              </a:spcBef>
            </a:pPr>
            <a:r>
              <a:rPr lang="en-US" sz="1200" kern="0" spc="-24" dirty="0">
                <a:solidFill>
                  <a:srgbClr val="000000">
                    <a:alpha val="55000"/>
                  </a:srgbClr>
                </a:solidFill>
                <a:latin typeface="Arial" pitchFamily="34" charset="0"/>
                <a:ea typeface="Arial" pitchFamily="34" charset="-122"/>
                <a:cs typeface="Arial" pitchFamily="34" charset="-120"/>
              </a:rPr>
              <a:t>Critical settings including JWT secrets,</a:t>
            </a:r>
            <a:br>
              <a:rPr lang="en-US" sz="1200" kern="0" spc="-24" dirty="0">
                <a:solidFill>
                  <a:srgbClr val="000000">
                    <a:alpha val="55000"/>
                  </a:srgbClr>
                </a:solidFill>
                <a:latin typeface="Arial" pitchFamily="34" charset="0"/>
                <a:ea typeface="Arial" pitchFamily="34" charset="-122"/>
                <a:cs typeface="Arial" pitchFamily="34" charset="-120"/>
              </a:rPr>
            </a:br>
            <a:r>
              <a:rPr lang="en-US" sz="1200" kern="0" spc="-24" dirty="0">
                <a:solidFill>
                  <a:srgbClr val="000000">
                    <a:alpha val="55000"/>
                  </a:srgbClr>
                </a:solidFill>
                <a:latin typeface="Arial" pitchFamily="34" charset="0"/>
                <a:ea typeface="Arial" pitchFamily="34" charset="-122"/>
                <a:cs typeface="Arial" pitchFamily="34" charset="-120"/>
              </a:rPr>
              <a:t>expiration, and CORS origins.</a:t>
            </a:r>
            <a:endParaRPr lang="en-US" dirty="0"/>
          </a:p>
        </p:txBody>
      </p:sp>
      <p:sp>
        <p:nvSpPr>
          <p:cNvPr id="27" name="Shape 21"/>
          <p:cNvSpPr/>
          <p:nvPr/>
        </p:nvSpPr>
        <p:spPr>
          <a:xfrm>
            <a:off x="1928813" y="3748088"/>
            <a:ext cx="714375" cy="714375"/>
          </a:xfrm>
          <a:prstGeom prst="ellipse">
            <a:avLst/>
          </a:prstGeom>
          <a:solidFill>
            <a:srgbClr val="FFFFFF"/>
          </a:solidFill>
          <a:ln w="38100">
            <a:solidFill>
              <a:srgbClr val="FF4647"/>
            </a:solidFill>
            <a:prstDash val="solid"/>
            <a:miter lim="800000"/>
          </a:ln>
        </p:spPr>
        <p:txBody>
          <a:bodyPr/>
          <a:lstStyle/>
          <a:p>
            <a:endParaRPr lang="en-US"/>
          </a:p>
        </p:txBody>
      </p:sp>
      <p:pic>
        <p:nvPicPr>
          <p:cNvPr id="28" name="Image 4" descr="-f96049e.png"/>
          <p:cNvPicPr>
            <a:picLocks noChangeAspect="1"/>
          </p:cNvPicPr>
          <p:nvPr/>
        </p:nvPicPr>
        <p:blipFill>
          <a:blip r:embed="rId7"/>
          <a:stretch>
            <a:fillRect/>
          </a:stretch>
        </p:blipFill>
        <p:spPr>
          <a:xfrm>
            <a:off x="2143685" y="3937843"/>
            <a:ext cx="285750" cy="342900"/>
          </a:xfrm>
          <a:prstGeom prst="rect">
            <a:avLst/>
          </a:prstGeom>
        </p:spPr>
      </p:pic>
      <p:sp>
        <p:nvSpPr>
          <p:cNvPr id="29" name="Shape 22"/>
          <p:cNvSpPr/>
          <p:nvPr/>
        </p:nvSpPr>
        <p:spPr>
          <a:xfrm>
            <a:off x="4286250" y="4105275"/>
            <a:ext cx="3619500" cy="1552575"/>
          </a:xfrm>
          <a:prstGeom prst="roundRect">
            <a:avLst>
              <a:gd name="adj" fmla="val 5890"/>
            </a:avLst>
          </a:prstGeom>
          <a:solidFill>
            <a:srgbClr val="0F8B8D">
              <a:alpha val="30000"/>
            </a:srgbClr>
          </a:solidFill>
          <a:ln>
            <a:miter lim="800000"/>
          </a:ln>
        </p:spPr>
        <p:txBody>
          <a:bodyPr/>
          <a:lstStyle/>
          <a:p>
            <a:endParaRPr lang="en-US"/>
          </a:p>
        </p:txBody>
      </p:sp>
      <p:sp>
        <p:nvSpPr>
          <p:cNvPr id="30" name="Text 23"/>
          <p:cNvSpPr/>
          <p:nvPr/>
        </p:nvSpPr>
        <p:spPr>
          <a:xfrm>
            <a:off x="4572000" y="4612184"/>
            <a:ext cx="3333750" cy="228154"/>
          </a:xfrm>
          <a:prstGeom prst="rect">
            <a:avLst/>
          </a:prstGeom>
          <a:noFill/>
          <a:ln>
            <a:miter lim="800000"/>
          </a:ln>
        </p:spPr>
        <p:txBody>
          <a:bodyPr wrap="square" lIns="0" tIns="0" rIns="0" bIns="0" rtlCol="0" anchor="t"/>
          <a:lstStyle/>
          <a:p>
            <a:pPr algn="l" fontAlgn="ctr">
              <a:lnSpc>
                <a:spcPts val="1797"/>
              </a:lnSpc>
            </a:pPr>
            <a:r>
              <a:rPr lang="en-US" sz="1560" b="1" kern="0" spc="-94" dirty="0">
                <a:solidFill>
                  <a:srgbClr val="333333"/>
                </a:solidFill>
                <a:latin typeface="Arial" pitchFamily="34" charset="0"/>
                <a:ea typeface="Arial" pitchFamily="34" charset="-122"/>
                <a:cs typeface="Arial" pitchFamily="34" charset="-120"/>
              </a:rPr>
              <a:t>Infrastructure</a:t>
            </a:r>
            <a:endParaRPr lang="en-US" dirty="0"/>
          </a:p>
        </p:txBody>
      </p:sp>
      <p:sp>
        <p:nvSpPr>
          <p:cNvPr id="31" name="Text 24"/>
          <p:cNvSpPr/>
          <p:nvPr/>
        </p:nvSpPr>
        <p:spPr>
          <a:xfrm>
            <a:off x="4572000" y="4900017"/>
            <a:ext cx="3488234" cy="416719"/>
          </a:xfrm>
          <a:prstGeom prst="rect">
            <a:avLst/>
          </a:prstGeom>
          <a:noFill/>
          <a:ln>
            <a:miter lim="800000"/>
          </a:ln>
        </p:spPr>
        <p:txBody>
          <a:bodyPr wrap="square" lIns="0" tIns="0" rIns="0" bIns="0" rtlCol="0" anchor="t"/>
          <a:lstStyle/>
          <a:p>
            <a:pPr algn="l" fontAlgn="ctr">
              <a:lnSpc>
                <a:spcPts val="1642"/>
              </a:lnSpc>
              <a:spcBef>
                <a:spcPts val="461"/>
              </a:spcBef>
            </a:pPr>
            <a:r>
              <a:rPr lang="en-US" sz="1200" kern="0" spc="-24" dirty="0">
                <a:solidFill>
                  <a:srgbClr val="000000">
                    <a:alpha val="55000"/>
                  </a:srgbClr>
                </a:solidFill>
                <a:latin typeface="Arial" pitchFamily="34" charset="0"/>
                <a:ea typeface="Arial" pitchFamily="34" charset="-122"/>
                <a:cs typeface="Arial" pitchFamily="34" charset="-120"/>
              </a:rPr>
              <a:t>Settings for MongoDB connection strings and</a:t>
            </a:r>
            <a:br>
              <a:rPr lang="en-US" sz="1200" kern="0" spc="-24" dirty="0">
                <a:solidFill>
                  <a:srgbClr val="000000">
                    <a:alpha val="55000"/>
                  </a:srgbClr>
                </a:solidFill>
                <a:latin typeface="Arial" pitchFamily="34" charset="0"/>
                <a:ea typeface="Arial" pitchFamily="34" charset="-122"/>
                <a:cs typeface="Arial" pitchFamily="34" charset="-120"/>
              </a:rPr>
            </a:br>
            <a:r>
              <a:rPr lang="en-US" sz="1200" kern="0" spc="-24" dirty="0">
                <a:solidFill>
                  <a:srgbClr val="000000">
                    <a:alpha val="55000"/>
                  </a:srgbClr>
                </a:solidFill>
                <a:latin typeface="Arial" pitchFamily="34" charset="0"/>
                <a:ea typeface="Arial" pitchFamily="34" charset="-122"/>
                <a:cs typeface="Arial" pitchFamily="34" charset="-120"/>
              </a:rPr>
              <a:t>domain specifications.</a:t>
            </a:r>
            <a:endParaRPr lang="en-US" dirty="0"/>
          </a:p>
        </p:txBody>
      </p:sp>
      <p:sp>
        <p:nvSpPr>
          <p:cNvPr id="32" name="Shape 25"/>
          <p:cNvSpPr/>
          <p:nvPr/>
        </p:nvSpPr>
        <p:spPr>
          <a:xfrm>
            <a:off x="5738813" y="3748088"/>
            <a:ext cx="714375" cy="714375"/>
          </a:xfrm>
          <a:prstGeom prst="ellipse">
            <a:avLst/>
          </a:prstGeom>
          <a:solidFill>
            <a:srgbClr val="FFFFFF"/>
          </a:solidFill>
          <a:ln w="38100">
            <a:solidFill>
              <a:srgbClr val="0A5E5F"/>
            </a:solidFill>
            <a:prstDash val="solid"/>
            <a:miter lim="800000"/>
          </a:ln>
        </p:spPr>
        <p:txBody>
          <a:bodyPr/>
          <a:lstStyle/>
          <a:p>
            <a:endParaRPr lang="en-US"/>
          </a:p>
        </p:txBody>
      </p:sp>
      <p:pic>
        <p:nvPicPr>
          <p:cNvPr id="33" name="Image 5" descr="-708ef2de.png"/>
          <p:cNvPicPr>
            <a:picLocks noChangeAspect="1"/>
          </p:cNvPicPr>
          <p:nvPr/>
        </p:nvPicPr>
        <p:blipFill>
          <a:blip r:embed="rId8"/>
          <a:stretch>
            <a:fillRect/>
          </a:stretch>
        </p:blipFill>
        <p:spPr>
          <a:xfrm>
            <a:off x="5924383" y="3975517"/>
            <a:ext cx="352425" cy="257175"/>
          </a:xfrm>
          <a:prstGeom prst="rect">
            <a:avLst/>
          </a:prstGeom>
        </p:spPr>
      </p:pic>
      <p:sp>
        <p:nvSpPr>
          <p:cNvPr id="34" name="Shape 26"/>
          <p:cNvSpPr/>
          <p:nvPr/>
        </p:nvSpPr>
        <p:spPr>
          <a:xfrm>
            <a:off x="8096250" y="4105275"/>
            <a:ext cx="3619500" cy="1552575"/>
          </a:xfrm>
          <a:prstGeom prst="roundRect">
            <a:avLst>
              <a:gd name="adj" fmla="val 5890"/>
            </a:avLst>
          </a:prstGeom>
          <a:solidFill>
            <a:srgbClr val="3478B9">
              <a:alpha val="30000"/>
            </a:srgbClr>
          </a:solidFill>
          <a:ln>
            <a:miter lim="800000"/>
          </a:ln>
        </p:spPr>
        <p:txBody>
          <a:bodyPr/>
          <a:lstStyle/>
          <a:p>
            <a:endParaRPr lang="en-US"/>
          </a:p>
        </p:txBody>
      </p:sp>
      <p:sp>
        <p:nvSpPr>
          <p:cNvPr id="35" name="Text 27"/>
          <p:cNvSpPr/>
          <p:nvPr/>
        </p:nvSpPr>
        <p:spPr>
          <a:xfrm>
            <a:off x="8382000" y="4612184"/>
            <a:ext cx="3333750" cy="228154"/>
          </a:xfrm>
          <a:prstGeom prst="rect">
            <a:avLst/>
          </a:prstGeom>
          <a:noFill/>
          <a:ln>
            <a:miter lim="800000"/>
          </a:ln>
        </p:spPr>
        <p:txBody>
          <a:bodyPr wrap="square" lIns="0" tIns="0" rIns="0" bIns="0" rtlCol="0" anchor="t"/>
          <a:lstStyle/>
          <a:p>
            <a:pPr algn="l" fontAlgn="ctr">
              <a:lnSpc>
                <a:spcPts val="1797"/>
              </a:lnSpc>
            </a:pPr>
            <a:r>
              <a:rPr lang="en-US" sz="1560" b="1" kern="0" spc="-94" dirty="0">
                <a:solidFill>
                  <a:srgbClr val="333333"/>
                </a:solidFill>
                <a:latin typeface="Arial" pitchFamily="34" charset="0"/>
                <a:ea typeface="Arial" pitchFamily="34" charset="-122"/>
                <a:cs typeface="Arial" pitchFamily="34" charset="-120"/>
              </a:rPr>
              <a:t>Runtime</a:t>
            </a:r>
            <a:endParaRPr lang="en-US" dirty="0"/>
          </a:p>
        </p:txBody>
      </p:sp>
      <p:sp>
        <p:nvSpPr>
          <p:cNvPr id="36" name="Text 28"/>
          <p:cNvSpPr/>
          <p:nvPr/>
        </p:nvSpPr>
        <p:spPr>
          <a:xfrm>
            <a:off x="8382000" y="4900017"/>
            <a:ext cx="3381226" cy="416719"/>
          </a:xfrm>
          <a:prstGeom prst="rect">
            <a:avLst/>
          </a:prstGeom>
          <a:noFill/>
          <a:ln>
            <a:miter lim="800000"/>
          </a:ln>
        </p:spPr>
        <p:txBody>
          <a:bodyPr wrap="square" lIns="0" tIns="0" rIns="0" bIns="0" rtlCol="0" anchor="t"/>
          <a:lstStyle/>
          <a:p>
            <a:pPr algn="l" fontAlgn="ctr">
              <a:lnSpc>
                <a:spcPts val="1642"/>
              </a:lnSpc>
              <a:spcBef>
                <a:spcPts val="461"/>
              </a:spcBef>
            </a:pPr>
            <a:r>
              <a:rPr lang="en-US" sz="1200" kern="0" spc="-24" dirty="0">
                <a:solidFill>
                  <a:srgbClr val="000000">
                    <a:alpha val="55000"/>
                  </a:srgbClr>
                </a:solidFill>
                <a:latin typeface="Arial" pitchFamily="34" charset="0"/>
                <a:ea typeface="Arial" pitchFamily="34" charset="-122"/>
                <a:cs typeface="Arial" pitchFamily="34" charset="-120"/>
              </a:rPr>
              <a:t>Environment variables such as Synthea JAR</a:t>
            </a:r>
            <a:br>
              <a:rPr lang="en-US" sz="1200" kern="0" spc="-24" dirty="0">
                <a:solidFill>
                  <a:srgbClr val="000000">
                    <a:alpha val="55000"/>
                  </a:srgbClr>
                </a:solidFill>
                <a:latin typeface="Arial" pitchFamily="34" charset="0"/>
                <a:ea typeface="Arial" pitchFamily="34" charset="-122"/>
                <a:cs typeface="Arial" pitchFamily="34" charset="-120"/>
              </a:rPr>
            </a:br>
            <a:r>
              <a:rPr lang="en-US" sz="1200" kern="0" spc="-24" dirty="0">
                <a:solidFill>
                  <a:srgbClr val="000000">
                    <a:alpha val="55000"/>
                  </a:srgbClr>
                </a:solidFill>
                <a:latin typeface="Arial" pitchFamily="34" charset="0"/>
                <a:ea typeface="Arial" pitchFamily="34" charset="-122"/>
                <a:cs typeface="Arial" pitchFamily="34" charset="-120"/>
              </a:rPr>
              <a:t>paths and image tags.</a:t>
            </a:r>
            <a:endParaRPr lang="en-US" dirty="0"/>
          </a:p>
        </p:txBody>
      </p:sp>
      <p:sp>
        <p:nvSpPr>
          <p:cNvPr id="37" name="Shape 29"/>
          <p:cNvSpPr/>
          <p:nvPr/>
        </p:nvSpPr>
        <p:spPr>
          <a:xfrm>
            <a:off x="9548813" y="3748088"/>
            <a:ext cx="714375" cy="714375"/>
          </a:xfrm>
          <a:prstGeom prst="ellipse">
            <a:avLst/>
          </a:prstGeom>
          <a:solidFill>
            <a:srgbClr val="FFFFFF"/>
          </a:solidFill>
          <a:ln w="38100">
            <a:solidFill>
              <a:srgbClr val="295E91"/>
            </a:solidFill>
            <a:prstDash val="solid"/>
            <a:miter lim="800000"/>
          </a:ln>
        </p:spPr>
        <p:txBody>
          <a:bodyPr/>
          <a:lstStyle/>
          <a:p>
            <a:endParaRPr lang="en-US"/>
          </a:p>
        </p:txBody>
      </p:sp>
      <p:pic>
        <p:nvPicPr>
          <p:cNvPr id="38" name="Image 6" descr="-4d648ede.png"/>
          <p:cNvPicPr>
            <a:picLocks noChangeAspect="1"/>
          </p:cNvPicPr>
          <p:nvPr/>
        </p:nvPicPr>
        <p:blipFill>
          <a:blip r:embed="rId9"/>
          <a:stretch>
            <a:fillRect/>
          </a:stretch>
        </p:blipFill>
        <p:spPr>
          <a:xfrm>
            <a:off x="9763683" y="3958772"/>
            <a:ext cx="295275" cy="295275"/>
          </a:xfrm>
          <a:prstGeom prst="rect">
            <a:avLst/>
          </a:prstGeom>
        </p:spPr>
      </p:pic>
      <p:sp>
        <p:nvSpPr>
          <p:cNvPr id="39" name="Shape 30"/>
          <p:cNvSpPr/>
          <p:nvPr/>
        </p:nvSpPr>
        <p:spPr>
          <a:xfrm>
            <a:off x="0" y="6134100"/>
            <a:ext cx="12192000" cy="723900"/>
          </a:xfrm>
          <a:prstGeom prst="rect">
            <a:avLst/>
          </a:prstGeom>
          <a:solidFill>
            <a:srgbClr val="222222"/>
          </a:solidFill>
          <a:ln>
            <a:miter lim="800000"/>
          </a:ln>
        </p:spPr>
        <p:txBody>
          <a:bodyPr/>
          <a:lstStyle/>
          <a:p>
            <a:endParaRPr lang="en-US"/>
          </a:p>
        </p:txBody>
      </p:sp>
      <p:sp>
        <p:nvSpPr>
          <p:cNvPr id="40" name="Text 31"/>
          <p:cNvSpPr/>
          <p:nvPr/>
        </p:nvSpPr>
        <p:spPr>
          <a:xfrm>
            <a:off x="1143000" y="6376690"/>
            <a:ext cx="9906000" cy="241399"/>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Note: Production-grade passwords are mandatory; ensure all placeholders are updated prior to deployment.</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Cloud Infrastructure and Backup Configuration</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Operational specifications for DigitalOcean NYC1 and data recovery protocols</a:t>
            </a:r>
            <a:endParaRPr lang="en-US" dirty="0"/>
          </a:p>
        </p:txBody>
      </p:sp>
      <p:sp>
        <p:nvSpPr>
          <p:cNvPr id="4" name="Shape 2"/>
          <p:cNvSpPr/>
          <p:nvPr/>
        </p:nvSpPr>
        <p:spPr>
          <a:xfrm>
            <a:off x="1095375" y="2811542"/>
            <a:ext cx="714375" cy="714375"/>
          </a:xfrm>
          <a:prstGeom prst="roundRect">
            <a:avLst>
              <a:gd name="adj" fmla="val 12800"/>
            </a:avLst>
          </a:prstGeom>
          <a:solidFill>
            <a:srgbClr val="0F8B8D">
              <a:alpha val="30000"/>
            </a:srgbClr>
          </a:solidFill>
          <a:ln>
            <a:miter lim="800000"/>
          </a:ln>
        </p:spPr>
        <p:txBody>
          <a:bodyPr/>
          <a:lstStyle/>
          <a:p>
            <a:endParaRPr lang="en-US"/>
          </a:p>
        </p:txBody>
      </p:sp>
      <p:pic>
        <p:nvPicPr>
          <p:cNvPr id="5" name="Image 0" descr="-2205b31e.png"/>
          <p:cNvPicPr>
            <a:picLocks noChangeAspect="1"/>
          </p:cNvPicPr>
          <p:nvPr/>
        </p:nvPicPr>
        <p:blipFill>
          <a:blip r:embed="rId3"/>
          <a:stretch>
            <a:fillRect/>
          </a:stretch>
        </p:blipFill>
        <p:spPr>
          <a:xfrm>
            <a:off x="1322803" y="3026380"/>
            <a:ext cx="257175" cy="285750"/>
          </a:xfrm>
          <a:prstGeom prst="rect">
            <a:avLst/>
          </a:prstGeom>
        </p:spPr>
      </p:pic>
      <p:sp>
        <p:nvSpPr>
          <p:cNvPr id="6" name="Text 3"/>
          <p:cNvSpPr/>
          <p:nvPr/>
        </p:nvSpPr>
        <p:spPr>
          <a:xfrm>
            <a:off x="2000250" y="2764512"/>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Host Specifications</a:t>
            </a:r>
            <a:endParaRPr lang="en-US" dirty="0"/>
          </a:p>
        </p:txBody>
      </p:sp>
      <p:sp>
        <p:nvSpPr>
          <p:cNvPr id="7" name="Text 4"/>
          <p:cNvSpPr/>
          <p:nvPr/>
        </p:nvSpPr>
        <p:spPr>
          <a:xfrm>
            <a:off x="2000250" y="3106668"/>
            <a:ext cx="4143375" cy="781794"/>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Ubuntu 24.04 LTS on 2 vCPU, 4GB RAM,</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80GB SSD with standard ports 22, 80, 443,</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5175 open. Reference cost: about $24/month.</a:t>
            </a:r>
            <a:endParaRPr lang="en-US" dirty="0"/>
          </a:p>
        </p:txBody>
      </p:sp>
      <p:sp>
        <p:nvSpPr>
          <p:cNvPr id="8" name="Shape 5"/>
          <p:cNvSpPr/>
          <p:nvPr/>
        </p:nvSpPr>
        <p:spPr>
          <a:xfrm>
            <a:off x="1095375" y="4306967"/>
            <a:ext cx="714375" cy="714375"/>
          </a:xfrm>
          <a:prstGeom prst="roundRect">
            <a:avLst>
              <a:gd name="adj" fmla="val 12800"/>
            </a:avLst>
          </a:prstGeom>
          <a:solidFill>
            <a:srgbClr val="3478B9">
              <a:alpha val="30000"/>
            </a:srgbClr>
          </a:solidFill>
          <a:ln>
            <a:miter lim="800000"/>
          </a:ln>
        </p:spPr>
        <p:txBody>
          <a:bodyPr/>
          <a:lstStyle/>
          <a:p>
            <a:endParaRPr lang="en-US"/>
          </a:p>
        </p:txBody>
      </p:sp>
      <p:pic>
        <p:nvPicPr>
          <p:cNvPr id="9" name="Image 1" descr="02ea4062.png"/>
          <p:cNvPicPr>
            <a:picLocks noChangeAspect="1"/>
          </p:cNvPicPr>
          <p:nvPr/>
        </p:nvPicPr>
        <p:blipFill>
          <a:blip r:embed="rId4"/>
          <a:stretch>
            <a:fillRect/>
          </a:stretch>
        </p:blipFill>
        <p:spPr>
          <a:xfrm>
            <a:off x="1326990" y="4492506"/>
            <a:ext cx="257175" cy="342900"/>
          </a:xfrm>
          <a:prstGeom prst="rect">
            <a:avLst/>
          </a:prstGeom>
        </p:spPr>
      </p:pic>
      <p:sp>
        <p:nvSpPr>
          <p:cNvPr id="10" name="Text 6"/>
          <p:cNvSpPr/>
          <p:nvPr/>
        </p:nvSpPr>
        <p:spPr>
          <a:xfrm>
            <a:off x="2000250" y="4259937"/>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Access Control</a:t>
            </a:r>
            <a:endParaRPr lang="en-US" dirty="0"/>
          </a:p>
        </p:txBody>
      </p:sp>
      <p:sp>
        <p:nvSpPr>
          <p:cNvPr id="11" name="Text 7"/>
          <p:cNvSpPr/>
          <p:nvPr/>
        </p:nvSpPr>
        <p:spPr>
          <a:xfrm>
            <a:off x="2000250" y="4602093"/>
            <a:ext cx="4316313" cy="521196"/>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Secure access via non-root 'deploy' user with</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Docker group permissions.</a:t>
            </a:r>
            <a:endParaRPr lang="en-US" dirty="0"/>
          </a:p>
        </p:txBody>
      </p:sp>
      <p:sp>
        <p:nvSpPr>
          <p:cNvPr id="12" name="Shape 8"/>
          <p:cNvSpPr/>
          <p:nvPr/>
        </p:nvSpPr>
        <p:spPr>
          <a:xfrm>
            <a:off x="6334125" y="2811542"/>
            <a:ext cx="714375" cy="714375"/>
          </a:xfrm>
          <a:prstGeom prst="roundRect">
            <a:avLst>
              <a:gd name="adj" fmla="val 12800"/>
            </a:avLst>
          </a:prstGeom>
          <a:solidFill>
            <a:srgbClr val="E8EFF5">
              <a:alpha val="30000"/>
            </a:srgbClr>
          </a:solidFill>
          <a:ln>
            <a:miter lim="800000"/>
          </a:ln>
        </p:spPr>
        <p:txBody>
          <a:bodyPr/>
          <a:lstStyle/>
          <a:p>
            <a:endParaRPr lang="en-US"/>
          </a:p>
        </p:txBody>
      </p:sp>
      <p:pic>
        <p:nvPicPr>
          <p:cNvPr id="13" name="Image 2" descr="0245faa2.png"/>
          <p:cNvPicPr>
            <a:picLocks noChangeAspect="1"/>
          </p:cNvPicPr>
          <p:nvPr/>
        </p:nvPicPr>
        <p:blipFill>
          <a:blip r:embed="rId5"/>
          <a:stretch>
            <a:fillRect/>
          </a:stretch>
        </p:blipFill>
        <p:spPr>
          <a:xfrm>
            <a:off x="6536438" y="3034754"/>
            <a:ext cx="304800" cy="276225"/>
          </a:xfrm>
          <a:prstGeom prst="rect">
            <a:avLst/>
          </a:prstGeom>
        </p:spPr>
      </p:pic>
      <p:sp>
        <p:nvSpPr>
          <p:cNvPr id="14" name="Text 9"/>
          <p:cNvSpPr/>
          <p:nvPr/>
        </p:nvSpPr>
        <p:spPr>
          <a:xfrm>
            <a:off x="7239000" y="2764512"/>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Backup Strategy</a:t>
            </a:r>
            <a:endParaRPr lang="en-US" dirty="0"/>
          </a:p>
        </p:txBody>
      </p:sp>
      <p:sp>
        <p:nvSpPr>
          <p:cNvPr id="15" name="Text 10"/>
          <p:cNvSpPr/>
          <p:nvPr/>
        </p:nvSpPr>
        <p:spPr>
          <a:xfrm>
            <a:off x="7239000" y="3106668"/>
            <a:ext cx="4143375" cy="521196"/>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Automated daily mongodump with 7-day</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retention policy currently stored locally.</a:t>
            </a:r>
            <a:endParaRPr lang="en-US" dirty="0"/>
          </a:p>
        </p:txBody>
      </p:sp>
      <p:sp>
        <p:nvSpPr>
          <p:cNvPr id="16" name="Shape 11"/>
          <p:cNvSpPr/>
          <p:nvPr/>
        </p:nvSpPr>
        <p:spPr>
          <a:xfrm>
            <a:off x="6334125" y="4049792"/>
            <a:ext cx="714375" cy="714375"/>
          </a:xfrm>
          <a:prstGeom prst="roundRect">
            <a:avLst>
              <a:gd name="adj" fmla="val 12800"/>
            </a:avLst>
          </a:prstGeom>
          <a:solidFill>
            <a:srgbClr val="FF8000">
              <a:alpha val="30000"/>
            </a:srgbClr>
          </a:solidFill>
          <a:ln>
            <a:miter lim="800000"/>
          </a:ln>
        </p:spPr>
        <p:txBody>
          <a:bodyPr/>
          <a:lstStyle/>
          <a:p>
            <a:endParaRPr lang="en-US"/>
          </a:p>
        </p:txBody>
      </p:sp>
      <p:pic>
        <p:nvPicPr>
          <p:cNvPr id="17" name="Image 3" descr="-44f155e.png"/>
          <p:cNvPicPr>
            <a:picLocks noChangeAspect="1"/>
          </p:cNvPicPr>
          <p:nvPr/>
        </p:nvPicPr>
        <p:blipFill>
          <a:blip r:embed="rId6"/>
          <a:stretch>
            <a:fillRect/>
          </a:stretch>
        </p:blipFill>
        <p:spPr>
          <a:xfrm>
            <a:off x="6548996" y="4285561"/>
            <a:ext cx="285750" cy="238125"/>
          </a:xfrm>
          <a:prstGeom prst="rect">
            <a:avLst/>
          </a:prstGeom>
        </p:spPr>
      </p:pic>
      <p:sp>
        <p:nvSpPr>
          <p:cNvPr id="18" name="Text 12"/>
          <p:cNvSpPr/>
          <p:nvPr/>
        </p:nvSpPr>
        <p:spPr>
          <a:xfrm>
            <a:off x="7239000" y="4002762"/>
            <a:ext cx="4143375" cy="263277"/>
          </a:xfrm>
          <a:prstGeom prst="rect">
            <a:avLst/>
          </a:prstGeom>
          <a:noFill/>
          <a:ln>
            <a:miter lim="800000"/>
          </a:ln>
        </p:spPr>
        <p:txBody>
          <a:bodyPr wrap="square" lIns="0" tIns="0" rIns="0" bIns="0" rtlCol="0" anchor="t"/>
          <a:lstStyle/>
          <a:p>
            <a:pPr algn="l" fontAlgn="ctr">
              <a:lnSpc>
                <a:spcPts val="2074"/>
              </a:lnSpc>
            </a:pPr>
            <a:r>
              <a:rPr lang="en-US" sz="1800" b="1" kern="0" spc="-108" dirty="0">
                <a:solidFill>
                  <a:srgbClr val="333333"/>
                </a:solidFill>
                <a:latin typeface="Arial" pitchFamily="34" charset="0"/>
                <a:ea typeface="Arial" pitchFamily="34" charset="-122"/>
                <a:cs typeface="Arial" pitchFamily="34" charset="-120"/>
              </a:rPr>
              <a:t>Future Roadmap</a:t>
            </a:r>
            <a:endParaRPr lang="en-US" dirty="0"/>
          </a:p>
        </p:txBody>
      </p:sp>
      <p:sp>
        <p:nvSpPr>
          <p:cNvPr id="19" name="Text 13"/>
          <p:cNvSpPr/>
          <p:nvPr/>
        </p:nvSpPr>
        <p:spPr>
          <a:xfrm>
            <a:off x="7239000" y="4344918"/>
            <a:ext cx="4143375" cy="521196"/>
          </a:xfrm>
          <a:prstGeom prst="rect">
            <a:avLst/>
          </a:prstGeom>
          <a:noFill/>
          <a:ln>
            <a:miter lim="800000"/>
          </a:ln>
        </p:spPr>
        <p:txBody>
          <a:bodyPr wrap="square" lIns="0" tIns="0" rIns="0" bIns="0" rtlCol="0" anchor="t"/>
          <a:lstStyle/>
          <a:p>
            <a:pPr algn="l"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Planned migration to off-host storage to</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ensure long-term data durability.</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HTTPS Configuration Path</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Steps to transition from HTTP to secure HTTPS using Caddy</a:t>
            </a:r>
            <a:endParaRPr lang="en-US" dirty="0"/>
          </a:p>
        </p:txBody>
      </p:sp>
      <p:sp>
        <p:nvSpPr>
          <p:cNvPr id="4" name="Shape 2"/>
          <p:cNvSpPr/>
          <p:nvPr/>
        </p:nvSpPr>
        <p:spPr>
          <a:xfrm>
            <a:off x="988219" y="2267664"/>
            <a:ext cx="1428750" cy="1428750"/>
          </a:xfrm>
          <a:prstGeom prst="roundRect">
            <a:avLst>
              <a:gd name="adj" fmla="val 6400"/>
            </a:avLst>
          </a:prstGeom>
          <a:solidFill>
            <a:srgbClr val="0F8B8D">
              <a:alpha val="30000"/>
            </a:srgbClr>
          </a:solidFill>
          <a:ln>
            <a:miter lim="800000"/>
          </a:ln>
        </p:spPr>
        <p:txBody>
          <a:bodyPr/>
          <a:lstStyle/>
          <a:p>
            <a:endParaRPr lang="en-US"/>
          </a:p>
        </p:txBody>
      </p:sp>
      <p:pic>
        <p:nvPicPr>
          <p:cNvPr id="5" name="Image 0" descr="-2328385e.png"/>
          <p:cNvPicPr>
            <a:picLocks noChangeAspect="1"/>
          </p:cNvPicPr>
          <p:nvPr/>
        </p:nvPicPr>
        <p:blipFill>
          <a:blip r:embed="rId3"/>
          <a:stretch>
            <a:fillRect/>
          </a:stretch>
        </p:blipFill>
        <p:spPr>
          <a:xfrm>
            <a:off x="1417956" y="2655425"/>
            <a:ext cx="561975" cy="638175"/>
          </a:xfrm>
          <a:prstGeom prst="rect">
            <a:avLst/>
          </a:prstGeom>
        </p:spPr>
      </p:pic>
      <p:sp>
        <p:nvSpPr>
          <p:cNvPr id="6" name="Text 3"/>
          <p:cNvSpPr/>
          <p:nvPr/>
        </p:nvSpPr>
        <p:spPr>
          <a:xfrm>
            <a:off x="335756" y="3792260"/>
            <a:ext cx="2733675" cy="263277"/>
          </a:xfrm>
          <a:prstGeom prst="rect">
            <a:avLst/>
          </a:prstGeom>
          <a:noFill/>
          <a:ln>
            <a:miter lim="800000"/>
          </a:ln>
        </p:spPr>
        <p:txBody>
          <a:bodyPr wrap="square" lIns="0" tIns="0" rIns="0" bIns="0" rtlCol="0" anchor="t"/>
          <a:lstStyle/>
          <a:p>
            <a:pPr algn="ctr" fontAlgn="ctr">
              <a:lnSpc>
                <a:spcPts val="2074"/>
              </a:lnSpc>
            </a:pPr>
            <a:r>
              <a:rPr lang="en-US" sz="1800" b="1" kern="0" spc="-108" dirty="0">
                <a:solidFill>
                  <a:srgbClr val="333333"/>
                </a:solidFill>
                <a:latin typeface="Arial" pitchFamily="34" charset="0"/>
                <a:ea typeface="Arial" pitchFamily="34" charset="-122"/>
                <a:cs typeface="Arial" pitchFamily="34" charset="-120"/>
              </a:rPr>
              <a:t>DNS Configuration</a:t>
            </a:r>
            <a:endParaRPr lang="en-US" dirty="0"/>
          </a:p>
        </p:txBody>
      </p:sp>
      <p:sp>
        <p:nvSpPr>
          <p:cNvPr id="7" name="Text 4"/>
          <p:cNvSpPr/>
          <p:nvPr/>
        </p:nvSpPr>
        <p:spPr>
          <a:xfrm>
            <a:off x="263515" y="4134416"/>
            <a:ext cx="2878157" cy="781794"/>
          </a:xfrm>
          <a:prstGeom prst="rect">
            <a:avLst/>
          </a:prstGeom>
          <a:noFill/>
          <a:ln>
            <a:miter lim="800000"/>
          </a:ln>
        </p:spPr>
        <p:txBody>
          <a:bodyPr wrap="square" lIns="0" tIns="0" rIns="0" bIns="0" rtlCol="0" anchor="t"/>
          <a:lstStyle/>
          <a:p>
            <a:pPr algn="ctr"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Create or update the A record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to point your domain to the</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host IP address.</a:t>
            </a:r>
            <a:endParaRPr lang="en-US" dirty="0"/>
          </a:p>
        </p:txBody>
      </p:sp>
      <p:sp>
        <p:nvSpPr>
          <p:cNvPr id="8" name="Shape 5"/>
          <p:cNvSpPr/>
          <p:nvPr/>
        </p:nvSpPr>
        <p:spPr>
          <a:xfrm>
            <a:off x="3917156" y="2267664"/>
            <a:ext cx="1428750" cy="1428750"/>
          </a:xfrm>
          <a:prstGeom prst="roundRect">
            <a:avLst>
              <a:gd name="adj" fmla="val 6400"/>
            </a:avLst>
          </a:prstGeom>
          <a:solidFill>
            <a:srgbClr val="3478B9">
              <a:alpha val="30000"/>
            </a:srgbClr>
          </a:solidFill>
          <a:ln>
            <a:miter lim="800000"/>
          </a:ln>
        </p:spPr>
        <p:txBody>
          <a:bodyPr/>
          <a:lstStyle/>
          <a:p>
            <a:endParaRPr lang="en-US"/>
          </a:p>
        </p:txBody>
      </p:sp>
      <p:pic>
        <p:nvPicPr>
          <p:cNvPr id="9" name="Image 1" descr="-5e5301e.png"/>
          <p:cNvPicPr>
            <a:picLocks noChangeAspect="1"/>
          </p:cNvPicPr>
          <p:nvPr/>
        </p:nvPicPr>
        <p:blipFill>
          <a:blip r:embed="rId4"/>
          <a:stretch>
            <a:fillRect/>
          </a:stretch>
        </p:blipFill>
        <p:spPr>
          <a:xfrm>
            <a:off x="4372013" y="2697281"/>
            <a:ext cx="514350" cy="571500"/>
          </a:xfrm>
          <a:prstGeom prst="rect">
            <a:avLst/>
          </a:prstGeom>
        </p:spPr>
      </p:pic>
      <p:sp>
        <p:nvSpPr>
          <p:cNvPr id="10" name="Text 6"/>
          <p:cNvSpPr/>
          <p:nvPr/>
        </p:nvSpPr>
        <p:spPr>
          <a:xfrm>
            <a:off x="3271540" y="3792260"/>
            <a:ext cx="2719983" cy="263277"/>
          </a:xfrm>
          <a:prstGeom prst="rect">
            <a:avLst/>
          </a:prstGeom>
          <a:noFill/>
          <a:ln>
            <a:miter lim="800000"/>
          </a:ln>
        </p:spPr>
        <p:txBody>
          <a:bodyPr wrap="square" lIns="0" tIns="0" rIns="0" bIns="0" rtlCol="0" anchor="t"/>
          <a:lstStyle/>
          <a:p>
            <a:pPr algn="ctr" fontAlgn="ctr">
              <a:lnSpc>
                <a:spcPts val="2074"/>
              </a:lnSpc>
            </a:pPr>
            <a:r>
              <a:rPr lang="en-US" sz="1800" b="1" kern="0" spc="-108" dirty="0">
                <a:solidFill>
                  <a:srgbClr val="333333"/>
                </a:solidFill>
                <a:latin typeface="Arial" pitchFamily="34" charset="0"/>
                <a:ea typeface="Arial" pitchFamily="34" charset="-122"/>
                <a:cs typeface="Arial" pitchFamily="34" charset="-120"/>
              </a:rPr>
              <a:t>Production Environment</a:t>
            </a:r>
            <a:endParaRPr lang="en-US" dirty="0"/>
          </a:p>
        </p:txBody>
      </p:sp>
      <p:sp>
        <p:nvSpPr>
          <p:cNvPr id="11" name="Text 7"/>
          <p:cNvSpPr/>
          <p:nvPr/>
        </p:nvSpPr>
        <p:spPr>
          <a:xfrm>
            <a:off x="3232845" y="4134416"/>
            <a:ext cx="2797373" cy="1042392"/>
          </a:xfrm>
          <a:prstGeom prst="rect">
            <a:avLst/>
          </a:prstGeom>
          <a:noFill/>
          <a:ln>
            <a:miter lim="800000"/>
          </a:ln>
        </p:spPr>
        <p:txBody>
          <a:bodyPr wrap="square" lIns="0" tIns="0" rIns="0" bIns="0" rtlCol="0" anchor="t"/>
          <a:lstStyle/>
          <a:p>
            <a:pPr algn="ctr"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Ensure the production</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DOMAIN variable is correctly</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updated in your environment</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settings.</a:t>
            </a:r>
            <a:endParaRPr lang="en-US" dirty="0"/>
          </a:p>
        </p:txBody>
      </p:sp>
      <p:sp>
        <p:nvSpPr>
          <p:cNvPr id="12" name="Shape 8"/>
          <p:cNvSpPr/>
          <p:nvPr/>
        </p:nvSpPr>
        <p:spPr>
          <a:xfrm>
            <a:off x="6846094" y="2267664"/>
            <a:ext cx="1428750" cy="1428750"/>
          </a:xfrm>
          <a:prstGeom prst="roundRect">
            <a:avLst>
              <a:gd name="adj" fmla="val 6400"/>
            </a:avLst>
          </a:prstGeom>
          <a:solidFill>
            <a:srgbClr val="E8EFF5">
              <a:alpha val="30000"/>
            </a:srgbClr>
          </a:solidFill>
          <a:ln>
            <a:miter lim="800000"/>
          </a:ln>
        </p:spPr>
        <p:txBody>
          <a:bodyPr/>
          <a:lstStyle/>
          <a:p>
            <a:endParaRPr lang="en-US"/>
          </a:p>
        </p:txBody>
      </p:sp>
      <p:pic>
        <p:nvPicPr>
          <p:cNvPr id="13" name="Image 2" descr="013e5e22.png"/>
          <p:cNvPicPr>
            <a:picLocks noChangeAspect="1"/>
          </p:cNvPicPr>
          <p:nvPr/>
        </p:nvPicPr>
        <p:blipFill>
          <a:blip r:embed="rId5"/>
          <a:stretch>
            <a:fillRect/>
          </a:stretch>
        </p:blipFill>
        <p:spPr>
          <a:xfrm>
            <a:off x="7242347" y="2680546"/>
            <a:ext cx="638175" cy="628650"/>
          </a:xfrm>
          <a:prstGeom prst="rect">
            <a:avLst/>
          </a:prstGeom>
        </p:spPr>
      </p:pic>
      <p:sp>
        <p:nvSpPr>
          <p:cNvPr id="14" name="Text 9"/>
          <p:cNvSpPr/>
          <p:nvPr/>
        </p:nvSpPr>
        <p:spPr>
          <a:xfrm>
            <a:off x="6360319" y="3792260"/>
            <a:ext cx="2400300" cy="263277"/>
          </a:xfrm>
          <a:prstGeom prst="rect">
            <a:avLst/>
          </a:prstGeom>
          <a:noFill/>
          <a:ln>
            <a:miter lim="800000"/>
          </a:ln>
        </p:spPr>
        <p:txBody>
          <a:bodyPr wrap="square" lIns="0" tIns="0" rIns="0" bIns="0" rtlCol="0" anchor="t"/>
          <a:lstStyle/>
          <a:p>
            <a:pPr algn="ctr" fontAlgn="ctr">
              <a:lnSpc>
                <a:spcPts val="2074"/>
              </a:lnSpc>
            </a:pPr>
            <a:r>
              <a:rPr lang="en-US" sz="1800" b="1" kern="0" spc="-108" dirty="0">
                <a:solidFill>
                  <a:srgbClr val="333333"/>
                </a:solidFill>
                <a:latin typeface="Arial" pitchFamily="34" charset="0"/>
                <a:ea typeface="Arial" pitchFamily="34" charset="-122"/>
                <a:cs typeface="Arial" pitchFamily="34" charset="-120"/>
              </a:rPr>
              <a:t>Caddyfile Update</a:t>
            </a:r>
            <a:endParaRPr lang="en-US" dirty="0"/>
          </a:p>
        </p:txBody>
      </p:sp>
      <p:sp>
        <p:nvSpPr>
          <p:cNvPr id="15" name="Text 10"/>
          <p:cNvSpPr/>
          <p:nvPr/>
        </p:nvSpPr>
        <p:spPr>
          <a:xfrm>
            <a:off x="6305714" y="4134416"/>
            <a:ext cx="2509510" cy="1042392"/>
          </a:xfrm>
          <a:prstGeom prst="rect">
            <a:avLst/>
          </a:prstGeom>
          <a:noFill/>
          <a:ln>
            <a:miter lim="800000"/>
          </a:ln>
        </p:spPr>
        <p:txBody>
          <a:bodyPr wrap="square" lIns="0" tIns="0" rIns="0" bIns="0" rtlCol="0" anchor="t"/>
          <a:lstStyle/>
          <a:p>
            <a:pPr algn="ctr"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Modify the site address in</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your Caddyfile from</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'http://{$DOMAIN}' to</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'{$DOMAIN}'.</a:t>
            </a:r>
            <a:endParaRPr lang="en-US" dirty="0"/>
          </a:p>
        </p:txBody>
      </p:sp>
      <p:sp>
        <p:nvSpPr>
          <p:cNvPr id="16" name="Shape 11"/>
          <p:cNvSpPr/>
          <p:nvPr/>
        </p:nvSpPr>
        <p:spPr>
          <a:xfrm>
            <a:off x="9775031" y="2267664"/>
            <a:ext cx="1428750" cy="1428750"/>
          </a:xfrm>
          <a:prstGeom prst="roundRect">
            <a:avLst>
              <a:gd name="adj" fmla="val 6400"/>
            </a:avLst>
          </a:prstGeom>
          <a:solidFill>
            <a:srgbClr val="FF8000">
              <a:alpha val="30000"/>
            </a:srgbClr>
          </a:solidFill>
          <a:ln>
            <a:miter lim="800000"/>
          </a:ln>
        </p:spPr>
        <p:txBody>
          <a:bodyPr/>
          <a:lstStyle/>
          <a:p>
            <a:endParaRPr lang="en-US"/>
          </a:p>
        </p:txBody>
      </p:sp>
      <p:pic>
        <p:nvPicPr>
          <p:cNvPr id="17" name="Image 3" descr="-373ba21e.png"/>
          <p:cNvPicPr>
            <a:picLocks noChangeAspect="1"/>
          </p:cNvPicPr>
          <p:nvPr/>
        </p:nvPicPr>
        <p:blipFill>
          <a:blip r:embed="rId6"/>
          <a:stretch>
            <a:fillRect/>
          </a:stretch>
        </p:blipFill>
        <p:spPr>
          <a:xfrm>
            <a:off x="10263361" y="2647054"/>
            <a:ext cx="457200" cy="676275"/>
          </a:xfrm>
          <a:prstGeom prst="rect">
            <a:avLst/>
          </a:prstGeom>
        </p:spPr>
      </p:pic>
      <p:sp>
        <p:nvSpPr>
          <p:cNvPr id="18" name="Text 12"/>
          <p:cNvSpPr/>
          <p:nvPr/>
        </p:nvSpPr>
        <p:spPr>
          <a:xfrm>
            <a:off x="9241631" y="3792260"/>
            <a:ext cx="2495550" cy="263277"/>
          </a:xfrm>
          <a:prstGeom prst="rect">
            <a:avLst/>
          </a:prstGeom>
          <a:noFill/>
          <a:ln>
            <a:miter lim="800000"/>
          </a:ln>
        </p:spPr>
        <p:txBody>
          <a:bodyPr wrap="square" lIns="0" tIns="0" rIns="0" bIns="0" rtlCol="0" anchor="t"/>
          <a:lstStyle/>
          <a:p>
            <a:pPr algn="ctr" fontAlgn="ctr">
              <a:lnSpc>
                <a:spcPts val="2074"/>
              </a:lnSpc>
            </a:pPr>
            <a:r>
              <a:rPr lang="en-US" sz="1800" b="1" kern="0" spc="-108" dirty="0">
                <a:solidFill>
                  <a:srgbClr val="333333"/>
                </a:solidFill>
                <a:latin typeface="Arial" pitchFamily="34" charset="0"/>
                <a:ea typeface="Arial" pitchFamily="34" charset="-122"/>
                <a:cs typeface="Arial" pitchFamily="34" charset="-120"/>
              </a:rPr>
              <a:t>Deployment</a:t>
            </a:r>
            <a:endParaRPr lang="en-US" dirty="0"/>
          </a:p>
        </p:txBody>
      </p:sp>
      <p:sp>
        <p:nvSpPr>
          <p:cNvPr id="19" name="Text 13"/>
          <p:cNvSpPr/>
          <p:nvPr/>
        </p:nvSpPr>
        <p:spPr>
          <a:xfrm>
            <a:off x="9181520" y="4134416"/>
            <a:ext cx="2615773" cy="1042392"/>
          </a:xfrm>
          <a:prstGeom prst="rect">
            <a:avLst/>
          </a:prstGeom>
          <a:noFill/>
          <a:ln>
            <a:miter lim="800000"/>
          </a:ln>
        </p:spPr>
        <p:txBody>
          <a:bodyPr wrap="square" lIns="0" tIns="0" rIns="0" bIns="0" rtlCol="0" anchor="t"/>
          <a:lstStyle/>
          <a:p>
            <a:pPr algn="ctr"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Execute the deployment to</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trigger Caddy's automated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certificate request and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renewal process.</a:t>
            </a:r>
            <a:endParaRPr lang="en-US" dirty="0"/>
          </a:p>
        </p:txBody>
      </p:sp>
      <p:sp>
        <p:nvSpPr>
          <p:cNvPr id="20" name="Shape 14"/>
          <p:cNvSpPr/>
          <p:nvPr/>
        </p:nvSpPr>
        <p:spPr>
          <a:xfrm>
            <a:off x="0" y="6134100"/>
            <a:ext cx="12192000" cy="723900"/>
          </a:xfrm>
          <a:prstGeom prst="rect">
            <a:avLst/>
          </a:prstGeom>
          <a:solidFill>
            <a:srgbClr val="222222"/>
          </a:solidFill>
          <a:ln>
            <a:miter lim="800000"/>
          </a:ln>
        </p:spPr>
        <p:txBody>
          <a:bodyPr/>
          <a:lstStyle/>
          <a:p>
            <a:endParaRPr lang="en-US"/>
          </a:p>
        </p:txBody>
      </p:sp>
      <p:sp>
        <p:nvSpPr>
          <p:cNvPr id="21" name="Text 15"/>
          <p:cNvSpPr/>
          <p:nvPr/>
        </p:nvSpPr>
        <p:spPr>
          <a:xfrm>
            <a:off x="2852738" y="6376690"/>
            <a:ext cx="6486525" cy="241399"/>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Note: Port 443 is pre-configured and open to facilitate secure traffic.</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native-526">
            <a:extLst>
              <a:ext uri="{FF2B5EF4-FFF2-40B4-BE49-F238E27FC236}">
                <a16:creationId xmlns:a16="http://schemas.microsoft.com/office/drawing/2014/main" id="{AC75A2B7-9AF7-4258-8D3E-47E755A7F858}"/>
              </a:ext>
            </a:extLst>
          </p:cNvPr>
          <p:cNvSpPr>
            <a:spLocks noGrp="1"/>
          </p:cNvSpPr>
          <p:nvPr/>
        </p:nvSpPr>
        <p:spPr>
          <a:xfrm>
            <a:off x="457200" y="285750"/>
            <a:ext cx="11277600" cy="523875"/>
          </a:xfrm>
          <a:prstGeom prst="rect">
            <a:avLst/>
          </a:prstGeom>
          <a:noFill/>
          <a:ln w="0">
            <a:noFill/>
          </a:ln>
        </p:spPr>
        <p:txBody>
          <a:bodyPr anchor="ctr">
            <a:noAutofit/>
          </a:bodyPr>
          <a:lstStyle/>
          <a:p>
            <a:pPr algn="l">
              <a:defRPr sz="2625" b="1">
                <a:solidFill>
                  <a:srgbClr val="10243A"/>
                </a:solidFill>
                <a:latin typeface="Arial"/>
                <a:ea typeface="Arial"/>
                <a:cs typeface="Arial"/>
              </a:defRPr>
            </a:pPr>
            <a:r>
              <a:rPr sz="2625" b="1">
                <a:solidFill>
                  <a:srgbClr val="10243A"/>
                </a:solidFill>
                <a:latin typeface="Arial"/>
                <a:ea typeface="Arial"/>
                <a:cs typeface="Arial"/>
              </a:rPr>
              <a:t>Claims demo sequence</a:t>
            </a:r>
          </a:p>
        </p:txBody>
      </p:sp>
      <p:sp>
        <p:nvSpPr>
          <p:cNvPr id="2" name="native-527">
            <a:extLst>
              <a:ext uri="{FF2B5EF4-FFF2-40B4-BE49-F238E27FC236}">
                <a16:creationId xmlns:a16="http://schemas.microsoft.com/office/drawing/2014/main" id="{22B5A685-344E-4D7B-B596-62DF5557CD4C}"/>
              </a:ext>
            </a:extLst>
          </p:cNvPr>
          <p:cNvSpPr>
            <a:spLocks noGrp="1"/>
          </p:cNvSpPr>
          <p:nvPr/>
        </p:nvSpPr>
        <p:spPr>
          <a:xfrm>
            <a:off x="457200" y="838200"/>
            <a:ext cx="11277600" cy="381000"/>
          </a:xfrm>
          <a:prstGeom prst="rect">
            <a:avLst/>
          </a:prstGeom>
          <a:noFill/>
          <a:ln w="0">
            <a:noFill/>
          </a:ln>
        </p:spPr>
        <p:txBody>
          <a:bodyPr anchor="ctr">
            <a:noAutofit/>
          </a:bodyPr>
          <a:lstStyle/>
          <a:p>
            <a:pPr algn="l">
              <a:defRPr sz="1575" b="0">
                <a:solidFill>
                  <a:srgbClr val="5D6C79"/>
                </a:solidFill>
                <a:latin typeface="Arial"/>
                <a:ea typeface="Arial"/>
                <a:cs typeface="Arial"/>
              </a:defRPr>
            </a:pPr>
            <a:r>
              <a:rPr sz="1575" b="0">
                <a:solidFill>
                  <a:srgbClr val="5D6C79"/>
                </a:solidFill>
                <a:latin typeface="Arial"/>
                <a:ea typeface="Arial"/>
                <a:cs typeface="Arial"/>
              </a:rPr>
              <a:t>Five creates assemble the clinical and billing resource graph</a:t>
            </a:r>
          </a:p>
        </p:txBody>
      </p:sp>
      <p:sp>
        <p:nvSpPr>
          <p:cNvPr id="3" name="native-528">
            <a:extLst>
              <a:ext uri="{FF2B5EF4-FFF2-40B4-BE49-F238E27FC236}">
                <a16:creationId xmlns:a16="http://schemas.microsoft.com/office/drawing/2014/main" id="{8DCB518F-EFFB-4935-9E5D-2AB80FD78EE7}"/>
              </a:ext>
            </a:extLst>
          </p:cNvPr>
          <p:cNvSpPr>
            <a:spLocks noGrp="1"/>
          </p:cNvSpPr>
          <p:nvPr/>
        </p:nvSpPr>
        <p:spPr>
          <a:xfrm>
            <a:off x="452438" y="1300163"/>
            <a:ext cx="9525" cy="9525"/>
          </a:xfrm>
          <a:prstGeom prst="rect">
            <a:avLst/>
          </a:prstGeom>
          <a:noFill/>
          <a:ln w="0">
            <a:noFill/>
          </a:ln>
        </p:spPr>
        <p:txBody>
          <a:bodyPr/>
          <a:lstStyle/>
          <a:p>
            <a:endParaRPr lang="en-US"/>
          </a:p>
        </p:txBody>
      </p:sp>
      <p:sp>
        <p:nvSpPr>
          <p:cNvPr id="4" name="native-529">
            <a:extLst>
              <a:ext uri="{FF2B5EF4-FFF2-40B4-BE49-F238E27FC236}">
                <a16:creationId xmlns:a16="http://schemas.microsoft.com/office/drawing/2014/main" id="{72B888A7-F327-4851-A42D-4491FDDD11E1}"/>
              </a:ext>
            </a:extLst>
          </p:cNvPr>
          <p:cNvSpPr>
            <a:spLocks noGrp="1"/>
          </p:cNvSpPr>
          <p:nvPr/>
        </p:nvSpPr>
        <p:spPr>
          <a:xfrm>
            <a:off x="11730038" y="1300163"/>
            <a:ext cx="9525" cy="9525"/>
          </a:xfrm>
          <a:prstGeom prst="rect">
            <a:avLst/>
          </a:prstGeom>
          <a:noFill/>
          <a:ln w="0">
            <a:noFill/>
          </a:ln>
        </p:spPr>
        <p:txBody>
          <a:bodyPr/>
          <a:lstStyle/>
          <a:p>
            <a:endParaRPr lang="en-US"/>
          </a:p>
        </p:txBody>
      </p:sp>
      <p:cxnSp>
        <p:nvCxnSpPr>
          <p:cNvPr id="64" name="Straight Arrow Connector 63"/>
          <p:cNvCxnSpPr>
            <a:stCxn id="3" idx="3"/>
            <a:endCxn id="4" idx="1"/>
          </p:cNvCxnSpPr>
          <p:nvPr/>
        </p:nvCxnSpPr>
        <p:spPr>
          <a:xfrm>
            <a:off x="461963" y="1304926"/>
            <a:ext cx="11268075" cy="0"/>
          </a:xfrm>
          <a:prstGeom prst="straightConnector1">
            <a:avLst/>
          </a:prstGeom>
          <a:ln w="14288">
            <a:solidFill>
              <a:srgbClr val="B6C6D2"/>
            </a:solidFill>
            <a:prstDash val="solid"/>
          </a:ln>
        </p:spPr>
      </p:cxnSp>
      <p:sp>
        <p:nvSpPr>
          <p:cNvPr id="6" name="native-530">
            <a:extLst>
              <a:ext uri="{FF2B5EF4-FFF2-40B4-BE49-F238E27FC236}">
                <a16:creationId xmlns:a16="http://schemas.microsoft.com/office/drawing/2014/main" id="{AF4DACC0-7C69-42F3-B9DB-FB6A6149D95F}"/>
              </a:ext>
            </a:extLst>
          </p:cNvPr>
          <p:cNvSpPr>
            <a:spLocks noGrp="1"/>
          </p:cNvSpPr>
          <p:nvPr/>
        </p:nvSpPr>
        <p:spPr>
          <a:xfrm>
            <a:off x="457200" y="6248400"/>
            <a:ext cx="10477500" cy="381000"/>
          </a:xfrm>
          <a:prstGeom prst="rect">
            <a:avLst/>
          </a:prstGeom>
          <a:noFill/>
          <a:ln w="0">
            <a:noFill/>
          </a:ln>
        </p:spPr>
        <p:txBody>
          <a:bodyPr anchor="ctr">
            <a:noAutofit/>
          </a:bodyPr>
          <a:lstStyle/>
          <a:p>
            <a:pPr algn="l">
              <a:defRPr sz="1200" b="0">
                <a:solidFill>
                  <a:srgbClr val="5D6C79"/>
                </a:solidFill>
                <a:latin typeface="Arial"/>
                <a:ea typeface="Arial"/>
                <a:cs typeface="Arial"/>
              </a:defRPr>
            </a:pPr>
            <a:r>
              <a:rPr sz="1200" b="0">
                <a:solidFill>
                  <a:srgbClr val="5D6C79"/>
                </a:solidFill>
                <a:latin typeface="Arial"/>
                <a:ea typeface="Arial"/>
                <a:cs typeface="Arial"/>
              </a:rPr>
              <a:t>Synthetic example: CPT 99213, $150 claimed, $120 paid. The demo creates the EOB; no external payer adjudication appears here.</a:t>
            </a:r>
          </a:p>
        </p:txBody>
      </p:sp>
      <p:sp>
        <p:nvSpPr>
          <p:cNvPr id="7" name="native-531">
            <a:extLst>
              <a:ext uri="{FF2B5EF4-FFF2-40B4-BE49-F238E27FC236}">
                <a16:creationId xmlns:a16="http://schemas.microsoft.com/office/drawing/2014/main" id="{829F8B4B-AB58-47A9-9352-923670224DA1}"/>
              </a:ext>
            </a:extLst>
          </p:cNvPr>
          <p:cNvSpPr>
            <a:spLocks noGrp="1"/>
          </p:cNvSpPr>
          <p:nvPr/>
        </p:nvSpPr>
        <p:spPr>
          <a:xfrm>
            <a:off x="11334750" y="6343650"/>
            <a:ext cx="381000" cy="190500"/>
          </a:xfrm>
          <a:prstGeom prst="rect">
            <a:avLst/>
          </a:prstGeom>
          <a:noFill/>
          <a:ln w="0">
            <a:noFill/>
          </a:ln>
        </p:spPr>
        <p:txBody>
          <a:bodyPr anchor="ctr">
            <a:noAutofit/>
          </a:bodyPr>
          <a:lstStyle/>
          <a:p>
            <a:pPr algn="r">
              <a:defRPr sz="1200" b="0">
                <a:solidFill>
                  <a:srgbClr val="5D6C79"/>
                </a:solidFill>
                <a:latin typeface="Arial"/>
                <a:ea typeface="Arial"/>
                <a:cs typeface="Arial"/>
              </a:defRPr>
            </a:pPr>
            <a:r>
              <a:rPr sz="1200" b="0">
                <a:solidFill>
                  <a:srgbClr val="5D6C79"/>
                </a:solidFill>
                <a:latin typeface="Arial"/>
                <a:ea typeface="Arial"/>
                <a:cs typeface="Arial"/>
              </a:rPr>
              <a:t>27</a:t>
            </a:r>
          </a:p>
        </p:txBody>
      </p:sp>
      <p:sp>
        <p:nvSpPr>
          <p:cNvPr id="8" name="native-532">
            <a:extLst>
              <a:ext uri="{FF2B5EF4-FFF2-40B4-BE49-F238E27FC236}">
                <a16:creationId xmlns:a16="http://schemas.microsoft.com/office/drawing/2014/main" id="{E9060240-B712-47A4-A46C-A10EE957F109}"/>
              </a:ext>
            </a:extLst>
          </p:cNvPr>
          <p:cNvSpPr>
            <a:spLocks noGrp="1"/>
          </p:cNvSpPr>
          <p:nvPr/>
        </p:nvSpPr>
        <p:spPr>
          <a:xfrm>
            <a:off x="904875" y="1485900"/>
            <a:ext cx="2381250" cy="647700"/>
          </a:xfrm>
          <a:prstGeom prst="rect">
            <a:avLst/>
          </a:prstGeom>
          <a:solidFill>
            <a:srgbClr val="E2F2F1"/>
          </a:solidFill>
          <a:ln w="9525">
            <a:solidFill>
              <a:srgbClr val="B6C6D2"/>
            </a:solidFill>
          </a:ln>
        </p:spPr>
        <p:txBody>
          <a:bodyPr/>
          <a:lstStyle/>
          <a:p>
            <a:endParaRPr lang="en-US"/>
          </a:p>
        </p:txBody>
      </p:sp>
      <p:sp>
        <p:nvSpPr>
          <p:cNvPr id="9" name="native-533">
            <a:extLst>
              <a:ext uri="{FF2B5EF4-FFF2-40B4-BE49-F238E27FC236}">
                <a16:creationId xmlns:a16="http://schemas.microsoft.com/office/drawing/2014/main" id="{DBA93144-D7ED-4996-A517-4E35110EEBE6}"/>
              </a:ext>
            </a:extLst>
          </p:cNvPr>
          <p:cNvSpPr>
            <a:spLocks noGrp="1"/>
          </p:cNvSpPr>
          <p:nvPr/>
        </p:nvSpPr>
        <p:spPr>
          <a:xfrm>
            <a:off x="1038225"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Demo client</a:t>
            </a:r>
          </a:p>
        </p:txBody>
      </p:sp>
      <p:sp>
        <p:nvSpPr>
          <p:cNvPr id="10" name="native-534">
            <a:extLst>
              <a:ext uri="{FF2B5EF4-FFF2-40B4-BE49-F238E27FC236}">
                <a16:creationId xmlns:a16="http://schemas.microsoft.com/office/drawing/2014/main" id="{A717FB80-8183-494B-90F3-6CE6F790E81F}"/>
              </a:ext>
            </a:extLst>
          </p:cNvPr>
          <p:cNvSpPr>
            <a:spLocks noGrp="1"/>
          </p:cNvSpPr>
          <p:nvPr/>
        </p:nvSpPr>
        <p:spPr>
          <a:xfrm>
            <a:off x="1038225"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Reference assembly</a:t>
            </a:r>
          </a:p>
        </p:txBody>
      </p:sp>
      <p:sp>
        <p:nvSpPr>
          <p:cNvPr id="11" name="native-535">
            <a:extLst>
              <a:ext uri="{FF2B5EF4-FFF2-40B4-BE49-F238E27FC236}">
                <a16:creationId xmlns:a16="http://schemas.microsoft.com/office/drawing/2014/main" id="{C09B791E-C195-4936-AC04-0C64A2035695}"/>
              </a:ext>
            </a:extLst>
          </p:cNvPr>
          <p:cNvSpPr>
            <a:spLocks noGrp="1"/>
          </p:cNvSpPr>
          <p:nvPr/>
        </p:nvSpPr>
        <p:spPr>
          <a:xfrm>
            <a:off x="2090738" y="2128838"/>
            <a:ext cx="9525" cy="9525"/>
          </a:xfrm>
          <a:prstGeom prst="rect">
            <a:avLst/>
          </a:prstGeom>
          <a:noFill/>
          <a:ln w="0">
            <a:noFill/>
          </a:ln>
        </p:spPr>
        <p:txBody>
          <a:bodyPr/>
          <a:lstStyle/>
          <a:p>
            <a:endParaRPr lang="en-US"/>
          </a:p>
        </p:txBody>
      </p:sp>
      <p:sp>
        <p:nvSpPr>
          <p:cNvPr id="12" name="native-536">
            <a:extLst>
              <a:ext uri="{FF2B5EF4-FFF2-40B4-BE49-F238E27FC236}">
                <a16:creationId xmlns:a16="http://schemas.microsoft.com/office/drawing/2014/main" id="{C695377C-EA03-4957-BA51-E995AE702E67}"/>
              </a:ext>
            </a:extLst>
          </p:cNvPr>
          <p:cNvSpPr>
            <a:spLocks noGrp="1"/>
          </p:cNvSpPr>
          <p:nvPr/>
        </p:nvSpPr>
        <p:spPr>
          <a:xfrm>
            <a:off x="2090738" y="5948363"/>
            <a:ext cx="9525" cy="9525"/>
          </a:xfrm>
          <a:prstGeom prst="rect">
            <a:avLst/>
          </a:prstGeom>
          <a:noFill/>
          <a:ln w="0">
            <a:noFill/>
          </a:ln>
        </p:spPr>
        <p:txBody>
          <a:bodyPr/>
          <a:lstStyle/>
          <a:p>
            <a:endParaRPr lang="en-US"/>
          </a:p>
        </p:txBody>
      </p:sp>
      <p:cxnSp>
        <p:nvCxnSpPr>
          <p:cNvPr id="72" name="Straight Arrow Connector 71"/>
          <p:cNvCxnSpPr>
            <a:stCxn id="11" idx="3"/>
            <a:endCxn id="12" idx="1"/>
          </p:cNvCxnSpPr>
          <p:nvPr/>
        </p:nvCxnSpPr>
        <p:spPr>
          <a:xfrm flipH="1">
            <a:off x="2090738" y="2133601"/>
            <a:ext cx="9525" cy="3819525"/>
          </a:xfrm>
          <a:prstGeom prst="straightConnector1">
            <a:avLst/>
          </a:prstGeom>
          <a:ln w="14288">
            <a:solidFill>
              <a:srgbClr val="B6C6D2"/>
            </a:solidFill>
            <a:prstDash val="dash"/>
          </a:ln>
        </p:spPr>
      </p:cxnSp>
      <p:sp>
        <p:nvSpPr>
          <p:cNvPr id="14" name="native-537">
            <a:extLst>
              <a:ext uri="{FF2B5EF4-FFF2-40B4-BE49-F238E27FC236}">
                <a16:creationId xmlns:a16="http://schemas.microsoft.com/office/drawing/2014/main" id="{D6108CB2-2049-45A3-840D-EDF5D7B4C7F6}"/>
              </a:ext>
            </a:extLst>
          </p:cNvPr>
          <p:cNvSpPr>
            <a:spLocks noGrp="1"/>
          </p:cNvSpPr>
          <p:nvPr/>
        </p:nvSpPr>
        <p:spPr>
          <a:xfrm>
            <a:off x="7572375" y="1485900"/>
            <a:ext cx="2381250" cy="647700"/>
          </a:xfrm>
          <a:prstGeom prst="rect">
            <a:avLst/>
          </a:prstGeom>
          <a:solidFill>
            <a:srgbClr val="E8EFF5"/>
          </a:solidFill>
          <a:ln w="9525">
            <a:solidFill>
              <a:srgbClr val="B6C6D2"/>
            </a:solidFill>
          </a:ln>
        </p:spPr>
        <p:txBody>
          <a:bodyPr/>
          <a:lstStyle/>
          <a:p>
            <a:endParaRPr lang="en-US"/>
          </a:p>
        </p:txBody>
      </p:sp>
      <p:sp>
        <p:nvSpPr>
          <p:cNvPr id="15" name="native-538">
            <a:extLst>
              <a:ext uri="{FF2B5EF4-FFF2-40B4-BE49-F238E27FC236}">
                <a16:creationId xmlns:a16="http://schemas.microsoft.com/office/drawing/2014/main" id="{3DE2DCE8-1F38-482C-825C-806349A9A772}"/>
              </a:ext>
            </a:extLst>
          </p:cNvPr>
          <p:cNvSpPr>
            <a:spLocks noGrp="1"/>
          </p:cNvSpPr>
          <p:nvPr/>
        </p:nvSpPr>
        <p:spPr>
          <a:xfrm>
            <a:off x="7705725" y="1562100"/>
            <a:ext cx="2114550" cy="333375"/>
          </a:xfrm>
          <a:prstGeom prst="rect">
            <a:avLst/>
          </a:prstGeom>
          <a:noFill/>
          <a:ln w="0">
            <a:noFill/>
          </a:ln>
        </p:spPr>
        <p:txBody>
          <a:bodyPr anchor="ctr">
            <a:noAutofit/>
          </a:bodyPr>
          <a:lstStyle/>
          <a:p>
            <a:pPr algn="l">
              <a:defRPr sz="1875" b="1">
                <a:solidFill>
                  <a:srgbClr val="10243A"/>
                </a:solidFill>
                <a:latin typeface="Arial"/>
                <a:ea typeface="Arial"/>
                <a:cs typeface="Arial"/>
              </a:defRPr>
            </a:pPr>
            <a:r>
              <a:rPr sz="1875" b="1">
                <a:solidFill>
                  <a:srgbClr val="10243A"/>
                </a:solidFill>
                <a:latin typeface="Arial"/>
                <a:ea typeface="Arial"/>
                <a:cs typeface="Arial"/>
              </a:rPr>
              <a:t>FHIR server</a:t>
            </a:r>
          </a:p>
        </p:txBody>
      </p:sp>
      <p:sp>
        <p:nvSpPr>
          <p:cNvPr id="16" name="native-539">
            <a:extLst>
              <a:ext uri="{FF2B5EF4-FFF2-40B4-BE49-F238E27FC236}">
                <a16:creationId xmlns:a16="http://schemas.microsoft.com/office/drawing/2014/main" id="{3FDA5A2C-BB01-4627-9730-ED0F5F2536D8}"/>
              </a:ext>
            </a:extLst>
          </p:cNvPr>
          <p:cNvSpPr>
            <a:spLocks noGrp="1"/>
          </p:cNvSpPr>
          <p:nvPr/>
        </p:nvSpPr>
        <p:spPr>
          <a:xfrm>
            <a:off x="7705725" y="1895475"/>
            <a:ext cx="2114550" cy="180975"/>
          </a:xfrm>
          <a:prstGeom prst="rect">
            <a:avLst/>
          </a:prstGeom>
          <a:noFill/>
          <a:ln w="0">
            <a:noFill/>
          </a:ln>
        </p:spPr>
        <p:txBody>
          <a:bodyPr anchor="ctr">
            <a:noAutofit/>
          </a:bodyPr>
          <a:lstStyle/>
          <a:p>
            <a:pPr algn="l">
              <a:defRPr sz="1425" b="0">
                <a:solidFill>
                  <a:srgbClr val="5D6C79"/>
                </a:solidFill>
                <a:latin typeface="Arial"/>
                <a:ea typeface="Arial"/>
                <a:cs typeface="Arial"/>
              </a:defRPr>
            </a:pPr>
            <a:r>
              <a:rPr sz="1425" b="0">
                <a:solidFill>
                  <a:srgbClr val="5D6C79"/>
                </a:solidFill>
                <a:latin typeface="Arial"/>
                <a:ea typeface="Arial"/>
                <a:cs typeface="Arial"/>
              </a:rPr>
              <a:t>Persists each resource</a:t>
            </a:r>
          </a:p>
        </p:txBody>
      </p:sp>
      <p:sp>
        <p:nvSpPr>
          <p:cNvPr id="17" name="native-540">
            <a:extLst>
              <a:ext uri="{FF2B5EF4-FFF2-40B4-BE49-F238E27FC236}">
                <a16:creationId xmlns:a16="http://schemas.microsoft.com/office/drawing/2014/main" id="{929E12D6-877A-4ABA-AFA2-3CAA2B363989}"/>
              </a:ext>
            </a:extLst>
          </p:cNvPr>
          <p:cNvSpPr>
            <a:spLocks noGrp="1"/>
          </p:cNvSpPr>
          <p:nvPr/>
        </p:nvSpPr>
        <p:spPr>
          <a:xfrm>
            <a:off x="8758238" y="2128838"/>
            <a:ext cx="9525" cy="9525"/>
          </a:xfrm>
          <a:prstGeom prst="rect">
            <a:avLst/>
          </a:prstGeom>
          <a:noFill/>
          <a:ln w="0">
            <a:noFill/>
          </a:ln>
        </p:spPr>
        <p:txBody>
          <a:bodyPr/>
          <a:lstStyle/>
          <a:p>
            <a:endParaRPr lang="en-US"/>
          </a:p>
        </p:txBody>
      </p:sp>
      <p:sp>
        <p:nvSpPr>
          <p:cNvPr id="18" name="native-541">
            <a:extLst>
              <a:ext uri="{FF2B5EF4-FFF2-40B4-BE49-F238E27FC236}">
                <a16:creationId xmlns:a16="http://schemas.microsoft.com/office/drawing/2014/main" id="{886068FD-66EB-4F75-ACAD-A8349D92DA89}"/>
              </a:ext>
            </a:extLst>
          </p:cNvPr>
          <p:cNvSpPr>
            <a:spLocks noGrp="1"/>
          </p:cNvSpPr>
          <p:nvPr/>
        </p:nvSpPr>
        <p:spPr>
          <a:xfrm>
            <a:off x="8758238" y="5948363"/>
            <a:ext cx="9525" cy="9525"/>
          </a:xfrm>
          <a:prstGeom prst="rect">
            <a:avLst/>
          </a:prstGeom>
          <a:noFill/>
          <a:ln w="0">
            <a:noFill/>
          </a:ln>
        </p:spPr>
        <p:txBody>
          <a:bodyPr/>
          <a:lstStyle/>
          <a:p>
            <a:endParaRPr lang="en-US"/>
          </a:p>
        </p:txBody>
      </p:sp>
      <p:cxnSp>
        <p:nvCxnSpPr>
          <p:cNvPr id="78" name="Straight Arrow Connector 77"/>
          <p:cNvCxnSpPr>
            <a:stCxn id="17" idx="3"/>
            <a:endCxn id="18" idx="1"/>
          </p:cNvCxnSpPr>
          <p:nvPr/>
        </p:nvCxnSpPr>
        <p:spPr>
          <a:xfrm flipH="1">
            <a:off x="8758238" y="2133601"/>
            <a:ext cx="9525" cy="3819525"/>
          </a:xfrm>
          <a:prstGeom prst="straightConnector1">
            <a:avLst/>
          </a:prstGeom>
          <a:ln w="14288">
            <a:solidFill>
              <a:srgbClr val="B6C6D2"/>
            </a:solidFill>
            <a:prstDash val="dash"/>
          </a:ln>
        </p:spPr>
      </p:cxnSp>
      <p:sp>
        <p:nvSpPr>
          <p:cNvPr id="20" name="native-542">
            <a:extLst>
              <a:ext uri="{FF2B5EF4-FFF2-40B4-BE49-F238E27FC236}">
                <a16:creationId xmlns:a16="http://schemas.microsoft.com/office/drawing/2014/main" id="{081F6DC9-3605-4F0A-BBC8-F9CA3D241ED9}"/>
              </a:ext>
            </a:extLst>
          </p:cNvPr>
          <p:cNvSpPr>
            <a:spLocks noGrp="1"/>
          </p:cNvSpPr>
          <p:nvPr/>
        </p:nvSpPr>
        <p:spPr>
          <a:xfrm>
            <a:off x="2090738" y="2538413"/>
            <a:ext cx="9525" cy="9525"/>
          </a:xfrm>
          <a:prstGeom prst="rect">
            <a:avLst/>
          </a:prstGeom>
          <a:noFill/>
          <a:ln w="0">
            <a:noFill/>
          </a:ln>
        </p:spPr>
        <p:txBody>
          <a:bodyPr/>
          <a:lstStyle/>
          <a:p>
            <a:endParaRPr lang="en-US"/>
          </a:p>
        </p:txBody>
      </p:sp>
      <p:sp>
        <p:nvSpPr>
          <p:cNvPr id="21" name="native-543">
            <a:extLst>
              <a:ext uri="{FF2B5EF4-FFF2-40B4-BE49-F238E27FC236}">
                <a16:creationId xmlns:a16="http://schemas.microsoft.com/office/drawing/2014/main" id="{65A9A94D-C954-4C95-90ED-10EFBDDBEEE2}"/>
              </a:ext>
            </a:extLst>
          </p:cNvPr>
          <p:cNvSpPr>
            <a:spLocks noGrp="1"/>
          </p:cNvSpPr>
          <p:nvPr/>
        </p:nvSpPr>
        <p:spPr>
          <a:xfrm>
            <a:off x="8758238" y="2538413"/>
            <a:ext cx="9525" cy="9525"/>
          </a:xfrm>
          <a:prstGeom prst="rect">
            <a:avLst/>
          </a:prstGeom>
          <a:noFill/>
          <a:ln w="0">
            <a:noFill/>
          </a:ln>
        </p:spPr>
        <p:txBody>
          <a:bodyPr/>
          <a:lstStyle/>
          <a:p>
            <a:endParaRPr lang="en-US"/>
          </a:p>
        </p:txBody>
      </p:sp>
      <p:cxnSp>
        <p:nvCxnSpPr>
          <p:cNvPr id="81" name="Straight Arrow Connector 80"/>
          <p:cNvCxnSpPr>
            <a:stCxn id="20" idx="3"/>
            <a:endCxn id="21" idx="1"/>
          </p:cNvCxnSpPr>
          <p:nvPr/>
        </p:nvCxnSpPr>
        <p:spPr>
          <a:xfrm>
            <a:off x="2100263" y="2543176"/>
            <a:ext cx="6657975" cy="0"/>
          </a:xfrm>
          <a:prstGeom prst="straightConnector1">
            <a:avLst/>
          </a:prstGeom>
          <a:ln w="19050">
            <a:solidFill>
              <a:srgbClr val="0F8B8D"/>
            </a:solidFill>
            <a:prstDash val="solid"/>
            <a:tailEnd type="triangle" w="med" len="med"/>
          </a:ln>
        </p:spPr>
      </p:cxnSp>
      <p:sp>
        <p:nvSpPr>
          <p:cNvPr id="23" name="native-544">
            <a:extLst>
              <a:ext uri="{FF2B5EF4-FFF2-40B4-BE49-F238E27FC236}">
                <a16:creationId xmlns:a16="http://schemas.microsoft.com/office/drawing/2014/main" id="{AD6D82CC-F250-4411-8B32-66EBE5A42783}"/>
              </a:ext>
            </a:extLst>
          </p:cNvPr>
          <p:cNvSpPr>
            <a:spLocks noGrp="1"/>
          </p:cNvSpPr>
          <p:nvPr/>
        </p:nvSpPr>
        <p:spPr>
          <a:xfrm>
            <a:off x="2190750" y="2276475"/>
            <a:ext cx="6477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POST /fhir/Patient</a:t>
            </a:r>
          </a:p>
        </p:txBody>
      </p:sp>
      <p:sp>
        <p:nvSpPr>
          <p:cNvPr id="24" name="native-545">
            <a:extLst>
              <a:ext uri="{FF2B5EF4-FFF2-40B4-BE49-F238E27FC236}">
                <a16:creationId xmlns:a16="http://schemas.microsoft.com/office/drawing/2014/main" id="{3A2F315A-F390-4B08-861A-0E9D0BB41039}"/>
              </a:ext>
            </a:extLst>
          </p:cNvPr>
          <p:cNvSpPr>
            <a:spLocks noGrp="1"/>
          </p:cNvSpPr>
          <p:nvPr/>
        </p:nvSpPr>
        <p:spPr>
          <a:xfrm>
            <a:off x="8758238" y="2862263"/>
            <a:ext cx="9525" cy="9525"/>
          </a:xfrm>
          <a:prstGeom prst="rect">
            <a:avLst/>
          </a:prstGeom>
          <a:noFill/>
          <a:ln w="0">
            <a:noFill/>
          </a:ln>
        </p:spPr>
        <p:txBody>
          <a:bodyPr/>
          <a:lstStyle/>
          <a:p>
            <a:endParaRPr lang="en-US"/>
          </a:p>
        </p:txBody>
      </p:sp>
      <p:sp>
        <p:nvSpPr>
          <p:cNvPr id="25" name="native-546">
            <a:extLst>
              <a:ext uri="{FF2B5EF4-FFF2-40B4-BE49-F238E27FC236}">
                <a16:creationId xmlns:a16="http://schemas.microsoft.com/office/drawing/2014/main" id="{6FAE827D-873B-46C1-B4F6-8CE4CC118CF8}"/>
              </a:ext>
            </a:extLst>
          </p:cNvPr>
          <p:cNvSpPr>
            <a:spLocks noGrp="1"/>
          </p:cNvSpPr>
          <p:nvPr/>
        </p:nvSpPr>
        <p:spPr>
          <a:xfrm>
            <a:off x="2090738" y="2862263"/>
            <a:ext cx="9525" cy="9525"/>
          </a:xfrm>
          <a:prstGeom prst="rect">
            <a:avLst/>
          </a:prstGeom>
          <a:noFill/>
          <a:ln w="0">
            <a:noFill/>
          </a:ln>
        </p:spPr>
        <p:txBody>
          <a:bodyPr/>
          <a:lstStyle/>
          <a:p>
            <a:endParaRPr lang="en-US"/>
          </a:p>
        </p:txBody>
      </p:sp>
      <p:cxnSp>
        <p:nvCxnSpPr>
          <p:cNvPr id="85" name="Straight Arrow Connector 84"/>
          <p:cNvCxnSpPr>
            <a:stCxn id="24" idx="3"/>
            <a:endCxn id="25" idx="1"/>
          </p:cNvCxnSpPr>
          <p:nvPr/>
        </p:nvCxnSpPr>
        <p:spPr>
          <a:xfrm flipH="1">
            <a:off x="2090738" y="2867026"/>
            <a:ext cx="6677025" cy="0"/>
          </a:xfrm>
          <a:prstGeom prst="straightConnector1">
            <a:avLst/>
          </a:prstGeom>
          <a:ln w="19050">
            <a:solidFill>
              <a:srgbClr val="3478B9"/>
            </a:solidFill>
            <a:prstDash val="dash"/>
            <a:tailEnd type="triangle" w="med" len="med"/>
          </a:ln>
        </p:spPr>
      </p:cxnSp>
      <p:sp>
        <p:nvSpPr>
          <p:cNvPr id="27" name="native-547">
            <a:extLst>
              <a:ext uri="{FF2B5EF4-FFF2-40B4-BE49-F238E27FC236}">
                <a16:creationId xmlns:a16="http://schemas.microsoft.com/office/drawing/2014/main" id="{D208FB90-0D03-4827-8C66-57BF47FC2D55}"/>
              </a:ext>
            </a:extLst>
          </p:cNvPr>
          <p:cNvSpPr>
            <a:spLocks noGrp="1"/>
          </p:cNvSpPr>
          <p:nvPr/>
        </p:nvSpPr>
        <p:spPr>
          <a:xfrm>
            <a:off x="2190750" y="2600325"/>
            <a:ext cx="6477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Patient.id = p1</a:t>
            </a:r>
          </a:p>
        </p:txBody>
      </p:sp>
      <p:sp>
        <p:nvSpPr>
          <p:cNvPr id="28" name="native-548">
            <a:extLst>
              <a:ext uri="{FF2B5EF4-FFF2-40B4-BE49-F238E27FC236}">
                <a16:creationId xmlns:a16="http://schemas.microsoft.com/office/drawing/2014/main" id="{971A722E-D5E0-4157-A515-E062DE5AC6BF}"/>
              </a:ext>
            </a:extLst>
          </p:cNvPr>
          <p:cNvSpPr>
            <a:spLocks noGrp="1"/>
          </p:cNvSpPr>
          <p:nvPr/>
        </p:nvSpPr>
        <p:spPr>
          <a:xfrm>
            <a:off x="2090738" y="3186113"/>
            <a:ext cx="9525" cy="9525"/>
          </a:xfrm>
          <a:prstGeom prst="rect">
            <a:avLst/>
          </a:prstGeom>
          <a:noFill/>
          <a:ln w="0">
            <a:noFill/>
          </a:ln>
        </p:spPr>
        <p:txBody>
          <a:bodyPr/>
          <a:lstStyle/>
          <a:p>
            <a:endParaRPr lang="en-US"/>
          </a:p>
        </p:txBody>
      </p:sp>
      <p:sp>
        <p:nvSpPr>
          <p:cNvPr id="29" name="native-549">
            <a:extLst>
              <a:ext uri="{FF2B5EF4-FFF2-40B4-BE49-F238E27FC236}">
                <a16:creationId xmlns:a16="http://schemas.microsoft.com/office/drawing/2014/main" id="{EB0B6297-9B1A-4D40-A15E-B0BAED578CB5}"/>
              </a:ext>
            </a:extLst>
          </p:cNvPr>
          <p:cNvSpPr>
            <a:spLocks noGrp="1"/>
          </p:cNvSpPr>
          <p:nvPr/>
        </p:nvSpPr>
        <p:spPr>
          <a:xfrm>
            <a:off x="8758238" y="3186113"/>
            <a:ext cx="9525" cy="9525"/>
          </a:xfrm>
          <a:prstGeom prst="rect">
            <a:avLst/>
          </a:prstGeom>
          <a:noFill/>
          <a:ln w="0">
            <a:noFill/>
          </a:ln>
        </p:spPr>
        <p:txBody>
          <a:bodyPr/>
          <a:lstStyle/>
          <a:p>
            <a:endParaRPr lang="en-US"/>
          </a:p>
        </p:txBody>
      </p:sp>
      <p:cxnSp>
        <p:nvCxnSpPr>
          <p:cNvPr id="89" name="Straight Arrow Connector 88"/>
          <p:cNvCxnSpPr>
            <a:stCxn id="28" idx="3"/>
            <a:endCxn id="29" idx="1"/>
          </p:cNvCxnSpPr>
          <p:nvPr/>
        </p:nvCxnSpPr>
        <p:spPr>
          <a:xfrm>
            <a:off x="2100263" y="3190876"/>
            <a:ext cx="6657975" cy="0"/>
          </a:xfrm>
          <a:prstGeom prst="straightConnector1">
            <a:avLst/>
          </a:prstGeom>
          <a:ln w="19050">
            <a:solidFill>
              <a:srgbClr val="0F8B8D"/>
            </a:solidFill>
            <a:prstDash val="solid"/>
            <a:tailEnd type="triangle" w="med" len="med"/>
          </a:ln>
        </p:spPr>
      </p:cxnSp>
      <p:sp>
        <p:nvSpPr>
          <p:cNvPr id="31" name="native-550">
            <a:extLst>
              <a:ext uri="{FF2B5EF4-FFF2-40B4-BE49-F238E27FC236}">
                <a16:creationId xmlns:a16="http://schemas.microsoft.com/office/drawing/2014/main" id="{FB4CD1D6-DCE0-4025-BD2D-1EB83DCB4A36}"/>
              </a:ext>
            </a:extLst>
          </p:cNvPr>
          <p:cNvSpPr>
            <a:spLocks noGrp="1"/>
          </p:cNvSpPr>
          <p:nvPr/>
        </p:nvSpPr>
        <p:spPr>
          <a:xfrm>
            <a:off x="2190750" y="2924175"/>
            <a:ext cx="6477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POST /fhir/Encounter, subject = Patient/p1</a:t>
            </a:r>
          </a:p>
        </p:txBody>
      </p:sp>
      <p:sp>
        <p:nvSpPr>
          <p:cNvPr id="32" name="native-551">
            <a:extLst>
              <a:ext uri="{FF2B5EF4-FFF2-40B4-BE49-F238E27FC236}">
                <a16:creationId xmlns:a16="http://schemas.microsoft.com/office/drawing/2014/main" id="{89952C6C-88A7-403E-9259-A5A88E3158D5}"/>
              </a:ext>
            </a:extLst>
          </p:cNvPr>
          <p:cNvSpPr>
            <a:spLocks noGrp="1"/>
          </p:cNvSpPr>
          <p:nvPr/>
        </p:nvSpPr>
        <p:spPr>
          <a:xfrm>
            <a:off x="8758238" y="3509963"/>
            <a:ext cx="9525" cy="9525"/>
          </a:xfrm>
          <a:prstGeom prst="rect">
            <a:avLst/>
          </a:prstGeom>
          <a:noFill/>
          <a:ln w="0">
            <a:noFill/>
          </a:ln>
        </p:spPr>
        <p:txBody>
          <a:bodyPr/>
          <a:lstStyle/>
          <a:p>
            <a:endParaRPr lang="en-US"/>
          </a:p>
        </p:txBody>
      </p:sp>
      <p:sp>
        <p:nvSpPr>
          <p:cNvPr id="33" name="native-552">
            <a:extLst>
              <a:ext uri="{FF2B5EF4-FFF2-40B4-BE49-F238E27FC236}">
                <a16:creationId xmlns:a16="http://schemas.microsoft.com/office/drawing/2014/main" id="{42028F1F-D7CE-4D80-ACB8-A5C3F76597D6}"/>
              </a:ext>
            </a:extLst>
          </p:cNvPr>
          <p:cNvSpPr>
            <a:spLocks noGrp="1"/>
          </p:cNvSpPr>
          <p:nvPr/>
        </p:nvSpPr>
        <p:spPr>
          <a:xfrm>
            <a:off x="2090738" y="3509963"/>
            <a:ext cx="9525" cy="9525"/>
          </a:xfrm>
          <a:prstGeom prst="rect">
            <a:avLst/>
          </a:prstGeom>
          <a:noFill/>
          <a:ln w="0">
            <a:noFill/>
          </a:ln>
        </p:spPr>
        <p:txBody>
          <a:bodyPr/>
          <a:lstStyle/>
          <a:p>
            <a:endParaRPr lang="en-US"/>
          </a:p>
        </p:txBody>
      </p:sp>
      <p:cxnSp>
        <p:nvCxnSpPr>
          <p:cNvPr id="93" name="Straight Arrow Connector 92"/>
          <p:cNvCxnSpPr>
            <a:stCxn id="32" idx="3"/>
            <a:endCxn id="33" idx="1"/>
          </p:cNvCxnSpPr>
          <p:nvPr/>
        </p:nvCxnSpPr>
        <p:spPr>
          <a:xfrm flipH="1">
            <a:off x="2090738" y="3514726"/>
            <a:ext cx="6677025" cy="0"/>
          </a:xfrm>
          <a:prstGeom prst="straightConnector1">
            <a:avLst/>
          </a:prstGeom>
          <a:ln w="19050">
            <a:solidFill>
              <a:srgbClr val="3478B9"/>
            </a:solidFill>
            <a:prstDash val="dash"/>
            <a:tailEnd type="triangle" w="med" len="med"/>
          </a:ln>
        </p:spPr>
      </p:cxnSp>
      <p:sp>
        <p:nvSpPr>
          <p:cNvPr id="35" name="native-553">
            <a:extLst>
              <a:ext uri="{FF2B5EF4-FFF2-40B4-BE49-F238E27FC236}">
                <a16:creationId xmlns:a16="http://schemas.microsoft.com/office/drawing/2014/main" id="{F6A85211-9D22-43CA-833A-FEE80DFDB8F5}"/>
              </a:ext>
            </a:extLst>
          </p:cNvPr>
          <p:cNvSpPr>
            <a:spLocks noGrp="1"/>
          </p:cNvSpPr>
          <p:nvPr/>
        </p:nvSpPr>
        <p:spPr>
          <a:xfrm>
            <a:off x="2190750" y="3248025"/>
            <a:ext cx="6477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Encounter.id = e1</a:t>
            </a:r>
          </a:p>
        </p:txBody>
      </p:sp>
      <p:sp>
        <p:nvSpPr>
          <p:cNvPr id="36" name="native-554">
            <a:extLst>
              <a:ext uri="{FF2B5EF4-FFF2-40B4-BE49-F238E27FC236}">
                <a16:creationId xmlns:a16="http://schemas.microsoft.com/office/drawing/2014/main" id="{48CFDD89-8CA6-4BC2-A317-88F33D01EC8F}"/>
              </a:ext>
            </a:extLst>
          </p:cNvPr>
          <p:cNvSpPr>
            <a:spLocks noGrp="1"/>
          </p:cNvSpPr>
          <p:nvPr/>
        </p:nvSpPr>
        <p:spPr>
          <a:xfrm>
            <a:off x="2090738" y="3833813"/>
            <a:ext cx="9525" cy="9525"/>
          </a:xfrm>
          <a:prstGeom prst="rect">
            <a:avLst/>
          </a:prstGeom>
          <a:noFill/>
          <a:ln w="0">
            <a:noFill/>
          </a:ln>
        </p:spPr>
        <p:txBody>
          <a:bodyPr/>
          <a:lstStyle/>
          <a:p>
            <a:endParaRPr lang="en-US"/>
          </a:p>
        </p:txBody>
      </p:sp>
      <p:sp>
        <p:nvSpPr>
          <p:cNvPr id="37" name="native-555">
            <a:extLst>
              <a:ext uri="{FF2B5EF4-FFF2-40B4-BE49-F238E27FC236}">
                <a16:creationId xmlns:a16="http://schemas.microsoft.com/office/drawing/2014/main" id="{CAFE4ADB-E9E4-4D3B-AE98-12CAC32E58BA}"/>
              </a:ext>
            </a:extLst>
          </p:cNvPr>
          <p:cNvSpPr>
            <a:spLocks noGrp="1"/>
          </p:cNvSpPr>
          <p:nvPr/>
        </p:nvSpPr>
        <p:spPr>
          <a:xfrm>
            <a:off x="8758238" y="3833813"/>
            <a:ext cx="9525" cy="9525"/>
          </a:xfrm>
          <a:prstGeom prst="rect">
            <a:avLst/>
          </a:prstGeom>
          <a:noFill/>
          <a:ln w="0">
            <a:noFill/>
          </a:ln>
        </p:spPr>
        <p:txBody>
          <a:bodyPr/>
          <a:lstStyle/>
          <a:p>
            <a:endParaRPr lang="en-US"/>
          </a:p>
        </p:txBody>
      </p:sp>
      <p:cxnSp>
        <p:nvCxnSpPr>
          <p:cNvPr id="97" name="Straight Arrow Connector 96"/>
          <p:cNvCxnSpPr>
            <a:stCxn id="36" idx="3"/>
            <a:endCxn id="37" idx="1"/>
          </p:cNvCxnSpPr>
          <p:nvPr/>
        </p:nvCxnSpPr>
        <p:spPr>
          <a:xfrm>
            <a:off x="2100263" y="3838576"/>
            <a:ext cx="6657975" cy="0"/>
          </a:xfrm>
          <a:prstGeom prst="straightConnector1">
            <a:avLst/>
          </a:prstGeom>
          <a:ln w="19050">
            <a:solidFill>
              <a:srgbClr val="0F8B8D"/>
            </a:solidFill>
            <a:prstDash val="solid"/>
            <a:tailEnd type="triangle" w="med" len="med"/>
          </a:ln>
        </p:spPr>
      </p:cxnSp>
      <p:sp>
        <p:nvSpPr>
          <p:cNvPr id="39" name="native-556">
            <a:extLst>
              <a:ext uri="{FF2B5EF4-FFF2-40B4-BE49-F238E27FC236}">
                <a16:creationId xmlns:a16="http://schemas.microsoft.com/office/drawing/2014/main" id="{435FA321-183B-4E1C-990C-DAB09047ACDA}"/>
              </a:ext>
            </a:extLst>
          </p:cNvPr>
          <p:cNvSpPr>
            <a:spLocks noGrp="1"/>
          </p:cNvSpPr>
          <p:nvPr/>
        </p:nvSpPr>
        <p:spPr>
          <a:xfrm>
            <a:off x="2190750" y="3571875"/>
            <a:ext cx="6477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POST /fhir/Condition, subject p1, encounter e1</a:t>
            </a:r>
          </a:p>
        </p:txBody>
      </p:sp>
      <p:sp>
        <p:nvSpPr>
          <p:cNvPr id="40" name="native-557">
            <a:extLst>
              <a:ext uri="{FF2B5EF4-FFF2-40B4-BE49-F238E27FC236}">
                <a16:creationId xmlns:a16="http://schemas.microsoft.com/office/drawing/2014/main" id="{BB00CBBC-50AC-45E2-98ED-F9C441DFC29B}"/>
              </a:ext>
            </a:extLst>
          </p:cNvPr>
          <p:cNvSpPr>
            <a:spLocks noGrp="1"/>
          </p:cNvSpPr>
          <p:nvPr/>
        </p:nvSpPr>
        <p:spPr>
          <a:xfrm>
            <a:off x="8758238" y="4157663"/>
            <a:ext cx="9525" cy="9525"/>
          </a:xfrm>
          <a:prstGeom prst="rect">
            <a:avLst/>
          </a:prstGeom>
          <a:noFill/>
          <a:ln w="0">
            <a:noFill/>
          </a:ln>
        </p:spPr>
        <p:txBody>
          <a:bodyPr/>
          <a:lstStyle/>
          <a:p>
            <a:endParaRPr lang="en-US"/>
          </a:p>
        </p:txBody>
      </p:sp>
      <p:sp>
        <p:nvSpPr>
          <p:cNvPr id="41" name="native-558">
            <a:extLst>
              <a:ext uri="{FF2B5EF4-FFF2-40B4-BE49-F238E27FC236}">
                <a16:creationId xmlns:a16="http://schemas.microsoft.com/office/drawing/2014/main" id="{AB9EAD8B-5D15-4CBF-B0D9-52FEF35E9E0D}"/>
              </a:ext>
            </a:extLst>
          </p:cNvPr>
          <p:cNvSpPr>
            <a:spLocks noGrp="1"/>
          </p:cNvSpPr>
          <p:nvPr/>
        </p:nvSpPr>
        <p:spPr>
          <a:xfrm>
            <a:off x="2090738" y="4157663"/>
            <a:ext cx="9525" cy="9525"/>
          </a:xfrm>
          <a:prstGeom prst="rect">
            <a:avLst/>
          </a:prstGeom>
          <a:noFill/>
          <a:ln w="0">
            <a:noFill/>
          </a:ln>
        </p:spPr>
        <p:txBody>
          <a:bodyPr/>
          <a:lstStyle/>
          <a:p>
            <a:endParaRPr lang="en-US"/>
          </a:p>
        </p:txBody>
      </p:sp>
      <p:cxnSp>
        <p:nvCxnSpPr>
          <p:cNvPr id="101" name="Straight Arrow Connector 100"/>
          <p:cNvCxnSpPr>
            <a:stCxn id="40" idx="3"/>
            <a:endCxn id="41" idx="1"/>
          </p:cNvCxnSpPr>
          <p:nvPr/>
        </p:nvCxnSpPr>
        <p:spPr>
          <a:xfrm flipH="1">
            <a:off x="2090738" y="4162426"/>
            <a:ext cx="6677025" cy="0"/>
          </a:xfrm>
          <a:prstGeom prst="straightConnector1">
            <a:avLst/>
          </a:prstGeom>
          <a:ln w="19050">
            <a:solidFill>
              <a:srgbClr val="3478B9"/>
            </a:solidFill>
            <a:prstDash val="dash"/>
            <a:tailEnd type="triangle" w="med" len="med"/>
          </a:ln>
        </p:spPr>
      </p:cxnSp>
      <p:sp>
        <p:nvSpPr>
          <p:cNvPr id="43" name="native-559">
            <a:extLst>
              <a:ext uri="{FF2B5EF4-FFF2-40B4-BE49-F238E27FC236}">
                <a16:creationId xmlns:a16="http://schemas.microsoft.com/office/drawing/2014/main" id="{31CE7523-8D4F-405B-AC1B-653B4FFB77B2}"/>
              </a:ext>
            </a:extLst>
          </p:cNvPr>
          <p:cNvSpPr>
            <a:spLocks noGrp="1"/>
          </p:cNvSpPr>
          <p:nvPr/>
        </p:nvSpPr>
        <p:spPr>
          <a:xfrm>
            <a:off x="2190750" y="3895725"/>
            <a:ext cx="6477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Condition.id = c1</a:t>
            </a:r>
          </a:p>
        </p:txBody>
      </p:sp>
      <p:sp>
        <p:nvSpPr>
          <p:cNvPr id="44" name="native-560">
            <a:extLst>
              <a:ext uri="{FF2B5EF4-FFF2-40B4-BE49-F238E27FC236}">
                <a16:creationId xmlns:a16="http://schemas.microsoft.com/office/drawing/2014/main" id="{F43EAD17-4B5D-4AF8-A15C-767E6096E937}"/>
              </a:ext>
            </a:extLst>
          </p:cNvPr>
          <p:cNvSpPr>
            <a:spLocks noGrp="1"/>
          </p:cNvSpPr>
          <p:nvPr/>
        </p:nvSpPr>
        <p:spPr>
          <a:xfrm>
            <a:off x="2090738" y="4481513"/>
            <a:ext cx="9525" cy="9525"/>
          </a:xfrm>
          <a:prstGeom prst="rect">
            <a:avLst/>
          </a:prstGeom>
          <a:noFill/>
          <a:ln w="0">
            <a:noFill/>
          </a:ln>
        </p:spPr>
        <p:txBody>
          <a:bodyPr/>
          <a:lstStyle/>
          <a:p>
            <a:endParaRPr lang="en-US"/>
          </a:p>
        </p:txBody>
      </p:sp>
      <p:sp>
        <p:nvSpPr>
          <p:cNvPr id="45" name="native-561">
            <a:extLst>
              <a:ext uri="{FF2B5EF4-FFF2-40B4-BE49-F238E27FC236}">
                <a16:creationId xmlns:a16="http://schemas.microsoft.com/office/drawing/2014/main" id="{9FB85D74-0D6B-4304-9418-398A660CD828}"/>
              </a:ext>
            </a:extLst>
          </p:cNvPr>
          <p:cNvSpPr>
            <a:spLocks noGrp="1"/>
          </p:cNvSpPr>
          <p:nvPr/>
        </p:nvSpPr>
        <p:spPr>
          <a:xfrm>
            <a:off x="8758238" y="4481513"/>
            <a:ext cx="9525" cy="9525"/>
          </a:xfrm>
          <a:prstGeom prst="rect">
            <a:avLst/>
          </a:prstGeom>
          <a:noFill/>
          <a:ln w="0">
            <a:noFill/>
          </a:ln>
        </p:spPr>
        <p:txBody>
          <a:bodyPr/>
          <a:lstStyle/>
          <a:p>
            <a:endParaRPr lang="en-US"/>
          </a:p>
        </p:txBody>
      </p:sp>
      <p:cxnSp>
        <p:nvCxnSpPr>
          <p:cNvPr id="105" name="Straight Arrow Connector 104"/>
          <p:cNvCxnSpPr>
            <a:stCxn id="44" idx="3"/>
            <a:endCxn id="45" idx="1"/>
          </p:cNvCxnSpPr>
          <p:nvPr/>
        </p:nvCxnSpPr>
        <p:spPr>
          <a:xfrm>
            <a:off x="2100263" y="4486276"/>
            <a:ext cx="6657975" cy="0"/>
          </a:xfrm>
          <a:prstGeom prst="straightConnector1">
            <a:avLst/>
          </a:prstGeom>
          <a:ln w="19050">
            <a:solidFill>
              <a:srgbClr val="0F8B8D"/>
            </a:solidFill>
            <a:prstDash val="solid"/>
            <a:tailEnd type="triangle" w="med" len="med"/>
          </a:ln>
        </p:spPr>
      </p:cxnSp>
      <p:sp>
        <p:nvSpPr>
          <p:cNvPr id="47" name="native-562">
            <a:extLst>
              <a:ext uri="{FF2B5EF4-FFF2-40B4-BE49-F238E27FC236}">
                <a16:creationId xmlns:a16="http://schemas.microsoft.com/office/drawing/2014/main" id="{4E3BD34B-531C-403B-A4EC-8894E1584316}"/>
              </a:ext>
            </a:extLst>
          </p:cNvPr>
          <p:cNvSpPr>
            <a:spLocks noGrp="1"/>
          </p:cNvSpPr>
          <p:nvPr/>
        </p:nvSpPr>
        <p:spPr>
          <a:xfrm>
            <a:off x="2190750" y="4219575"/>
            <a:ext cx="6477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POST /fhir/Claim, patient = Patient/p1</a:t>
            </a:r>
          </a:p>
        </p:txBody>
      </p:sp>
      <p:sp>
        <p:nvSpPr>
          <p:cNvPr id="48" name="native-563">
            <a:extLst>
              <a:ext uri="{FF2B5EF4-FFF2-40B4-BE49-F238E27FC236}">
                <a16:creationId xmlns:a16="http://schemas.microsoft.com/office/drawing/2014/main" id="{05DE3C94-66F1-4BD4-B1E5-22C69503B748}"/>
              </a:ext>
            </a:extLst>
          </p:cNvPr>
          <p:cNvSpPr>
            <a:spLocks noGrp="1"/>
          </p:cNvSpPr>
          <p:nvPr/>
        </p:nvSpPr>
        <p:spPr>
          <a:xfrm>
            <a:off x="8758238" y="4805363"/>
            <a:ext cx="9525" cy="9525"/>
          </a:xfrm>
          <a:prstGeom prst="rect">
            <a:avLst/>
          </a:prstGeom>
          <a:noFill/>
          <a:ln w="0">
            <a:noFill/>
          </a:ln>
        </p:spPr>
        <p:txBody>
          <a:bodyPr/>
          <a:lstStyle/>
          <a:p>
            <a:endParaRPr lang="en-US"/>
          </a:p>
        </p:txBody>
      </p:sp>
      <p:sp>
        <p:nvSpPr>
          <p:cNvPr id="49" name="native-564">
            <a:extLst>
              <a:ext uri="{FF2B5EF4-FFF2-40B4-BE49-F238E27FC236}">
                <a16:creationId xmlns:a16="http://schemas.microsoft.com/office/drawing/2014/main" id="{D4AD1121-7AA1-4660-A03B-BCA1297FA143}"/>
              </a:ext>
            </a:extLst>
          </p:cNvPr>
          <p:cNvSpPr>
            <a:spLocks noGrp="1"/>
          </p:cNvSpPr>
          <p:nvPr/>
        </p:nvSpPr>
        <p:spPr>
          <a:xfrm>
            <a:off x="2090738" y="4805363"/>
            <a:ext cx="9525" cy="9525"/>
          </a:xfrm>
          <a:prstGeom prst="rect">
            <a:avLst/>
          </a:prstGeom>
          <a:noFill/>
          <a:ln w="0">
            <a:noFill/>
          </a:ln>
        </p:spPr>
        <p:txBody>
          <a:bodyPr/>
          <a:lstStyle/>
          <a:p>
            <a:endParaRPr lang="en-US"/>
          </a:p>
        </p:txBody>
      </p:sp>
      <p:cxnSp>
        <p:nvCxnSpPr>
          <p:cNvPr id="109" name="Straight Arrow Connector 108"/>
          <p:cNvCxnSpPr>
            <a:stCxn id="48" idx="3"/>
            <a:endCxn id="49" idx="1"/>
          </p:cNvCxnSpPr>
          <p:nvPr/>
        </p:nvCxnSpPr>
        <p:spPr>
          <a:xfrm flipH="1">
            <a:off x="2090738" y="4810126"/>
            <a:ext cx="6677025" cy="0"/>
          </a:xfrm>
          <a:prstGeom prst="straightConnector1">
            <a:avLst/>
          </a:prstGeom>
          <a:ln w="19050">
            <a:solidFill>
              <a:srgbClr val="3478B9"/>
            </a:solidFill>
            <a:prstDash val="dash"/>
            <a:tailEnd type="triangle" w="med" len="med"/>
          </a:ln>
        </p:spPr>
      </p:cxnSp>
      <p:sp>
        <p:nvSpPr>
          <p:cNvPr id="51" name="native-565">
            <a:extLst>
              <a:ext uri="{FF2B5EF4-FFF2-40B4-BE49-F238E27FC236}">
                <a16:creationId xmlns:a16="http://schemas.microsoft.com/office/drawing/2014/main" id="{F74819F2-38DD-411F-B107-BD5B543164BC}"/>
              </a:ext>
            </a:extLst>
          </p:cNvPr>
          <p:cNvSpPr>
            <a:spLocks noGrp="1"/>
          </p:cNvSpPr>
          <p:nvPr/>
        </p:nvSpPr>
        <p:spPr>
          <a:xfrm>
            <a:off x="2190750" y="4543425"/>
            <a:ext cx="6477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Claim.id = cl1</a:t>
            </a:r>
          </a:p>
        </p:txBody>
      </p:sp>
      <p:sp>
        <p:nvSpPr>
          <p:cNvPr id="52" name="native-566">
            <a:extLst>
              <a:ext uri="{FF2B5EF4-FFF2-40B4-BE49-F238E27FC236}">
                <a16:creationId xmlns:a16="http://schemas.microsoft.com/office/drawing/2014/main" id="{1A33D5C0-C526-466D-B0FC-0DB0D69F7832}"/>
              </a:ext>
            </a:extLst>
          </p:cNvPr>
          <p:cNvSpPr>
            <a:spLocks noGrp="1"/>
          </p:cNvSpPr>
          <p:nvPr/>
        </p:nvSpPr>
        <p:spPr>
          <a:xfrm>
            <a:off x="2090738" y="5129213"/>
            <a:ext cx="9525" cy="9525"/>
          </a:xfrm>
          <a:prstGeom prst="rect">
            <a:avLst/>
          </a:prstGeom>
          <a:noFill/>
          <a:ln w="0">
            <a:noFill/>
          </a:ln>
        </p:spPr>
        <p:txBody>
          <a:bodyPr/>
          <a:lstStyle/>
          <a:p>
            <a:endParaRPr lang="en-US"/>
          </a:p>
        </p:txBody>
      </p:sp>
      <p:sp>
        <p:nvSpPr>
          <p:cNvPr id="53" name="native-567">
            <a:extLst>
              <a:ext uri="{FF2B5EF4-FFF2-40B4-BE49-F238E27FC236}">
                <a16:creationId xmlns:a16="http://schemas.microsoft.com/office/drawing/2014/main" id="{1DB19C57-E392-470E-9A58-59E758E3AD59}"/>
              </a:ext>
            </a:extLst>
          </p:cNvPr>
          <p:cNvSpPr>
            <a:spLocks noGrp="1"/>
          </p:cNvSpPr>
          <p:nvPr/>
        </p:nvSpPr>
        <p:spPr>
          <a:xfrm>
            <a:off x="8758238" y="5129213"/>
            <a:ext cx="9525" cy="9525"/>
          </a:xfrm>
          <a:prstGeom prst="rect">
            <a:avLst/>
          </a:prstGeom>
          <a:noFill/>
          <a:ln w="0">
            <a:noFill/>
          </a:ln>
        </p:spPr>
        <p:txBody>
          <a:bodyPr/>
          <a:lstStyle/>
          <a:p>
            <a:endParaRPr lang="en-US"/>
          </a:p>
        </p:txBody>
      </p:sp>
      <p:cxnSp>
        <p:nvCxnSpPr>
          <p:cNvPr id="113" name="Straight Arrow Connector 112"/>
          <p:cNvCxnSpPr>
            <a:stCxn id="52" idx="3"/>
            <a:endCxn id="53" idx="1"/>
          </p:cNvCxnSpPr>
          <p:nvPr/>
        </p:nvCxnSpPr>
        <p:spPr>
          <a:xfrm>
            <a:off x="2100263" y="5133976"/>
            <a:ext cx="6657975" cy="0"/>
          </a:xfrm>
          <a:prstGeom prst="straightConnector1">
            <a:avLst/>
          </a:prstGeom>
          <a:ln w="19050">
            <a:solidFill>
              <a:srgbClr val="0F8B8D"/>
            </a:solidFill>
            <a:prstDash val="solid"/>
            <a:tailEnd type="triangle" w="med" len="med"/>
          </a:ln>
        </p:spPr>
      </p:cxnSp>
      <p:sp>
        <p:nvSpPr>
          <p:cNvPr id="55" name="native-568">
            <a:extLst>
              <a:ext uri="{FF2B5EF4-FFF2-40B4-BE49-F238E27FC236}">
                <a16:creationId xmlns:a16="http://schemas.microsoft.com/office/drawing/2014/main" id="{6F8B590E-4273-484D-9B2C-0183CB934A00}"/>
              </a:ext>
            </a:extLst>
          </p:cNvPr>
          <p:cNvSpPr>
            <a:spLocks noGrp="1"/>
          </p:cNvSpPr>
          <p:nvPr/>
        </p:nvSpPr>
        <p:spPr>
          <a:xfrm>
            <a:off x="2190750" y="4867275"/>
            <a:ext cx="6477000" cy="238125"/>
          </a:xfrm>
          <a:prstGeom prst="rect">
            <a:avLst/>
          </a:prstGeom>
          <a:solidFill>
            <a:srgbClr val="FFFFFF"/>
          </a:solidFill>
          <a:ln w="0">
            <a:noFill/>
          </a:ln>
        </p:spPr>
        <p:txBody>
          <a:bodyPr anchor="ctr">
            <a:noAutofit/>
          </a:bodyPr>
          <a:lstStyle/>
          <a:p>
            <a:pPr algn="ctr">
              <a:defRPr sz="1425" b="0">
                <a:solidFill>
                  <a:srgbClr val="10243A"/>
                </a:solidFill>
                <a:latin typeface="Arial"/>
                <a:ea typeface="Arial"/>
                <a:cs typeface="Arial"/>
              </a:defRPr>
            </a:pPr>
            <a:r>
              <a:rPr sz="1425" b="0">
                <a:solidFill>
                  <a:srgbClr val="10243A"/>
                </a:solidFill>
                <a:latin typeface="Arial"/>
                <a:ea typeface="Arial"/>
                <a:cs typeface="Arial"/>
              </a:rPr>
              <a:t>POST /fhir/ExplanationOfBenefit, claim = Claim/cl1</a:t>
            </a:r>
          </a:p>
        </p:txBody>
      </p:sp>
      <p:sp>
        <p:nvSpPr>
          <p:cNvPr id="56" name="native-569">
            <a:extLst>
              <a:ext uri="{FF2B5EF4-FFF2-40B4-BE49-F238E27FC236}">
                <a16:creationId xmlns:a16="http://schemas.microsoft.com/office/drawing/2014/main" id="{6A3152AA-153E-4D81-B41A-BBB393949A6E}"/>
              </a:ext>
            </a:extLst>
          </p:cNvPr>
          <p:cNvSpPr>
            <a:spLocks noGrp="1"/>
          </p:cNvSpPr>
          <p:nvPr/>
        </p:nvSpPr>
        <p:spPr>
          <a:xfrm>
            <a:off x="8758238" y="5453063"/>
            <a:ext cx="9525" cy="9525"/>
          </a:xfrm>
          <a:prstGeom prst="rect">
            <a:avLst/>
          </a:prstGeom>
          <a:noFill/>
          <a:ln w="0">
            <a:noFill/>
          </a:ln>
        </p:spPr>
        <p:txBody>
          <a:bodyPr/>
          <a:lstStyle/>
          <a:p>
            <a:endParaRPr lang="en-US"/>
          </a:p>
        </p:txBody>
      </p:sp>
      <p:sp>
        <p:nvSpPr>
          <p:cNvPr id="57" name="native-570">
            <a:extLst>
              <a:ext uri="{FF2B5EF4-FFF2-40B4-BE49-F238E27FC236}">
                <a16:creationId xmlns:a16="http://schemas.microsoft.com/office/drawing/2014/main" id="{9E6426B6-53A5-4557-AF86-61A89226A566}"/>
              </a:ext>
            </a:extLst>
          </p:cNvPr>
          <p:cNvSpPr>
            <a:spLocks noGrp="1"/>
          </p:cNvSpPr>
          <p:nvPr/>
        </p:nvSpPr>
        <p:spPr>
          <a:xfrm>
            <a:off x="2090738" y="5453063"/>
            <a:ext cx="9525" cy="9525"/>
          </a:xfrm>
          <a:prstGeom prst="rect">
            <a:avLst/>
          </a:prstGeom>
          <a:noFill/>
          <a:ln w="0">
            <a:noFill/>
          </a:ln>
        </p:spPr>
        <p:txBody>
          <a:bodyPr/>
          <a:lstStyle/>
          <a:p>
            <a:endParaRPr lang="en-US"/>
          </a:p>
        </p:txBody>
      </p:sp>
      <p:cxnSp>
        <p:nvCxnSpPr>
          <p:cNvPr id="117" name="Straight Arrow Connector 116"/>
          <p:cNvCxnSpPr>
            <a:stCxn id="56" idx="3"/>
            <a:endCxn id="57" idx="1"/>
          </p:cNvCxnSpPr>
          <p:nvPr/>
        </p:nvCxnSpPr>
        <p:spPr>
          <a:xfrm flipH="1">
            <a:off x="2090738" y="5457826"/>
            <a:ext cx="6677025" cy="0"/>
          </a:xfrm>
          <a:prstGeom prst="straightConnector1">
            <a:avLst/>
          </a:prstGeom>
          <a:ln w="19050">
            <a:solidFill>
              <a:srgbClr val="3478B9"/>
            </a:solidFill>
            <a:prstDash val="dash"/>
            <a:tailEnd type="triangle" w="med" len="med"/>
          </a:ln>
        </p:spPr>
      </p:cxnSp>
      <p:sp>
        <p:nvSpPr>
          <p:cNvPr id="59" name="native-571">
            <a:extLst>
              <a:ext uri="{FF2B5EF4-FFF2-40B4-BE49-F238E27FC236}">
                <a16:creationId xmlns:a16="http://schemas.microsoft.com/office/drawing/2014/main" id="{B9B4146F-9024-4233-88E3-0FB5144F36B4}"/>
              </a:ext>
            </a:extLst>
          </p:cNvPr>
          <p:cNvSpPr>
            <a:spLocks noGrp="1"/>
          </p:cNvSpPr>
          <p:nvPr/>
        </p:nvSpPr>
        <p:spPr>
          <a:xfrm>
            <a:off x="2190750" y="5191125"/>
            <a:ext cx="6477000" cy="238125"/>
          </a:xfrm>
          <a:prstGeom prst="rect">
            <a:avLst/>
          </a:prstGeom>
          <a:solidFill>
            <a:srgbClr val="FFFFFF"/>
          </a:solidFill>
          <a:ln w="0">
            <a:noFill/>
          </a:ln>
        </p:spPr>
        <p:txBody>
          <a:bodyPr anchor="ctr">
            <a:noAutofit/>
          </a:bodyPr>
          <a:lstStyle/>
          <a:p>
            <a:pPr algn="ctr">
              <a:defRPr sz="1425" b="0">
                <a:solidFill>
                  <a:srgbClr val="3478B9"/>
                </a:solidFill>
                <a:latin typeface="Arial"/>
                <a:ea typeface="Arial"/>
                <a:cs typeface="Arial"/>
              </a:defRPr>
            </a:pPr>
            <a:r>
              <a:rPr sz="1425" b="0">
                <a:solidFill>
                  <a:srgbClr val="3478B9"/>
                </a:solidFill>
                <a:latin typeface="Arial"/>
                <a:ea typeface="Arial"/>
                <a:cs typeface="Arial"/>
              </a:rPr>
              <a:t>ExplanationOfBenefit.id = b1</a:t>
            </a:r>
          </a:p>
        </p:txBody>
      </p:sp>
    </p:spTree>
    <p:extLst>
      <p:ext uri="{BB962C8B-B14F-4D97-AF65-F5344CB8AC3E}">
        <p14:creationId xmlns:p14="http://schemas.microsoft.com/office/powerpoint/2010/main" val="1530936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Demo Behavior and Test Coverage</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Overview of system architecture and quality assurance metrics</a:t>
            </a:r>
            <a:endParaRPr lang="en-US" dirty="0"/>
          </a:p>
        </p:txBody>
      </p:sp>
      <p:sp>
        <p:nvSpPr>
          <p:cNvPr id="4" name="Text 2"/>
          <p:cNvSpPr/>
          <p:nvPr/>
        </p:nvSpPr>
        <p:spPr>
          <a:xfrm>
            <a:off x="952500" y="2578001"/>
            <a:ext cx="5285482" cy="2250877"/>
          </a:xfrm>
          <a:prstGeom prst="rect">
            <a:avLst/>
          </a:prstGeom>
          <a:noFill/>
          <a:ln>
            <a:miter lim="800000"/>
          </a:ln>
        </p:spPr>
        <p:txBody>
          <a:bodyPr wrap="square" lIns="0" tIns="0" rIns="0" bIns="0" rtlCol="0" anchor="t"/>
          <a:lstStyle/>
          <a:p>
            <a:pPr marL="241300" indent="-241300" algn="l" fontAlgn="ctr">
              <a:lnSpc>
                <a:spcPts val="2246"/>
              </a:lnSpc>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Demo Architecture</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Utilizes POST-based requests with UUIDs for state</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management and asynchronous DELETE calls for</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performance optimization.</a:t>
            </a:r>
            <a:endParaRPr lang="en-US" dirty="0"/>
          </a:p>
          <a:p>
            <a:pPr marL="241300" indent="-241300" algn="l" fontAlgn="ctr">
              <a:lnSpc>
                <a:spcPts val="2246"/>
              </a:lnSpc>
              <a:spcBef>
                <a:spcPts val="2055"/>
              </a:spcBef>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Backend Test Coverage (23)</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Focuses on JWT security validation, admin permissions,</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and robust paging logic.</a:t>
            </a:r>
            <a:endParaRPr lang="en-US" dirty="0"/>
          </a:p>
        </p:txBody>
      </p:sp>
      <p:sp>
        <p:nvSpPr>
          <p:cNvPr id="5" name="Text 3"/>
          <p:cNvSpPr/>
          <p:nvPr/>
        </p:nvSpPr>
        <p:spPr>
          <a:xfrm>
            <a:off x="6286500" y="2578001"/>
            <a:ext cx="5276255" cy="862013"/>
          </a:xfrm>
          <a:prstGeom prst="rect">
            <a:avLst/>
          </a:prstGeom>
          <a:noFill/>
          <a:ln>
            <a:miter lim="800000"/>
          </a:ln>
        </p:spPr>
        <p:txBody>
          <a:bodyPr wrap="square" lIns="0" tIns="0" rIns="0" bIns="0" rtlCol="0" anchor="t"/>
          <a:lstStyle/>
          <a:p>
            <a:pPr marL="241300" indent="-241300" algn="l" fontAlgn="ctr">
              <a:lnSpc>
                <a:spcPts val="2246"/>
              </a:lnSpc>
              <a:buClr>
                <a:srgbClr val="10243A"/>
              </a:buClr>
              <a:buSzPct val="120000"/>
              <a:buChar char="•"/>
            </a:pPr>
            <a:r>
              <a:rPr lang="en-US" sz="1950" b="1" kern="0" spc="-117" dirty="0">
                <a:solidFill>
                  <a:srgbClr val="333333"/>
                </a:solidFill>
                <a:latin typeface="Arial" pitchFamily="34" charset="0"/>
                <a:ea typeface="Arial" pitchFamily="34" charset="-122"/>
                <a:cs typeface="Arial" pitchFamily="34" charset="-120"/>
              </a:rPr>
              <a:t>Frontend Test Coverage (26)</a:t>
            </a:r>
            <a:endParaRPr lang="en-US" dirty="0"/>
          </a:p>
          <a:p>
            <a:pPr marL="241300" lvl="1" indent="0" algn="l" fontAlgn="ctr">
              <a:lnSpc>
                <a:spcPts val="2052"/>
              </a:lnSpc>
              <a:spcBef>
                <a:spcPts val="430"/>
              </a:spcBef>
              <a:buNone/>
            </a:pPr>
            <a:r>
              <a:rPr lang="en-US" sz="1500" kern="0" spc="-30" dirty="0">
                <a:solidFill>
                  <a:srgbClr val="000000">
                    <a:alpha val="55000"/>
                  </a:srgbClr>
                </a:solidFill>
                <a:latin typeface="Arial" pitchFamily="34" charset="0"/>
                <a:ea typeface="Arial" pitchFamily="34" charset="-122"/>
                <a:cs typeface="Arial" pitchFamily="34" charset="-120"/>
              </a:rPr>
              <a:t>Validates HTTP client functionality, auth flows,</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dashboard interactions, and user management features.</a:t>
            </a:r>
            <a:endParaRPr lang="en-US" dirty="0"/>
          </a:p>
        </p:txBody>
      </p:sp>
      <p:sp>
        <p:nvSpPr>
          <p:cNvPr id="6" name="Shape 4"/>
          <p:cNvSpPr/>
          <p:nvPr/>
        </p:nvSpPr>
        <p:spPr>
          <a:xfrm>
            <a:off x="0" y="6134100"/>
            <a:ext cx="12192000" cy="723900"/>
          </a:xfrm>
          <a:prstGeom prst="rect">
            <a:avLst/>
          </a:prstGeom>
          <a:solidFill>
            <a:srgbClr val="222222"/>
          </a:solidFill>
          <a:ln>
            <a:miter lim="800000"/>
          </a:ln>
        </p:spPr>
        <p:txBody>
          <a:bodyPr/>
          <a:lstStyle/>
          <a:p>
            <a:endParaRPr lang="en-US"/>
          </a:p>
        </p:txBody>
      </p:sp>
      <p:sp>
        <p:nvSpPr>
          <p:cNvPr id="7" name="Text 5"/>
          <p:cNvSpPr/>
          <p:nvPr/>
        </p:nvSpPr>
        <p:spPr>
          <a:xfrm>
            <a:off x="2524125" y="6376690"/>
            <a:ext cx="7143750" cy="241399"/>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End-to-end (E2E) browser automation is currently pending implementation.</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23950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Current limitations and v1.2.0 roadmap</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Addressing system limitations through strategic upgrades</a:t>
            </a:r>
            <a:endParaRPr lang="en-US" dirty="0"/>
          </a:p>
        </p:txBody>
      </p:sp>
      <p:sp>
        <p:nvSpPr>
          <p:cNvPr id="4" name="Shape 2"/>
          <p:cNvSpPr/>
          <p:nvPr/>
        </p:nvSpPr>
        <p:spPr>
          <a:xfrm>
            <a:off x="476250" y="1743075"/>
            <a:ext cx="11239500" cy="4638675"/>
          </a:xfrm>
          <a:prstGeom prst="roundRect">
            <a:avLst>
              <a:gd name="adj" fmla="val 1971"/>
            </a:avLst>
          </a:prstGeom>
          <a:solidFill>
            <a:srgbClr val="000000">
              <a:alpha val="0"/>
            </a:srgbClr>
          </a:solidFill>
          <a:ln>
            <a:miter lim="800000"/>
          </a:ln>
        </p:spPr>
        <p:txBody>
          <a:bodyPr/>
          <a:lstStyle/>
          <a:p>
            <a:endParaRPr lang="en-US"/>
          </a:p>
        </p:txBody>
      </p:sp>
      <p:pic>
        <p:nvPicPr>
          <p:cNvPr id="5" name="Image 0" descr="-474bafde.png"/>
          <p:cNvPicPr>
            <a:picLocks noChangeAspect="1"/>
          </p:cNvPicPr>
          <p:nvPr/>
        </p:nvPicPr>
        <p:blipFill>
          <a:blip r:embed="rId3"/>
          <a:stretch>
            <a:fillRect/>
          </a:stretch>
        </p:blipFill>
        <p:spPr>
          <a:xfrm>
            <a:off x="476250" y="1743075"/>
            <a:ext cx="11249025" cy="4648200"/>
          </a:xfrm>
          <a:prstGeom prst="rect">
            <a:avLst/>
          </a:prstGeom>
        </p:spPr>
      </p:pic>
      <p:pic>
        <p:nvPicPr>
          <p:cNvPr id="6" name="Image 1" descr="5f78f562.png"/>
          <p:cNvPicPr>
            <a:picLocks noChangeAspect="1"/>
          </p:cNvPicPr>
          <p:nvPr/>
        </p:nvPicPr>
        <p:blipFill>
          <a:blip r:embed="rId4"/>
          <a:stretch>
            <a:fillRect/>
          </a:stretch>
        </p:blipFill>
        <p:spPr>
          <a:xfrm>
            <a:off x="476250" y="1743075"/>
            <a:ext cx="11239500" cy="4638675"/>
          </a:xfrm>
          <a:prstGeom prst="rect">
            <a:avLst/>
          </a:prstGeom>
        </p:spPr>
      </p:pic>
      <p:sp>
        <p:nvSpPr>
          <p:cNvPr id="7" name="Text 3"/>
          <p:cNvSpPr/>
          <p:nvPr/>
        </p:nvSpPr>
        <p:spPr>
          <a:xfrm>
            <a:off x="476250" y="1743075"/>
            <a:ext cx="2007518" cy="976563"/>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Category</a:t>
            </a:r>
            <a:endParaRPr lang="en-US" dirty="0"/>
          </a:p>
        </p:txBody>
      </p:sp>
      <p:sp>
        <p:nvSpPr>
          <p:cNvPr id="8" name="Text 4"/>
          <p:cNvSpPr/>
          <p:nvPr/>
        </p:nvSpPr>
        <p:spPr>
          <a:xfrm>
            <a:off x="2483768" y="1743075"/>
            <a:ext cx="3770932" cy="976563"/>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Current Limitation</a:t>
            </a:r>
            <a:endParaRPr lang="en-US" dirty="0"/>
          </a:p>
        </p:txBody>
      </p:sp>
      <p:sp>
        <p:nvSpPr>
          <p:cNvPr id="9" name="Text 5"/>
          <p:cNvSpPr/>
          <p:nvPr/>
        </p:nvSpPr>
        <p:spPr>
          <a:xfrm>
            <a:off x="6254699" y="1743075"/>
            <a:ext cx="3797876" cy="976563"/>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v1.2.0 Roadmap / Solution</a:t>
            </a:r>
            <a:endParaRPr lang="en-US" dirty="0"/>
          </a:p>
        </p:txBody>
      </p:sp>
      <p:sp>
        <p:nvSpPr>
          <p:cNvPr id="10" name="Text 6"/>
          <p:cNvSpPr/>
          <p:nvPr/>
        </p:nvSpPr>
        <p:spPr>
          <a:xfrm>
            <a:off x="10052575" y="1743075"/>
            <a:ext cx="1663175" cy="976563"/>
          </a:xfrm>
          <a:prstGeom prst="rect">
            <a:avLst/>
          </a:prstGeom>
          <a:noFill/>
          <a:ln>
            <a:miter lim="800000"/>
          </a:ln>
        </p:spPr>
        <p:txBody>
          <a:bodyPr wrap="square" rtlCol="0" anchor="ctr">
            <a:normAutofit fontScale="85000" lnSpcReduction="20000"/>
          </a:bodyPr>
          <a:lstStyle/>
          <a:p>
            <a:pPr algn="ctr" fontAlgn="ctr"/>
            <a:r>
              <a:rPr lang="en-US" sz="2000" dirty="0">
                <a:solidFill>
                  <a:srgbClr val="FFFFFF"/>
                </a:solidFill>
                <a:latin typeface="Arial" pitchFamily="34" charset="0"/>
                <a:ea typeface="Arial" pitchFamily="34" charset="-122"/>
                <a:cs typeface="Arial" pitchFamily="34" charset="-120"/>
              </a:rPr>
              <a:t>Effort Level</a:t>
            </a:r>
            <a:endParaRPr lang="en-US" dirty="0"/>
          </a:p>
        </p:txBody>
      </p:sp>
      <p:sp>
        <p:nvSpPr>
          <p:cNvPr id="11" name="Text 7"/>
          <p:cNvSpPr/>
          <p:nvPr/>
        </p:nvSpPr>
        <p:spPr>
          <a:xfrm>
            <a:off x="476250" y="2719638"/>
            <a:ext cx="2007518"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Storage</a:t>
            </a:r>
            <a:endParaRPr lang="en-US" dirty="0"/>
          </a:p>
        </p:txBody>
      </p:sp>
      <p:sp>
        <p:nvSpPr>
          <p:cNvPr id="12" name="Text 8"/>
          <p:cNvSpPr/>
          <p:nvPr/>
        </p:nvSpPr>
        <p:spPr>
          <a:xfrm>
            <a:off x="2483768" y="2719638"/>
            <a:ext cx="3770932"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Locked to MongoDB</a:t>
            </a:r>
            <a:endParaRPr lang="en-US" dirty="0"/>
          </a:p>
        </p:txBody>
      </p:sp>
      <p:sp>
        <p:nvSpPr>
          <p:cNvPr id="13" name="Text 9"/>
          <p:cNvSpPr/>
          <p:nvPr/>
        </p:nvSpPr>
        <p:spPr>
          <a:xfrm>
            <a:off x="6254699" y="2719638"/>
            <a:ext cx="3797876"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PostgreSQL JSONB Implementation</a:t>
            </a:r>
            <a:endParaRPr lang="en-US" dirty="0"/>
          </a:p>
        </p:txBody>
      </p:sp>
      <p:sp>
        <p:nvSpPr>
          <p:cNvPr id="14" name="Text 10"/>
          <p:cNvSpPr/>
          <p:nvPr/>
        </p:nvSpPr>
        <p:spPr>
          <a:xfrm>
            <a:off x="10052575" y="2719638"/>
            <a:ext cx="1663175"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High</a:t>
            </a:r>
            <a:endParaRPr lang="en-US" dirty="0"/>
          </a:p>
        </p:txBody>
      </p:sp>
      <p:sp>
        <p:nvSpPr>
          <p:cNvPr id="15" name="Text 11"/>
          <p:cNvSpPr/>
          <p:nvPr/>
        </p:nvSpPr>
        <p:spPr>
          <a:xfrm>
            <a:off x="476250" y="3452061"/>
            <a:ext cx="2007518"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Performance</a:t>
            </a:r>
            <a:endParaRPr lang="en-US" dirty="0"/>
          </a:p>
        </p:txBody>
      </p:sp>
      <p:sp>
        <p:nvSpPr>
          <p:cNvPr id="16" name="Text 12"/>
          <p:cNvSpPr/>
          <p:nvPr/>
        </p:nvSpPr>
        <p:spPr>
          <a:xfrm>
            <a:off x="2483768" y="3452061"/>
            <a:ext cx="3770932"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Single Synthea subprocess</a:t>
            </a:r>
            <a:endParaRPr lang="en-US" dirty="0"/>
          </a:p>
        </p:txBody>
      </p:sp>
      <p:sp>
        <p:nvSpPr>
          <p:cNvPr id="17" name="Text 13"/>
          <p:cNvSpPr/>
          <p:nvPr/>
        </p:nvSpPr>
        <p:spPr>
          <a:xfrm>
            <a:off x="6254699" y="3452061"/>
            <a:ext cx="3797876"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Asynchronous Queueing / Decoupling</a:t>
            </a:r>
            <a:endParaRPr lang="en-US" dirty="0"/>
          </a:p>
        </p:txBody>
      </p:sp>
      <p:sp>
        <p:nvSpPr>
          <p:cNvPr id="18" name="Text 14"/>
          <p:cNvSpPr/>
          <p:nvPr/>
        </p:nvSpPr>
        <p:spPr>
          <a:xfrm>
            <a:off x="10052575" y="3452061"/>
            <a:ext cx="1663175"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Medium</a:t>
            </a:r>
            <a:endParaRPr lang="en-US" dirty="0"/>
          </a:p>
        </p:txBody>
      </p:sp>
      <p:sp>
        <p:nvSpPr>
          <p:cNvPr id="19" name="Text 15"/>
          <p:cNvSpPr/>
          <p:nvPr/>
        </p:nvSpPr>
        <p:spPr>
          <a:xfrm>
            <a:off x="476250" y="4184483"/>
            <a:ext cx="2007518"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Testing</a:t>
            </a:r>
            <a:endParaRPr lang="en-US" dirty="0"/>
          </a:p>
        </p:txBody>
      </p:sp>
      <p:sp>
        <p:nvSpPr>
          <p:cNvPr id="20" name="Text 16"/>
          <p:cNvSpPr/>
          <p:nvPr/>
        </p:nvSpPr>
        <p:spPr>
          <a:xfrm>
            <a:off x="2483768" y="4184483"/>
            <a:ext cx="3770932"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No browser-based E2E coverage</a:t>
            </a:r>
            <a:endParaRPr lang="en-US" dirty="0"/>
          </a:p>
        </p:txBody>
      </p:sp>
      <p:sp>
        <p:nvSpPr>
          <p:cNvPr id="21" name="Text 17"/>
          <p:cNvSpPr/>
          <p:nvPr/>
        </p:nvSpPr>
        <p:spPr>
          <a:xfrm>
            <a:off x="6254699" y="4184483"/>
            <a:ext cx="3797876"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Playwright Automation</a:t>
            </a:r>
            <a:endParaRPr lang="en-US" dirty="0"/>
          </a:p>
        </p:txBody>
      </p:sp>
      <p:sp>
        <p:nvSpPr>
          <p:cNvPr id="22" name="Text 18"/>
          <p:cNvSpPr/>
          <p:nvPr/>
        </p:nvSpPr>
        <p:spPr>
          <a:xfrm>
            <a:off x="10052575" y="4184483"/>
            <a:ext cx="1663175"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Medium</a:t>
            </a:r>
            <a:endParaRPr lang="en-US" dirty="0"/>
          </a:p>
        </p:txBody>
      </p:sp>
      <p:sp>
        <p:nvSpPr>
          <p:cNvPr id="23" name="Text 19"/>
          <p:cNvSpPr/>
          <p:nvPr/>
        </p:nvSpPr>
        <p:spPr>
          <a:xfrm>
            <a:off x="476250" y="4916905"/>
            <a:ext cx="2007518"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Backups</a:t>
            </a:r>
            <a:endParaRPr lang="en-US" dirty="0"/>
          </a:p>
        </p:txBody>
      </p:sp>
      <p:sp>
        <p:nvSpPr>
          <p:cNvPr id="24" name="Text 20"/>
          <p:cNvSpPr/>
          <p:nvPr/>
        </p:nvSpPr>
        <p:spPr>
          <a:xfrm>
            <a:off x="2483768" y="4916905"/>
            <a:ext cx="3770932"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Local storage only</a:t>
            </a:r>
            <a:endParaRPr lang="en-US" dirty="0"/>
          </a:p>
        </p:txBody>
      </p:sp>
      <p:sp>
        <p:nvSpPr>
          <p:cNvPr id="25" name="Text 21"/>
          <p:cNvSpPr/>
          <p:nvPr/>
        </p:nvSpPr>
        <p:spPr>
          <a:xfrm>
            <a:off x="6254699" y="4916905"/>
            <a:ext cx="3797876"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Rclone or S3 integration</a:t>
            </a:r>
            <a:endParaRPr lang="en-US" dirty="0"/>
          </a:p>
        </p:txBody>
      </p:sp>
      <p:sp>
        <p:nvSpPr>
          <p:cNvPr id="26" name="Text 22"/>
          <p:cNvSpPr/>
          <p:nvPr/>
        </p:nvSpPr>
        <p:spPr>
          <a:xfrm>
            <a:off x="10052575" y="4916905"/>
            <a:ext cx="1663175"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Low</a:t>
            </a:r>
            <a:endParaRPr lang="en-US" dirty="0"/>
          </a:p>
        </p:txBody>
      </p:sp>
      <p:sp>
        <p:nvSpPr>
          <p:cNvPr id="27" name="Text 23"/>
          <p:cNvSpPr/>
          <p:nvPr/>
        </p:nvSpPr>
        <p:spPr>
          <a:xfrm>
            <a:off x="476250" y="5649328"/>
            <a:ext cx="2007518"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Network/HTTP</a:t>
            </a:r>
            <a:endParaRPr lang="en-US" dirty="0"/>
          </a:p>
        </p:txBody>
      </p:sp>
      <p:sp>
        <p:nvSpPr>
          <p:cNvPr id="28" name="Text 24"/>
          <p:cNvSpPr/>
          <p:nvPr/>
        </p:nvSpPr>
        <p:spPr>
          <a:xfrm>
            <a:off x="2483768" y="5649328"/>
            <a:ext cx="3770932"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HTTP only, unencrypted transport</a:t>
            </a:r>
            <a:endParaRPr lang="en-US" dirty="0"/>
          </a:p>
        </p:txBody>
      </p:sp>
      <p:sp>
        <p:nvSpPr>
          <p:cNvPr id="29" name="Text 25"/>
          <p:cNvSpPr/>
          <p:nvPr/>
        </p:nvSpPr>
        <p:spPr>
          <a:xfrm>
            <a:off x="6254699" y="5649328"/>
            <a:ext cx="3797876"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Configure domain and Caddy TLS</a:t>
            </a:r>
            <a:endParaRPr lang="en-US" dirty="0"/>
          </a:p>
        </p:txBody>
      </p:sp>
      <p:sp>
        <p:nvSpPr>
          <p:cNvPr id="30" name="Text 26"/>
          <p:cNvSpPr/>
          <p:nvPr/>
        </p:nvSpPr>
        <p:spPr>
          <a:xfrm>
            <a:off x="10052575" y="5649328"/>
            <a:ext cx="1663175" cy="732422"/>
          </a:xfrm>
          <a:prstGeom prst="rect">
            <a:avLst/>
          </a:prstGeom>
          <a:noFill/>
          <a:ln>
            <a:miter lim="800000"/>
          </a:ln>
        </p:spPr>
        <p:txBody>
          <a:bodyPr wrap="square" rtlCol="0" anchor="ctr">
            <a:normAutofit fontScale="85000" lnSpcReduction="20000"/>
          </a:bodyPr>
          <a:lstStyle/>
          <a:p>
            <a:pPr algn="ctr" fontAlgn="ctr"/>
            <a:r>
              <a:rPr lang="en-US" sz="2000" dirty="0">
                <a:solidFill>
                  <a:srgbClr val="333333"/>
                </a:solidFill>
                <a:latin typeface="Arial" pitchFamily="34" charset="0"/>
                <a:ea typeface="Arial" pitchFamily="34" charset="-122"/>
                <a:cs typeface="Arial" pitchFamily="34" charset="-120"/>
              </a:rPr>
              <a:t>Low</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378172"/>
            <a:ext cx="11525250" cy="548580"/>
          </a:xfrm>
          <a:prstGeom prst="rect">
            <a:avLst/>
          </a:prstGeom>
          <a:noFill/>
          <a:ln>
            <a:miter lim="800000"/>
          </a:ln>
        </p:spPr>
        <p:txBody>
          <a:bodyPr wrap="square" lIns="0" tIns="0" rIns="0" bIns="0" rtlCol="0" anchor="t"/>
          <a:lstStyle/>
          <a:p>
            <a:pPr algn="l" fontAlgn="ctr">
              <a:lnSpc>
                <a:spcPts val="4320"/>
              </a:lnSpc>
            </a:pPr>
            <a:r>
              <a:rPr lang="en-US" sz="3750" b="1" kern="0" spc="-225" dirty="0">
                <a:solidFill>
                  <a:srgbClr val="333333"/>
                </a:solidFill>
                <a:latin typeface="Arial" pitchFamily="34" charset="0"/>
                <a:ea typeface="Arial" pitchFamily="34" charset="-122"/>
                <a:cs typeface="Arial" pitchFamily="34" charset="-120"/>
              </a:rPr>
              <a:t>Platform Assessment and Reference</a:t>
            </a:r>
            <a:endParaRPr lang="en-US" dirty="0"/>
          </a:p>
        </p:txBody>
      </p:sp>
      <p:sp>
        <p:nvSpPr>
          <p:cNvPr id="3" name="Text 1"/>
          <p:cNvSpPr/>
          <p:nvPr/>
        </p:nvSpPr>
        <p:spPr>
          <a:xfrm>
            <a:off x="476250" y="1038969"/>
            <a:ext cx="11525250" cy="286643"/>
          </a:xfrm>
          <a:prstGeom prst="rect">
            <a:avLst/>
          </a:prstGeom>
          <a:noFill/>
          <a:ln>
            <a:miter lim="800000"/>
          </a:ln>
        </p:spPr>
        <p:txBody>
          <a:bodyPr wrap="square" lIns="0" tIns="0" rIns="0" bIns="0" rtlCol="0" anchor="t"/>
          <a:lstStyle/>
          <a:p>
            <a:pPr algn="l" fontAlgn="ctr">
              <a:lnSpc>
                <a:spcPts val="2257"/>
              </a:lnSpc>
              <a:spcBef>
                <a:spcPts val="867"/>
              </a:spcBef>
            </a:pPr>
            <a:r>
              <a:rPr lang="en-US" sz="1650" kern="0" spc="-33" dirty="0">
                <a:solidFill>
                  <a:srgbClr val="000000">
                    <a:alpha val="55000"/>
                  </a:srgbClr>
                </a:solidFill>
                <a:latin typeface="Arial" pitchFamily="34" charset="0"/>
                <a:ea typeface="Arial" pitchFamily="34" charset="-122"/>
                <a:cs typeface="Arial" pitchFamily="34" charset="-120"/>
              </a:rPr>
              <a:t>Evolution from v1.1.1 to v1.2.0</a:t>
            </a:r>
            <a:endParaRPr lang="en-US" dirty="0"/>
          </a:p>
        </p:txBody>
      </p:sp>
      <p:sp>
        <p:nvSpPr>
          <p:cNvPr id="4" name="Shape 2"/>
          <p:cNvSpPr/>
          <p:nvPr/>
        </p:nvSpPr>
        <p:spPr>
          <a:xfrm>
            <a:off x="2762250" y="2267664"/>
            <a:ext cx="1428750" cy="1428750"/>
          </a:xfrm>
          <a:prstGeom prst="roundRect">
            <a:avLst>
              <a:gd name="adj" fmla="val 6400"/>
            </a:avLst>
          </a:prstGeom>
          <a:solidFill>
            <a:srgbClr val="0F8B8D">
              <a:alpha val="30000"/>
            </a:srgbClr>
          </a:solidFill>
          <a:ln>
            <a:miter lim="800000"/>
          </a:ln>
        </p:spPr>
        <p:txBody>
          <a:bodyPr/>
          <a:lstStyle/>
          <a:p>
            <a:endParaRPr lang="en-US"/>
          </a:p>
        </p:txBody>
      </p:sp>
      <p:pic>
        <p:nvPicPr>
          <p:cNvPr id="5" name="Image 0" descr="-dbc735e.png"/>
          <p:cNvPicPr>
            <a:picLocks noChangeAspect="1"/>
          </p:cNvPicPr>
          <p:nvPr/>
        </p:nvPicPr>
        <p:blipFill>
          <a:blip r:embed="rId3"/>
          <a:stretch>
            <a:fillRect/>
          </a:stretch>
        </p:blipFill>
        <p:spPr>
          <a:xfrm>
            <a:off x="3116622" y="2655429"/>
            <a:ext cx="733425" cy="657225"/>
          </a:xfrm>
          <a:prstGeom prst="rect">
            <a:avLst/>
          </a:prstGeom>
        </p:spPr>
      </p:pic>
      <p:sp>
        <p:nvSpPr>
          <p:cNvPr id="6" name="Text 3"/>
          <p:cNvSpPr/>
          <p:nvPr/>
        </p:nvSpPr>
        <p:spPr>
          <a:xfrm>
            <a:off x="1438275" y="3792260"/>
            <a:ext cx="4076700" cy="263277"/>
          </a:xfrm>
          <a:prstGeom prst="rect">
            <a:avLst/>
          </a:prstGeom>
          <a:noFill/>
          <a:ln>
            <a:miter lim="800000"/>
          </a:ln>
        </p:spPr>
        <p:txBody>
          <a:bodyPr wrap="square" lIns="0" tIns="0" rIns="0" bIns="0" rtlCol="0" anchor="t"/>
          <a:lstStyle/>
          <a:p>
            <a:pPr algn="ctr" fontAlgn="ctr">
              <a:lnSpc>
                <a:spcPts val="2074"/>
              </a:lnSpc>
            </a:pPr>
            <a:r>
              <a:rPr lang="en-US" sz="1800" b="1" kern="0" spc="-108" dirty="0">
                <a:solidFill>
                  <a:srgbClr val="333333"/>
                </a:solidFill>
                <a:latin typeface="Arial" pitchFamily="34" charset="0"/>
                <a:ea typeface="Arial" pitchFamily="34" charset="-122"/>
                <a:cs typeface="Arial" pitchFamily="34" charset="-120"/>
              </a:rPr>
              <a:t>Current State (v1.1.1)</a:t>
            </a:r>
            <a:endParaRPr lang="en-US" dirty="0"/>
          </a:p>
        </p:txBody>
      </p:sp>
      <p:sp>
        <p:nvSpPr>
          <p:cNvPr id="7" name="Text 4"/>
          <p:cNvSpPr/>
          <p:nvPr/>
        </p:nvSpPr>
        <p:spPr>
          <a:xfrm>
            <a:off x="1302827" y="4134416"/>
            <a:ext cx="4347597" cy="1042392"/>
          </a:xfrm>
          <a:prstGeom prst="rect">
            <a:avLst/>
          </a:prstGeom>
          <a:noFill/>
          <a:ln>
            <a:miter lim="800000"/>
          </a:ln>
        </p:spPr>
        <p:txBody>
          <a:bodyPr wrap="square" lIns="0" tIns="0" rIns="0" bIns="0" rtlCol="0" anchor="t"/>
          <a:lstStyle/>
          <a:p>
            <a:pPr algn="ctr"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Supports FHIR resource management,</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integrated billing, and cloud delivery, but faces</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security risks including insecure HTTP,</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exposed APIs, and local-only backup storage.</a:t>
            </a:r>
            <a:endParaRPr lang="en-US" dirty="0"/>
          </a:p>
        </p:txBody>
      </p:sp>
      <p:sp>
        <p:nvSpPr>
          <p:cNvPr id="8" name="Shape 5"/>
          <p:cNvSpPr/>
          <p:nvPr/>
        </p:nvSpPr>
        <p:spPr>
          <a:xfrm>
            <a:off x="8001000" y="2267664"/>
            <a:ext cx="1428750" cy="1428750"/>
          </a:xfrm>
          <a:prstGeom prst="roundRect">
            <a:avLst>
              <a:gd name="adj" fmla="val 6400"/>
            </a:avLst>
          </a:prstGeom>
          <a:solidFill>
            <a:srgbClr val="3478B9">
              <a:alpha val="30000"/>
            </a:srgbClr>
          </a:solidFill>
          <a:ln>
            <a:miter lim="800000"/>
          </a:ln>
        </p:spPr>
        <p:txBody>
          <a:bodyPr/>
          <a:lstStyle/>
          <a:p>
            <a:endParaRPr lang="en-US"/>
          </a:p>
        </p:txBody>
      </p:sp>
      <p:pic>
        <p:nvPicPr>
          <p:cNvPr id="9" name="Image 1" descr="0-aba65e.png"/>
          <p:cNvPicPr>
            <a:picLocks noChangeAspect="1"/>
          </p:cNvPicPr>
          <p:nvPr/>
        </p:nvPicPr>
        <p:blipFill>
          <a:blip r:embed="rId4"/>
          <a:stretch>
            <a:fillRect/>
          </a:stretch>
        </p:blipFill>
        <p:spPr>
          <a:xfrm>
            <a:off x="8363769" y="2630315"/>
            <a:ext cx="704850" cy="704850"/>
          </a:xfrm>
          <a:prstGeom prst="rect">
            <a:avLst/>
          </a:prstGeom>
        </p:spPr>
      </p:pic>
      <p:sp>
        <p:nvSpPr>
          <p:cNvPr id="10" name="Text 6"/>
          <p:cNvSpPr/>
          <p:nvPr/>
        </p:nvSpPr>
        <p:spPr>
          <a:xfrm>
            <a:off x="6943323" y="3792260"/>
            <a:ext cx="3544104" cy="263277"/>
          </a:xfrm>
          <a:prstGeom prst="rect">
            <a:avLst/>
          </a:prstGeom>
          <a:noFill/>
          <a:ln>
            <a:miter lim="800000"/>
          </a:ln>
        </p:spPr>
        <p:txBody>
          <a:bodyPr wrap="square" lIns="0" tIns="0" rIns="0" bIns="0" rtlCol="0" anchor="t"/>
          <a:lstStyle/>
          <a:p>
            <a:pPr algn="ctr" fontAlgn="ctr">
              <a:lnSpc>
                <a:spcPts val="2074"/>
              </a:lnSpc>
            </a:pPr>
            <a:r>
              <a:rPr lang="en-US" sz="1800" b="1" kern="0" spc="-108" dirty="0">
                <a:solidFill>
                  <a:srgbClr val="333333"/>
                </a:solidFill>
                <a:latin typeface="Arial" pitchFamily="34" charset="0"/>
                <a:ea typeface="Arial" pitchFamily="34" charset="-122"/>
                <a:cs typeface="Arial" pitchFamily="34" charset="-120"/>
              </a:rPr>
              <a:t>Proposed Improvements (v1.2.0)</a:t>
            </a:r>
            <a:endParaRPr lang="en-US" dirty="0"/>
          </a:p>
        </p:txBody>
      </p:sp>
      <p:sp>
        <p:nvSpPr>
          <p:cNvPr id="11" name="Text 7"/>
          <p:cNvSpPr/>
          <p:nvPr/>
        </p:nvSpPr>
        <p:spPr>
          <a:xfrm>
            <a:off x="6891233" y="4134416"/>
            <a:ext cx="3648283" cy="1042392"/>
          </a:xfrm>
          <a:prstGeom prst="rect">
            <a:avLst/>
          </a:prstGeom>
          <a:noFill/>
          <a:ln>
            <a:miter lim="800000"/>
          </a:ln>
        </p:spPr>
        <p:txBody>
          <a:bodyPr wrap="square" lIns="0" tIns="0" rIns="0" bIns="0" rtlCol="0" anchor="t"/>
          <a:lstStyle/>
          <a:p>
            <a:pPr algn="ctr" fontAlgn="ctr">
              <a:lnSpc>
                <a:spcPts val="2052"/>
              </a:lnSpc>
              <a:spcBef>
                <a:spcPts val="610"/>
              </a:spcBef>
            </a:pPr>
            <a:r>
              <a:rPr lang="en-US" sz="1500" kern="0" spc="-30" dirty="0">
                <a:solidFill>
                  <a:srgbClr val="000000">
                    <a:alpha val="55000"/>
                  </a:srgbClr>
                </a:solidFill>
                <a:latin typeface="Arial" pitchFamily="34" charset="0"/>
                <a:ea typeface="Arial" pitchFamily="34" charset="-122"/>
                <a:cs typeface="Arial" pitchFamily="34" charset="-120"/>
              </a:rPr>
              <a:t>Upgrading to TLS encryption, off-host</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backups, PostgreSQL storage support, and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enhanced QA through E2E testing and</a:t>
            </a:r>
            <a:br>
              <a:rPr lang="en-US" sz="1500" kern="0" spc="-30" dirty="0">
                <a:solidFill>
                  <a:srgbClr val="000000">
                    <a:alpha val="55000"/>
                  </a:srgbClr>
                </a:solidFill>
                <a:latin typeface="Arial" pitchFamily="34" charset="0"/>
                <a:ea typeface="Arial" pitchFamily="34" charset="-122"/>
                <a:cs typeface="Arial" pitchFamily="34" charset="-120"/>
              </a:rPr>
            </a:br>
            <a:r>
              <a:rPr lang="en-US" sz="1500" kern="0" spc="-30" dirty="0">
                <a:solidFill>
                  <a:srgbClr val="000000">
                    <a:alpha val="55000"/>
                  </a:srgbClr>
                </a:solidFill>
                <a:latin typeface="Arial" pitchFamily="34" charset="0"/>
                <a:ea typeface="Arial" pitchFamily="34" charset="-122"/>
                <a:cs typeface="Arial" pitchFamily="34" charset="-120"/>
              </a:rPr>
              <a:t>Synthea queue integration.</a:t>
            </a:r>
            <a:endParaRPr lang="en-US" dirty="0"/>
          </a:p>
        </p:txBody>
      </p:sp>
      <p:sp>
        <p:nvSpPr>
          <p:cNvPr id="12" name="Shape 8"/>
          <p:cNvSpPr/>
          <p:nvPr/>
        </p:nvSpPr>
        <p:spPr>
          <a:xfrm>
            <a:off x="0" y="6134100"/>
            <a:ext cx="12192000" cy="723900"/>
          </a:xfrm>
          <a:prstGeom prst="rect">
            <a:avLst/>
          </a:prstGeom>
          <a:solidFill>
            <a:srgbClr val="222222"/>
          </a:solidFill>
          <a:ln>
            <a:miter lim="800000"/>
          </a:ln>
        </p:spPr>
        <p:txBody>
          <a:bodyPr/>
          <a:lstStyle/>
          <a:p>
            <a:endParaRPr lang="en-US"/>
          </a:p>
        </p:txBody>
      </p:sp>
      <p:sp>
        <p:nvSpPr>
          <p:cNvPr id="13" name="Text 9"/>
          <p:cNvSpPr/>
          <p:nvPr/>
        </p:nvSpPr>
        <p:spPr>
          <a:xfrm>
            <a:off x="471488" y="6376690"/>
            <a:ext cx="11249025" cy="241399"/>
          </a:xfrm>
          <a:prstGeom prst="rect">
            <a:avLst/>
          </a:prstGeom>
          <a:noFill/>
          <a:ln>
            <a:miter lim="800000"/>
          </a:ln>
        </p:spPr>
        <p:txBody>
          <a:bodyPr wrap="square" lIns="0" tIns="0" rIns="0" bIns="0" rtlCol="0" anchor="ctr"/>
          <a:lstStyle/>
          <a:p>
            <a:pPr algn="ctr" fontAlgn="ctr">
              <a:lnSpc>
                <a:spcPts val="1901"/>
              </a:lnSpc>
            </a:pPr>
            <a:r>
              <a:rPr lang="en-US" sz="1650" b="1" kern="0" spc="-99" dirty="0">
                <a:solidFill>
                  <a:srgbClr val="FFFFFF"/>
                </a:solidFill>
                <a:latin typeface="Arial" pitchFamily="34" charset="0"/>
                <a:ea typeface="Arial" pitchFamily="34" charset="-122"/>
                <a:cs typeface="Arial" pitchFamily="34" charset="-120"/>
              </a:rPr>
              <a:t>Source: Paul W. Ford, Technical Reference v1.1.1, August 2026. github.com/fordpw/fhir-platform/blob/master/docs/TECHNICAL_REFERENCE.md</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0243A"/>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2285</TotalTime>
  <Words>3402</Words>
  <Application>Microsoft Office PowerPoint</Application>
  <PresentationFormat>Widescreen</PresentationFormat>
  <Paragraphs>591</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Presentation</dc:subject>
  <dc:creator>Beautiful.ai</dc:creator>
  <cp:lastModifiedBy>paul ford</cp:lastModifiedBy>
  <cp:revision>2</cp:revision>
  <dcterms:created xsi:type="dcterms:W3CDTF">2026-10-05T23:53:01Z</dcterms:created>
  <dcterms:modified xsi:type="dcterms:W3CDTF">2026-10-07T14:56:56Z</dcterms:modified>
</cp:coreProperties>
</file>