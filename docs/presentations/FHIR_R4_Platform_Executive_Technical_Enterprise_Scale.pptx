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outcome: this is not just a FHIR API demo. It is a full path from standards-based data to deployment and operations. Set expectation that the second half focuses on what enterprise scale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executives: the standards-first core is sound. For engineers: the current topology is intentionally small and exposes the exact hardening work required. Avoid calling the current VPS architecture enterprise-ready.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pace the room. Technical questions can be parked for the Q&amp;A unless they clarify a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FHIR as an integration contract. The value is less custom mapping and a common semantic model across clinical and administrative workflows.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separation between reusable FHIR service, administration, demonstration client, and persistence. Synthea allows realistic testing without PHI.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Emphasize that Spring Boot is internal in production and MongoDB is localhost-only. The simplicity is a strength for learning, but also creates single-node availability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document storage is attractive for FHIR. Then pivot: enterprise search performance depends on explicit indexes for references, codes, dates, identifiers, and common compound predicates.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executive-friendly demo story. Every step is a real POST; the returned UUID becomes a reference in later resources. It proves linked FHIR resources rather than a pre-baked animation.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implementation is layered enough to evolve. For enterprise scale, preserve the API/domain separation while introducing storage adapters, queue workers, gateway policy, and observability.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three validations: code tests, image/build validation, and deployed-system smoke tests. The production smoke test was an important maturity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out the critical gap without minimizing it: raw FHIR endpoints are currently public. This is acceptable only for a synthetic demonstration environment. Enterprise use requires a proper authorization server and scoped FHIR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concrete examples: stats response shape, Compose namespace/volume collision, JWT variable naming, CORS behavior, and PowerShell chunked-response behavior. These are representative integration lessons.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not defects in the concept; they are boundaries of the current demonstration. Each maps directly to a target-state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technical slide. Explain separation of concerns: gateway protects, stateless API scales, database provides durable HA, cache/search accelerates reads, queue isolates expensive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start with sharding. Start with measurement and indexes. Horizontal API scaling is usually easier than data-tier scaling. Large offset pagination and unindexed nested searches can dominate latency.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workload classes need separate budgets. Bulk ingestion should not consume the same thread/connection pools that serve interactive clinical queries.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 reliability means a tested recovery path. Ask: what RTO/RPO does the business require? That answer determines topology and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 FHIR service, technical telemetry should be joined to semantic telemetry: resource type, operation, search parameter pattern, bundle size, and business workflow outcome—without leaking PHI into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 a benchmark harness with synthetic data and representative query mixes. Establish p95/p99 targets and at least 30–50% headroom at expected peak.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sequence deliberately puts security and recovery before performance optimization. Enterprise readiness is risk-led, then scale-led.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findings. The architecture succeeded as a learning platform because it is understandable. The enterprise version should retain that clarity while replacing single-node and trust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one sentence: preserve the FHIR contract, engineer the operating envelope.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only if someone asks about exact versions or components.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during Q&amp;A if security or compliance is challenged. Note that this is an engineering checklist, not a claim of compliance.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060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FHIR R4 PLATFORM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69680" y="656539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582"/>
                </a:solidFill>
              </a:rPr>
              <a:t>Paul W. Ford  |  August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7589520" y="45720"/>
            <a:ext cx="4572000" cy="4572000"/>
          </a:xfrm>
          <a:prstGeom prst="arc">
            <a:avLst/>
          </a:prstGeom>
          <a:solidFill>
            <a:srgbClr val="1E9E8E">
              <a:alpha val="30000"/>
            </a:srgbClr>
          </a:solidFill>
          <a:ln w="12700">
            <a:solidFill>
              <a:srgbClr val="1E9E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6012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FHIR R4 Platform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169164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FE8E2"/>
                </a:solidFill>
              </a:rPr>
              <a:t>From working prototype to enterprise scale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31520" y="23591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AC4"/>
                </a:solidFill>
              </a:rPr>
              <a:t>Architecture • Implementation • Lessons learned • Enterprise performance roadmap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987552" cy="310896"/>
          </a:xfrm>
          <a:prstGeom prst="roundRect">
            <a:avLst>
              <a:gd name="adj" fmla="val 35294"/>
            </a:avLst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321868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FHIR R4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74520" y="3154680"/>
            <a:ext cx="987552" cy="310896"/>
          </a:xfrm>
          <a:prstGeom prst="roundRect">
            <a:avLst>
              <a:gd name="adj" fmla="val 35294"/>
            </a:avLst>
          </a:prstGeom>
          <a:solidFill>
            <a:srgbClr val="21414B"/>
          </a:solidFill>
          <a:ln w="12700">
            <a:solidFill>
              <a:srgbClr val="2141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47672" y="321868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HAPI FHIR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17520" y="3154680"/>
            <a:ext cx="987552" cy="310896"/>
          </a:xfrm>
          <a:prstGeom prst="roundRect">
            <a:avLst>
              <a:gd name="adj" fmla="val 35294"/>
            </a:avLst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321868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Spring Boot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60520" y="3154680"/>
            <a:ext cx="987552" cy="310896"/>
          </a:xfrm>
          <a:prstGeom prst="roundRect">
            <a:avLst>
              <a:gd name="adj" fmla="val 35294"/>
            </a:avLst>
          </a:prstGeom>
          <a:solidFill>
            <a:srgbClr val="21414B"/>
          </a:solidFill>
          <a:ln w="12700">
            <a:solidFill>
              <a:srgbClr val="2141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3672" y="321868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MongoDB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03520" y="3154680"/>
            <a:ext cx="987552" cy="310896"/>
          </a:xfrm>
          <a:prstGeom prst="roundRect">
            <a:avLst>
              <a:gd name="adj" fmla="val 35294"/>
            </a:avLst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76672" y="321868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React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46520" y="3154680"/>
            <a:ext cx="987552" cy="310896"/>
          </a:xfrm>
          <a:prstGeom prst="roundRect">
            <a:avLst>
              <a:gd name="adj" fmla="val 35294"/>
            </a:avLst>
          </a:prstGeom>
          <a:solidFill>
            <a:srgbClr val="21414B"/>
          </a:solidFill>
          <a:ln w="12700">
            <a:solidFill>
              <a:srgbClr val="2141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321868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Docker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589520" y="3154680"/>
            <a:ext cx="987552" cy="310896"/>
          </a:xfrm>
          <a:prstGeom prst="roundRect">
            <a:avLst>
              <a:gd name="adj" fmla="val 35294"/>
            </a:avLst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62672" y="321868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CI/CD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5166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45-minute presentation  |  15-minute Q&amp;A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6235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AC4"/>
                </a:solidFill>
              </a:rPr>
              <a:t>Paul W. Ford  •  v1.1.1  •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926"/>
                </a:solidFill>
              </a:rPr>
              <a:t>Executive takeaway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6C"/>
                </a:solidFill>
              </a:rPr>
              <a:t>The project proves the core interoperability pattern; enterprise adoption requires hardening the operating model around it.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429000" cy="425196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64008" cy="4251960"/>
          </a:xfrm>
          <a:prstGeom prst="rect">
            <a:avLst/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636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What was proven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1920240"/>
            <a:ext cx="3081528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A standards-based healthcare platform can be assembled from modern open-source components and taken from local development to a live cloud deployment with automated CI/CD.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70832" y="1417320"/>
            <a:ext cx="3429000" cy="425196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70832" y="1417320"/>
            <a:ext cx="64008" cy="4251960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636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What was learned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1920240"/>
            <a:ext cx="3081528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FHIR semantics are only part of the challenge. Environment isolation, API contracts, CORS/proxy behavior, auth boundaries, deployment repeatability, and production smoke tests mattered just as much.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3429000" cy="425196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417320"/>
            <a:ext cx="64008" cy="4251960"/>
          </a:xfrm>
          <a:prstGeom prst="rect">
            <a:avLst/>
          </a:prstGeom>
          <a:solidFill>
            <a:srgbClr val="E7A53B"/>
          </a:solidFill>
          <a:ln w="12700">
            <a:solidFill>
              <a:srgbClr val="E7A5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5636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What enterprise scale changes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85048" y="1920240"/>
            <a:ext cx="3081528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The target architecture must add zero-trust API security, HA/DR, managed data services, horizontal scaling, search/index strategy, async workload isolation, observability, SLOs, and capacity engineering.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" y="623620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582"/>
                </a:solidFill>
              </a:rPr>
              <a:t>Executive message: preserve the standards-first design; evolve the deployment and operational architecture.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926"/>
                </a:solidFill>
              </a:rPr>
              <a:t>Presentation roadmap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6C"/>
                </a:solidFill>
              </a:rPr>
              <a:t>Designed for a mixed executive + deep-technical audience.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E8E"/>
                </a:solidFill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4173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926"/>
                </a:solidFill>
              </a:rPr>
              <a:t>Why FHIR / why this platform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0" y="1417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6C"/>
                </a:solidFill>
              </a:rPr>
              <a:t>5 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1847088"/>
            <a:ext cx="9601200" cy="0"/>
          </a:xfrm>
          <a:prstGeom prst="line">
            <a:avLst/>
          </a:prstGeom>
          <a:noFill/>
          <a:ln w="10160">
            <a:solidFill>
              <a:srgbClr val="CBD5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305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E8E"/>
                </a:solidFill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1305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926"/>
                </a:solidFill>
              </a:rPr>
              <a:t>Architecture &amp; implementation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0" y="21305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6C"/>
                </a:solidFill>
              </a:rPr>
              <a:t>12 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80160" y="2560320"/>
            <a:ext cx="9601200" cy="0"/>
          </a:xfrm>
          <a:prstGeom prst="line">
            <a:avLst/>
          </a:prstGeom>
          <a:noFill/>
          <a:ln w="10160">
            <a:solidFill>
              <a:srgbClr val="CBD5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4378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E8E"/>
                </a:solidFill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84378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926"/>
                </a:solidFill>
              </a:rPr>
              <a:t>Claims workflow &amp; delivery pipeline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75520" y="28437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6C"/>
                </a:solidFill>
              </a:rPr>
              <a:t>8 min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80160" y="3273552"/>
            <a:ext cx="9601200" cy="0"/>
          </a:xfrm>
          <a:prstGeom prst="line">
            <a:avLst/>
          </a:prstGeom>
          <a:noFill/>
          <a:ln w="10160">
            <a:solidFill>
              <a:srgbClr val="CBD5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5701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E8E"/>
                </a:solidFill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355701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926"/>
                </a:solidFill>
              </a:rPr>
              <a:t>Lessons learned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875520" y="35570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6C"/>
                </a:solidFill>
              </a:rPr>
              <a:t>8 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80160" y="3986784"/>
            <a:ext cx="9601200" cy="0"/>
          </a:xfrm>
          <a:prstGeom prst="line">
            <a:avLst/>
          </a:prstGeom>
          <a:noFill/>
          <a:ln w="10160">
            <a:solidFill>
              <a:srgbClr val="CBD5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2702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E8E"/>
                </a:solidFill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427024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926"/>
                </a:solidFill>
              </a:rPr>
              <a:t>Enterprise scale &amp; performance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75520" y="42702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6C"/>
                </a:solidFill>
              </a:rPr>
              <a:t>10 min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280160" y="4700016"/>
            <a:ext cx="9601200" cy="0"/>
          </a:xfrm>
          <a:prstGeom prst="line">
            <a:avLst/>
          </a:prstGeom>
          <a:noFill/>
          <a:ln w="10160">
            <a:solidFill>
              <a:srgbClr val="CBD5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9834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E8E"/>
                </a:solidFill>
              </a:rPr>
              <a:t>06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49834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926"/>
                </a:solidFill>
              </a:rPr>
              <a:t>Recommendations / close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75520" y="4983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1706C"/>
                </a:solidFill>
              </a:rPr>
              <a:t>2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280160" y="5413248"/>
            <a:ext cx="9601200" cy="0"/>
          </a:xfrm>
          <a:prstGeom prst="line">
            <a:avLst/>
          </a:prstGeom>
          <a:noFill/>
          <a:ln w="10160">
            <a:solidFill>
              <a:srgbClr val="CBD5D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926"/>
                </a:solidFill>
              </a:rPr>
              <a:t>Why FHIR matters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6C"/>
                </a:solidFill>
              </a:rPr>
              <a:t>FHIR turns healthcare interoperability into a resource + API contract instead of a point-to-point integration exercise.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2926080" cy="411480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63040"/>
            <a:ext cx="64008" cy="4114800"/>
          </a:xfrm>
          <a:prstGeom prst="rect">
            <a:avLst/>
          </a:prstGeom>
          <a:solidFill>
            <a:srgbClr val="C65B50"/>
          </a:solidFill>
          <a:ln w="12700">
            <a:solidFill>
              <a:srgbClr val="C65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6093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Healthcare data problem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1965960"/>
            <a:ext cx="2578608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Clinical, administrative, and financial data is fragmented across systems. Traditional interfaces often create bespoke mappings and brittle dependencies.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17720" y="1463040"/>
            <a:ext cx="2926080" cy="411480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463040"/>
            <a:ext cx="64008" cy="4114800"/>
          </a:xfrm>
          <a:prstGeom prst="rect">
            <a:avLst/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16093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FHIR abstraction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18888" y="1965960"/>
            <a:ext cx="2578608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Discrete resources—Patient, Encounter, Condition, Claim, EOB—share standard JSON structures, references, coding systems, and REST semantics.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41080" y="1463040"/>
            <a:ext cx="2926080" cy="411480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41080" y="1463040"/>
            <a:ext cx="64008" cy="4114800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42248" y="16093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Business outcome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42248" y="1965960"/>
            <a:ext cx="2578608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A consistent API boundary lowers integration friction and creates a reusable foundation for apps, analytics, automation, and partner exchange.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11880" y="3474720"/>
            <a:ext cx="822960" cy="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3474720"/>
            <a:ext cx="822960" cy="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926"/>
                </a:solidFill>
              </a:rPr>
              <a:t>What the project implements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6C"/>
                </a:solidFill>
              </a:rPr>
              <a:t>Four deployable components create a complete learning and demonstration platform.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2514600" cy="416052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64008" cy="4160520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6550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Admin UI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2011680"/>
            <a:ext cx="2167128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React + Vite + Tailwind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Resource browser • user admin • API console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508760"/>
            <a:ext cx="2514600" cy="416052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1508760"/>
            <a:ext cx="64008" cy="4160520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0168" y="16550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Claims demo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30168" y="2011680"/>
            <a:ext cx="2167128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React guided workflow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5 live FHIR calls • revenue-cycle story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508760"/>
            <a:ext cx="2514600" cy="4160520"/>
          </a:xfrm>
          <a:prstGeom prst="roundRect">
            <a:avLst>
              <a:gd name="adj" fmla="val 2182"/>
            </a:avLst>
          </a:prstGeom>
          <a:solidFill>
            <a:srgbClr val="DDF3EC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508760"/>
            <a:ext cx="64008" cy="4160520"/>
          </a:xfrm>
          <a:prstGeom prst="rect">
            <a:avLst/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16550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FHIR server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64808" y="2011680"/>
            <a:ext cx="2167128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Spring Boot + HAPI FHIR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15 resource providers • CRUD/search • auth/admin APIs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98280" y="1508760"/>
            <a:ext cx="2514600" cy="416052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1508760"/>
            <a:ext cx="64008" cy="4160520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99448" y="16550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Data layer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99448" y="2011680"/>
            <a:ext cx="2167128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MongoDB 7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Native JSON/BSON • collection per resource type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34840" y="5806440"/>
            <a:ext cx="3383280" cy="310896"/>
          </a:xfrm>
          <a:prstGeom prst="roundRect">
            <a:avLst>
              <a:gd name="adj" fmla="val 35294"/>
            </a:avLst>
          </a:prstGeom>
          <a:solidFill>
            <a:srgbClr val="102B36"/>
          </a:solidFill>
          <a:ln w="12700">
            <a:solidFill>
              <a:srgbClr val="102B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07992" y="5870448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Synthea generates synthetic FHIR R4 bundles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926"/>
                </a:solidFill>
              </a:rPr>
              <a:t>Current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6C"/>
                </a:solidFill>
              </a:rPr>
              <a:t>A deliberately simple production topology made the end-to-end system understandable and deployable.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CBD5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49631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26"/>
                </a:solidFill>
              </a:rPr>
              <a:t>Browser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423160" y="1554480"/>
            <a:ext cx="13258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CBD5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96312" y="1719072"/>
            <a:ext cx="1179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26"/>
                </a:solidFill>
              </a:rPr>
              <a:t>Caddy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417320"/>
            <a:ext cx="15087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CBD5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5112" y="1581912"/>
            <a:ext cx="13624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26"/>
                </a:solidFill>
              </a:rPr>
              <a:t>Admin UI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D2926"/>
                </a:solidFill>
              </a:rPr>
              <a:t>nginx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148840"/>
            <a:ext cx="1874520" cy="1143000"/>
          </a:xfrm>
          <a:prstGeom prst="roundRect">
            <a:avLst>
              <a:gd name="adj" fmla="val 4000"/>
            </a:avLst>
          </a:prstGeom>
          <a:solidFill>
            <a:srgbClr val="DDF3EC"/>
          </a:solidFill>
          <a:ln w="15240">
            <a:solidFill>
              <a:srgbClr val="1E9E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2313432"/>
            <a:ext cx="17282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26"/>
                </a:solidFill>
              </a:rPr>
              <a:t>FHIR Server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D2926"/>
                </a:solidFill>
              </a:rPr>
              <a:t>Spring Boot + HAPI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0" y="2148840"/>
            <a:ext cx="16459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BD5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17152" y="2313432"/>
            <a:ext cx="149961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26"/>
                </a:solidFill>
              </a:rPr>
              <a:t>MongoDB 7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D2926"/>
                </a:solidFill>
              </a:rPr>
              <a:t>localhost only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51960" y="3337560"/>
            <a:ext cx="150876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CBD5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25112" y="3502152"/>
            <a:ext cx="136245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26"/>
                </a:solidFill>
              </a:rPr>
              <a:t>Claims Demo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D2926"/>
                </a:solidFill>
              </a:rPr>
              <a:t>nginx :5175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0" y="3977640"/>
            <a:ext cx="164592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240">
            <a:solidFill>
              <a:srgbClr val="CBD5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7152" y="4142232"/>
            <a:ext cx="14996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26"/>
                </a:solidFill>
              </a:rPr>
              <a:t>Backup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D2926"/>
                </a:solidFill>
              </a:rPr>
              <a:t>sidecar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20240" y="2743200"/>
            <a:ext cx="502920" cy="-82296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749040" y="1920240"/>
            <a:ext cx="502920" cy="-4572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760720" y="1920240"/>
            <a:ext cx="640080" cy="54864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920240" y="2834640"/>
            <a:ext cx="2331720" cy="96012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760720" y="3794760"/>
            <a:ext cx="640080" cy="-82296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275320" y="2724912"/>
            <a:ext cx="868680" cy="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966960" y="3977640"/>
            <a:ext cx="0" cy="-64008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565392" y="1325880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102B36"/>
          </a:solidFill>
          <a:ln w="12700">
            <a:solidFill>
              <a:srgbClr val="102B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38544" y="1389888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/fhir + /api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0352" y="623620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582"/>
                </a:solidFill>
              </a:rPr>
              <a:t>Current production host: single DigitalOcean VPS, 2 vCPU / 4 GB RAM / 80 GB SSD; containerized with Docker Compose.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926"/>
                </a:solidFill>
              </a:rPr>
              <a:t>Data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6C"/>
                </a:solidFill>
              </a:rPr>
              <a:t>FHIR JSON maps naturally to document storage—but search design becomes the scaling hinge.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1691640" cy="310896"/>
          </a:xfrm>
          <a:prstGeom prst="roundRect">
            <a:avLst>
              <a:gd name="adj" fmla="val 35294"/>
            </a:avLst>
          </a:prstGeom>
          <a:solidFill>
            <a:srgbClr val="DDF3EC"/>
          </a:solidFill>
          <a:ln w="12700">
            <a:solidFill>
              <a:srgbClr val="DDF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72768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B36"/>
                </a:solidFill>
              </a:rPr>
              <a:t>Patient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697480" y="1508760"/>
            <a:ext cx="1691640" cy="310896"/>
          </a:xfrm>
          <a:prstGeom prst="roundRect">
            <a:avLst>
              <a:gd name="adj" fmla="val 35294"/>
            </a:avLst>
          </a:prstGeom>
          <a:solidFill>
            <a:srgbClr val="DDF3EC"/>
          </a:solidFill>
          <a:ln w="12700">
            <a:solidFill>
              <a:srgbClr val="DDF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70632" y="1572768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B36"/>
                </a:solidFill>
              </a:rPr>
              <a:t>Encounter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1691640" cy="310896"/>
          </a:xfrm>
          <a:prstGeom prst="roundRect">
            <a:avLst>
              <a:gd name="adj" fmla="val 35294"/>
            </a:avLst>
          </a:prstGeom>
          <a:solidFill>
            <a:srgbClr val="DDF3EC"/>
          </a:solidFill>
          <a:ln w="12700">
            <a:solidFill>
              <a:srgbClr val="DDF3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572768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B36"/>
                </a:solidFill>
              </a:rPr>
              <a:t>Condition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12280" y="1508760"/>
            <a:ext cx="1691640" cy="310896"/>
          </a:xfrm>
          <a:prstGeom prst="roundRect">
            <a:avLst>
              <a:gd name="adj" fmla="val 35294"/>
            </a:avLst>
          </a:prstGeom>
          <a:solidFill>
            <a:srgbClr val="DDF3EC"/>
          </a:solidFill>
          <a:ln w="12700">
            <a:solidFill>
              <a:srgbClr val="DDF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85432" y="1572768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B36"/>
                </a:solidFill>
              </a:rPr>
              <a:t>Observation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039112"/>
            <a:ext cx="1691640" cy="310896"/>
          </a:xfrm>
          <a:prstGeom prst="roundRect">
            <a:avLst>
              <a:gd name="adj" fmla="val 35294"/>
            </a:avLst>
          </a:prstGeom>
          <a:solidFill>
            <a:srgbClr val="E9EFED"/>
          </a:solidFill>
          <a:ln w="12700">
            <a:solidFill>
              <a:srgbClr val="E9EF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103120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B36"/>
                </a:solidFill>
              </a:rPr>
              <a:t>Claim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97480" y="2039112"/>
            <a:ext cx="1691640" cy="310896"/>
          </a:xfrm>
          <a:prstGeom prst="roundRect">
            <a:avLst>
              <a:gd name="adj" fmla="val 35294"/>
            </a:avLst>
          </a:prstGeom>
          <a:solidFill>
            <a:srgbClr val="E9EFED"/>
          </a:solidFill>
          <a:ln w="12700">
            <a:solidFill>
              <a:srgbClr val="E9EF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70632" y="2103120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B36"/>
                </a:solidFill>
              </a:rPr>
              <a:t>Coverage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2039112"/>
            <a:ext cx="1691640" cy="310896"/>
          </a:xfrm>
          <a:prstGeom prst="roundRect">
            <a:avLst>
              <a:gd name="adj" fmla="val 35294"/>
            </a:avLst>
          </a:prstGeom>
          <a:solidFill>
            <a:srgbClr val="E9EFED"/>
          </a:solidFill>
          <a:ln w="12700">
            <a:solidFill>
              <a:srgbClr val="E9EF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2103120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B36"/>
                </a:solidFill>
              </a:rPr>
              <a:t>EOB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12280" y="2039112"/>
            <a:ext cx="1691640" cy="310896"/>
          </a:xfrm>
          <a:prstGeom prst="roundRect">
            <a:avLst>
              <a:gd name="adj" fmla="val 35294"/>
            </a:avLst>
          </a:prstGeom>
          <a:solidFill>
            <a:srgbClr val="E9EFED"/>
          </a:solidFill>
          <a:ln w="12700">
            <a:solidFill>
              <a:srgbClr val="E9EF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85432" y="2103120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B36"/>
                </a:solidFill>
              </a:rPr>
              <a:t>+ 8 types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2788920"/>
            <a:ext cx="29718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2788920"/>
            <a:ext cx="64008" cy="2331720"/>
          </a:xfrm>
          <a:prstGeom prst="rect">
            <a:avLst/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29352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Storage pattern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86968" y="3291840"/>
            <a:ext cx="262432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One MongoDB collection per resource type. Resource ID becomes the document key; the raw FHIR JSON remains intact.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60520" y="2788920"/>
            <a:ext cx="29718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60520" y="2788920"/>
            <a:ext cx="64008" cy="2331720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61688" y="29352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Why it worked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361688" y="3291840"/>
            <a:ext cx="262432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No relational impedance mismatch; optional fields and extensions do not require schema migrations; fast path from FHIR object to persisted JSON.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635240" y="2788920"/>
            <a:ext cx="37947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35240" y="2788920"/>
            <a:ext cx="64008" cy="2331720"/>
          </a:xfrm>
          <a:prstGeom prst="rect">
            <a:avLst/>
          </a:prstGeom>
          <a:solidFill>
            <a:srgbClr val="E7A53B"/>
          </a:solidFill>
          <a:ln w="12700">
            <a:solidFill>
              <a:srgbClr val="E7A5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36408" y="29352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Enterprise implication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836408" y="3291840"/>
            <a:ext cx="344728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Generic document storage is not enough for high-volume FHIR search. Indexes must be designed around real search parameters, cardinality, tenant boundaries, and query patterns.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926"/>
                </a:solidFill>
              </a:rPr>
              <a:t>Claims workflow makes FHIR tangible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6C"/>
                </a:solidFill>
              </a:rPr>
              <a:t>Five live API calls create linked resources and tell a complete revenue-cycle story.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161288" y="1508760"/>
            <a:ext cx="685800" cy="685800"/>
          </a:xfrm>
          <a:prstGeom prst="ellipse">
            <a:avLst/>
          </a:prstGeom>
          <a:solidFill>
            <a:srgbClr val="1E9E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" y="16916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423160"/>
            <a:ext cx="1993392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423160"/>
            <a:ext cx="64008" cy="1965960"/>
          </a:xfrm>
          <a:prstGeom prst="rect">
            <a:avLst/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2569464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Patient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4088" y="2926080"/>
            <a:ext cx="164592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Register member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96312" y="3383280"/>
            <a:ext cx="274320" cy="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65576" y="1508760"/>
            <a:ext cx="685800" cy="685800"/>
          </a:xfrm>
          <a:prstGeom prst="ellipse">
            <a:avLst/>
          </a:prstGeom>
          <a:solidFill>
            <a:srgbClr val="1E9E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5576" y="16916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07208" y="2423160"/>
            <a:ext cx="1993392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07208" y="2423160"/>
            <a:ext cx="64008" cy="1965960"/>
          </a:xfrm>
          <a:prstGeom prst="rect">
            <a:avLst/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8376" y="2569464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Encounter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08376" y="2926080"/>
            <a:ext cx="164592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Office visit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3383280"/>
            <a:ext cx="274320" cy="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769864" y="1508760"/>
            <a:ext cx="685800" cy="685800"/>
          </a:xfrm>
          <a:prstGeom prst="ellipse">
            <a:avLst/>
          </a:prstGeom>
          <a:solidFill>
            <a:srgbClr val="1E9E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9864" y="16916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11496" y="2423160"/>
            <a:ext cx="1993392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11496" y="2423160"/>
            <a:ext cx="64008" cy="1965960"/>
          </a:xfrm>
          <a:prstGeom prst="rect">
            <a:avLst/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12664" y="2569464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Condition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12664" y="2926080"/>
            <a:ext cx="164592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Type 2 diabetes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04888" y="3383280"/>
            <a:ext cx="274320" cy="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74152" y="1508760"/>
            <a:ext cx="685800" cy="685800"/>
          </a:xfrm>
          <a:prstGeom prst="ellipse">
            <a:avLst/>
          </a:prstGeom>
          <a:solidFill>
            <a:srgbClr val="1E9E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74152" y="16916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415784" y="2423160"/>
            <a:ext cx="1993392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15784" y="2423160"/>
            <a:ext cx="64008" cy="1965960"/>
          </a:xfrm>
          <a:prstGeom prst="rect">
            <a:avLst/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16952" y="2569464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Claim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616952" y="2926080"/>
            <a:ext cx="164592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$150 • CPT 99213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409176" y="3383280"/>
            <a:ext cx="274320" cy="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378440" y="1508760"/>
            <a:ext cx="685800" cy="685800"/>
          </a:xfrm>
          <a:prstGeom prst="ellipse">
            <a:avLst/>
          </a:prstGeom>
          <a:solidFill>
            <a:srgbClr val="102B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78440" y="16916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720072" y="2423160"/>
            <a:ext cx="1993392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20072" y="2423160"/>
            <a:ext cx="64008" cy="1965960"/>
          </a:xfrm>
          <a:prstGeom prst="rect">
            <a:avLst/>
          </a:prstGeom>
          <a:solidFill>
            <a:srgbClr val="102B36"/>
          </a:solidFill>
          <a:ln w="12700">
            <a:solidFill>
              <a:srgbClr val="102B3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21240" y="2569464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EOB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921240" y="2926080"/>
            <a:ext cx="164592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$120 insurer paid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926080" y="48006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Server-assigned UUIDs are passed forward as FHIR references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926"/>
                </a:solidFill>
              </a:rPr>
              <a:t>Implementation pattern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6C"/>
                </a:solidFill>
              </a:rPr>
              <a:t>The codebase separates standard FHIR behavior, platform administration, data generation, and user experience.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10515600" cy="621792"/>
          </a:xfrm>
          <a:prstGeom prst="roundRect">
            <a:avLst>
              <a:gd name="adj" fmla="val 5882"/>
            </a:avLst>
          </a:prstGeom>
          <a:solidFill>
            <a:srgbClr val="E9EFED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4813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926"/>
                </a:solidFill>
              </a:rPr>
              <a:t>Experience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148132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926"/>
                </a:solidFill>
              </a:rPr>
              <a:t>Admin UI • Claims demo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0" y="14813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1706C"/>
                </a:solidFill>
              </a:rPr>
              <a:t>React / TypeScript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167128"/>
            <a:ext cx="10515600" cy="621792"/>
          </a:xfrm>
          <a:prstGeom prst="roundRect">
            <a:avLst>
              <a:gd name="adj" fmla="val 5882"/>
            </a:avLst>
          </a:prstGeom>
          <a:solidFill>
            <a:srgbClr val="DDF3EC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3225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926"/>
                </a:solidFill>
              </a:rPr>
              <a:t>API boundary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232257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926"/>
                </a:solidFill>
              </a:rPr>
              <a:t>FHIR REST + custom admin/auth APIs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0" y="232257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1706C"/>
                </a:solidFill>
              </a:rPr>
              <a:t>HAPI Plain Server / Spring MVC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008376"/>
            <a:ext cx="10515600" cy="621792"/>
          </a:xfrm>
          <a:prstGeom prst="roundRect">
            <a:avLst>
              <a:gd name="adj" fmla="val 5882"/>
            </a:avLst>
          </a:prstGeom>
          <a:solidFill>
            <a:srgbClr val="E9EFED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1638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926"/>
                </a:solidFill>
              </a:rPr>
              <a:t>Domain services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316382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926"/>
                </a:solidFill>
              </a:rPr>
              <a:t>Bundle import • Synthea jobs • users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31638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1706C"/>
                </a:solidFill>
              </a:rPr>
              <a:t>Spring services / async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849624"/>
            <a:ext cx="1051560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0050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926"/>
                </a:solidFill>
              </a:rPr>
              <a:t>Persistence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400507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926"/>
                </a:solidFill>
              </a:rPr>
              <a:t>Dynamic FHIR collections + users/jobs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0" y="40050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1706C"/>
                </a:solidFill>
              </a:rPr>
              <a:t>Spring Data MongoDB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690872"/>
            <a:ext cx="10515600" cy="621792"/>
          </a:xfrm>
          <a:prstGeom prst="roundRect">
            <a:avLst>
              <a:gd name="adj" fmla="val 5882"/>
            </a:avLst>
          </a:prstGeom>
          <a:solidFill>
            <a:srgbClr val="E9EFED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8463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926"/>
                </a:solidFill>
              </a:rPr>
              <a:t>Runtime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48463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926"/>
                </a:solidFill>
              </a:rPr>
              <a:t>Containers • reverse proxy • backups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0" y="48463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1706C"/>
                </a:solidFill>
              </a:rPr>
              <a:t>Docker Compose / nginx / Caddy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926"/>
                </a:solidFill>
              </a:rPr>
              <a:t>Delivery pipeline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6C"/>
                </a:solidFill>
              </a:rPr>
              <a:t>The project evolved from “it runs” to repeatable build, test, deploy, and live verification.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47472" y="1965960"/>
            <a:ext cx="13716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2194560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26"/>
                </a:solidFill>
              </a:rPr>
              <a:t>Code / PR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0624" y="257860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706C"/>
                </a:solidFill>
              </a:rPr>
              <a:t>GitHub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19072" y="2587752"/>
            <a:ext cx="256032" cy="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011680" y="1965960"/>
            <a:ext cx="13716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832" y="2194560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26"/>
                </a:solidFill>
              </a:rPr>
              <a:t>CI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84832" y="257860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706C"/>
                </a:solidFill>
              </a:rPr>
              <a:t>Maven + Vite + Vitest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2587752"/>
            <a:ext cx="256032" cy="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75888" y="1965960"/>
            <a:ext cx="13716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2194560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26"/>
                </a:solidFill>
              </a:rPr>
              <a:t>Build gate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257860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706C"/>
                </a:solidFill>
              </a:rPr>
              <a:t>Docker Compose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47488" y="2587752"/>
            <a:ext cx="256032" cy="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40096" y="1965960"/>
            <a:ext cx="13716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3248" y="2194560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26"/>
                </a:solidFill>
              </a:rPr>
              <a:t>Staging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13248" y="257860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706C"/>
                </a:solidFill>
              </a:rPr>
              <a:t>self-hosted runner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11696" y="2587752"/>
            <a:ext cx="256032" cy="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004304" y="1965960"/>
            <a:ext cx="13716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77456" y="2194560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26"/>
                </a:solidFill>
              </a:rPr>
              <a:t>Release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77456" y="257860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706C"/>
                </a:solidFill>
              </a:rPr>
              <a:t>v* tag / manual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375904" y="2587752"/>
            <a:ext cx="256032" cy="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668512" y="1965960"/>
            <a:ext cx="13716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41664" y="2194560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926"/>
                </a:solidFill>
              </a:rPr>
              <a:t>Registry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41664" y="257860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706C"/>
                </a:solidFill>
              </a:rPr>
              <a:t>GHCR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040112" y="2587752"/>
            <a:ext cx="256032" cy="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332720" y="1965960"/>
            <a:ext cx="1371600" cy="1234440"/>
          </a:xfrm>
          <a:prstGeom prst="roundRect">
            <a:avLst>
              <a:gd name="adj" fmla="val 3704"/>
            </a:avLst>
          </a:prstGeom>
          <a:solidFill>
            <a:srgbClr val="102B36"/>
          </a:solidFill>
          <a:ln w="12700">
            <a:solidFill>
              <a:srgbClr val="102B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05872" y="2194560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405872" y="2578608"/>
            <a:ext cx="1225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E8E4"/>
                </a:solidFill>
              </a:rPr>
              <a:t>SSH deploy + health check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14400" y="3977640"/>
            <a:ext cx="30632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" y="3977640"/>
            <a:ext cx="64008" cy="1417320"/>
          </a:xfrm>
          <a:prstGeom prst="rect">
            <a:avLst/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15568" y="4123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49 automated tests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15568" y="4480560"/>
            <a:ext cx="271576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Backend security + paging; frontend auth, dashboard, pagination, API console, and user management.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0" y="3977640"/>
            <a:ext cx="30632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0" y="3977640"/>
            <a:ext cx="64008" cy="1417320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4123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Production smoke test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773168" y="4480560"/>
            <a:ext cx="271576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CapabilityStatement, UI, auth, stats, Patient CRUD, and optional Synthea generation against the deployed stack.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229600" y="3977640"/>
            <a:ext cx="30632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0" y="3977640"/>
            <a:ext cx="64008" cy="1417320"/>
          </a:xfrm>
          <a:prstGeom prst="rect">
            <a:avLst/>
          </a:prstGeom>
          <a:solidFill>
            <a:srgbClr val="E7A53B"/>
          </a:solidFill>
          <a:ln w="12700">
            <a:solidFill>
              <a:srgbClr val="E7A5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30768" y="4123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Key principle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430768" y="4480560"/>
            <a:ext cx="271576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Unit tests validate code. Smoke tests validate the system that users actually reach.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926"/>
                </a:solidFill>
              </a:rPr>
              <a:t>Security: good patterns—and one critical enterprise gap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6C"/>
                </a:solidFill>
              </a:rPr>
              <a:t>The project surfaced several security lessons early enough to influence the target architecture.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337560" cy="434340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64008" cy="4343400"/>
          </a:xfrm>
          <a:prstGeom prst="rect">
            <a:avLst/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636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Implemented well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1920240"/>
            <a:ext cx="2990088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• BCrypt password hashing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• JWT classification and 401/403 behavior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• ADMIN-only user creation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• Environment-specific signing keys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• MongoDB bound to localhost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• Dedicated application DB user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07408" y="1417320"/>
            <a:ext cx="3337560" cy="434340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7408" y="1417320"/>
            <a:ext cx="64008" cy="4343400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15636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Lesson learned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08576" y="1920240"/>
            <a:ext cx="2990088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A registration route originally allowed privilege escalation and was fixed. Dev/staging signing-key isolation also had to be made explicit. Security defaults and environment boundaries must be tested, not assumed.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74736" y="1417320"/>
            <a:ext cx="3337560" cy="434340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74736" y="1417320"/>
            <a:ext cx="64008" cy="4343400"/>
          </a:xfrm>
          <a:prstGeom prst="rect">
            <a:avLst/>
          </a:prstGeom>
          <a:solidFill>
            <a:srgbClr val="C65B50"/>
          </a:solidFill>
          <a:ln w="12700">
            <a:solidFill>
              <a:srgbClr val="C65B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5636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Enterprise requirement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75904" y="1920240"/>
            <a:ext cx="2990088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Current /fhir/** endpoints are permitAll. An enterprise deployment should enforce OAuth2/OIDC / SMART-on-FHIR patterns, scopes/consent, API gateway policy, TLS, audit trails, secrets management, and least privilege.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926"/>
                </a:solidFill>
              </a:rPr>
              <a:t>Lessons learned during implementation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6C"/>
                </a:solidFill>
              </a:rPr>
              <a:t>Most of the valuable learning happened at the seams between components.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14356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9E8E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926"/>
                </a:solidFill>
              </a:rPr>
              <a:t>Contracts beat assumptions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977640" y="132588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A nested stats response caused the UI to render incorrectly until the frontend contract matched the API shape.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3682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9E8E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258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926"/>
                </a:solidFill>
              </a:rPr>
              <a:t>Environment isolation is a feature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77640" y="225856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Compose project names, volumes, ports, databases, and JWT secrets must be intentionally separated.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30098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9E8E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191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926"/>
                </a:solidFill>
              </a:rPr>
              <a:t>HTTP details become architecture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77640" y="319125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CORS, reverse-proxy Origin handling, chunked responses, Location/Etag headers, and 401 vs 403 behavior affected real workflows.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2336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9E8E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4123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926"/>
                </a:solidFill>
              </a:rPr>
              <a:t>Build ≠ deploy ≠ operate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77640" y="412394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A successful compile does not prove a deployed FHIR endpoint works. Live smoke tests closed that gap.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5166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9E8E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5056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926"/>
                </a:solidFill>
              </a:rPr>
              <a:t>Prototype shortcuts become scale bottlenecks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77640" y="505663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Single-node data, local backups, single-threaded Synthea, and unauthenticated FHIR APIs are acceptable learning choices—not enterprise end states.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926"/>
                </a:solidFill>
              </a:rPr>
              <a:t>Current-state constraints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6C"/>
                </a:solidFill>
              </a:rPr>
              <a:t>The current deployment is intentionally compact; these constraints define the enterprise backlog.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1208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64008" cy="1207008"/>
          </a:xfrm>
          <a:prstGeom prst="rect">
            <a:avLst/>
          </a:prstGeom>
          <a:solidFill>
            <a:srgbClr val="C65B50"/>
          </a:solidFill>
          <a:ln w="12700">
            <a:solidFill>
              <a:srgbClr val="C65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179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Availability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1874520"/>
            <a:ext cx="4864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Single VPS / single MongoDB instance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Host or database failure can interrupt service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21208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371600"/>
            <a:ext cx="64008" cy="1207008"/>
          </a:xfrm>
          <a:prstGeom prst="rect">
            <a:avLst/>
          </a:prstGeom>
          <a:solidFill>
            <a:srgbClr val="C65B50"/>
          </a:solidFill>
          <a:ln w="12700">
            <a:solidFill>
              <a:srgbClr val="C65B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5179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Transport security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64808" y="1874520"/>
            <a:ext cx="4864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HTTP on bare IP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No encryption in transit until domain/TLS is configured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880360"/>
            <a:ext cx="521208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880360"/>
            <a:ext cx="64008" cy="1207008"/>
          </a:xfrm>
          <a:prstGeom prst="rect">
            <a:avLst/>
          </a:prstGeom>
          <a:solidFill>
            <a:srgbClr val="E7A53B"/>
          </a:solidFill>
          <a:ln w="12700">
            <a:solidFill>
              <a:srgbClr val="E7A5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02666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API security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3383280"/>
            <a:ext cx="4864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FHIR endpoints permitAll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Not suitable for PHI-bearing enterprise workloads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2880360"/>
            <a:ext cx="521208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880360"/>
            <a:ext cx="64008" cy="1207008"/>
          </a:xfrm>
          <a:prstGeom prst="rect">
            <a:avLst/>
          </a:prstGeom>
          <a:solidFill>
            <a:srgbClr val="E7A53B"/>
          </a:solidFill>
          <a:ln w="12700">
            <a:solidFill>
              <a:srgbClr val="E7A5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302666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Bulk workloads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64808" y="3383280"/>
            <a:ext cx="4864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Synthea subprocess / local async executor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Generation competes with application resources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389120"/>
            <a:ext cx="521208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389120"/>
            <a:ext cx="64008" cy="1207008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53542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Backups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4892040"/>
            <a:ext cx="4864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Local host, 7-day retention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Host/disk loss can remove primary and backup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4389120"/>
            <a:ext cx="521208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4389120"/>
            <a:ext cx="64008" cy="1207008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4808" y="453542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Testing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64808" y="4892040"/>
            <a:ext cx="4864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No browser E2E suite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Some integrated user flows remain manually verified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926"/>
                </a:solidFill>
              </a:rPr>
              <a:t>Enterprise target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6C"/>
                </a:solidFill>
              </a:rPr>
              <a:t>Scale by separating edge, stateless compute, data, async work, and observability into independently managed tiers.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2194560"/>
            <a:ext cx="12344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3970">
            <a:solidFill>
              <a:srgbClr val="CBD5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39572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926"/>
                </a:solidFill>
              </a:rPr>
              <a:t>Clients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65960" y="2194560"/>
            <a:ext cx="150876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3970">
            <a:solidFill>
              <a:srgbClr val="CBD5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23957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926"/>
                </a:solidFill>
              </a:rPr>
              <a:t>WAF / API GW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0" y="2194560"/>
            <a:ext cx="14173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3970">
            <a:solidFill>
              <a:srgbClr val="CBD5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239572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926"/>
                </a:solidFill>
              </a:rPr>
              <a:t>LB / Ingress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23560" y="1600200"/>
            <a:ext cx="1554480" cy="868680"/>
          </a:xfrm>
          <a:prstGeom prst="roundRect">
            <a:avLst>
              <a:gd name="adj" fmla="val 5263"/>
            </a:avLst>
          </a:prstGeom>
          <a:solidFill>
            <a:srgbClr val="DDF3EC"/>
          </a:solidFill>
          <a:ln w="13970">
            <a:solidFill>
              <a:srgbClr val="1E9E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801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926"/>
                </a:solidFill>
              </a:rPr>
              <a:t>FHIR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D2926"/>
                </a:solidFill>
              </a:rPr>
              <a:t>N replicas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23560" y="2971800"/>
            <a:ext cx="1554480" cy="868680"/>
          </a:xfrm>
          <a:prstGeom prst="roundRect">
            <a:avLst>
              <a:gd name="adj" fmla="val 5263"/>
            </a:avLst>
          </a:prstGeom>
          <a:solidFill>
            <a:srgbClr val="DDF3EC"/>
          </a:solidFill>
          <a:ln w="13970">
            <a:solidFill>
              <a:srgbClr val="1E9E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31729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926"/>
                </a:solidFill>
              </a:rPr>
              <a:t>Admin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D2926"/>
                </a:solidFill>
              </a:rPr>
              <a:t>N replicas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18120" y="1600200"/>
            <a:ext cx="18745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3970">
            <a:solidFill>
              <a:srgbClr val="CBD5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18013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926"/>
                </a:solidFill>
              </a:rPr>
              <a:t>MongoDB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D2926"/>
                </a:solidFill>
              </a:rPr>
              <a:t>Replica set / sharded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18120" y="2971800"/>
            <a:ext cx="18745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3970">
            <a:solidFill>
              <a:srgbClr val="CBD5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317296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926"/>
                </a:solidFill>
              </a:rPr>
              <a:t>Search / cache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D2926"/>
                </a:solidFill>
              </a:rPr>
              <a:t>Redis + optional index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0" y="2240280"/>
            <a:ext cx="16002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3970">
            <a:solidFill>
              <a:srgbClr val="CBD5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04120" y="244144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926"/>
                </a:solidFill>
              </a:rPr>
              <a:t>Queue / workers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45920" y="2624328"/>
            <a:ext cx="320040" cy="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474720" y="2624328"/>
            <a:ext cx="365760" cy="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257800" y="2624328"/>
            <a:ext cx="365760" cy="-566928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257800" y="2624328"/>
            <a:ext cx="365760" cy="77724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178040" y="2057400"/>
            <a:ext cx="640080" cy="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178040" y="3401568"/>
            <a:ext cx="640080" cy="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92640" y="2057400"/>
            <a:ext cx="365760" cy="411480"/>
          </a:xfrm>
          <a:prstGeom prst="line">
            <a:avLst/>
          </a:prstGeom>
          <a:noFill/>
          <a:ln w="25400">
            <a:solidFill>
              <a:srgbClr val="1E9E8E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737360" y="1143000"/>
            <a:ext cx="2011680" cy="310896"/>
          </a:xfrm>
          <a:prstGeom prst="roundRect">
            <a:avLst>
              <a:gd name="adj" fmla="val 35294"/>
            </a:avLst>
          </a:prstGeom>
          <a:solidFill>
            <a:srgbClr val="102B36"/>
          </a:solidFill>
          <a:ln w="12700">
            <a:solidFill>
              <a:srgbClr val="102B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10512" y="1207008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OIDC / SMART scopes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03520" y="960120"/>
            <a:ext cx="2240280" cy="310896"/>
          </a:xfrm>
          <a:prstGeom prst="roundRect">
            <a:avLst>
              <a:gd name="adj" fmla="val 35294"/>
            </a:avLst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76672" y="1024128"/>
            <a:ext cx="2093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Stateless + autoscaled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772400" y="4343400"/>
            <a:ext cx="1965960" cy="310896"/>
          </a:xfrm>
          <a:prstGeom prst="roundRect">
            <a:avLst>
              <a:gd name="adj" fmla="val 35294"/>
            </a:avLst>
          </a:prstGeom>
          <a:solidFill>
            <a:srgbClr val="102B36"/>
          </a:solidFill>
          <a:ln w="12700">
            <a:solidFill>
              <a:srgbClr val="102B3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45552" y="440740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Multi-AZ + PITR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921240" y="4343400"/>
            <a:ext cx="1783080" cy="310896"/>
          </a:xfrm>
          <a:prstGeom prst="roundRect">
            <a:avLst>
              <a:gd name="adj" fmla="val 35294"/>
            </a:avLst>
          </a:prstGeom>
          <a:solidFill>
            <a:srgbClr val="E7A53B"/>
          </a:solidFill>
          <a:ln w="12700">
            <a:solidFill>
              <a:srgbClr val="E7A5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94392" y="4407408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Async isolation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0352" y="623620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582"/>
                </a:solidFill>
              </a:rPr>
              <a:t>Observability spans every tier: metrics, logs, traces, audit events, SLOs, synthetic checks, and capacity telemetry.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926"/>
                </a:solidFill>
              </a:rPr>
              <a:t>Performance engineering: where to focus first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6C"/>
                </a:solidFill>
              </a:rPr>
              <a:t>The fastest enterprise system is the one optimized for measured workload shapes—not theoretical maxima.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371600"/>
            <a:ext cx="52578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71600"/>
            <a:ext cx="64008" cy="1207008"/>
          </a:xfrm>
          <a:prstGeom prst="rect">
            <a:avLst/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5179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1. Search/indexes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1874520"/>
            <a:ext cx="4910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Profile top FHIR searches; compound indexes on identifiers, references, dates, codes; eliminate collection scans.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2578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371600"/>
            <a:ext cx="64008" cy="1207008"/>
          </a:xfrm>
          <a:prstGeom prst="rect">
            <a:avLst/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5179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2. Pagination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64808" y="1874520"/>
            <a:ext cx="4910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Move high-volume queries away from large offset/skip patterns toward stable cursor/search-after semantics where possible.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2880360"/>
            <a:ext cx="52578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880360"/>
            <a:ext cx="64008" cy="1207008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026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3. API compute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5528" y="3383280"/>
            <a:ext cx="4910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Keep FHIR/API nodes stateless; tune JVM heap/GC, Tomcat threads, connection pools; horizontally scale behind ingress.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2880360"/>
            <a:ext cx="52578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880360"/>
            <a:ext cx="64008" cy="1207008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30266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4. Data tier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64808" y="3383280"/>
            <a:ext cx="4910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Replica sets for HA; shard only when volume/throughput justifies it; design shard keys around tenant + access patterns.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4389120"/>
            <a:ext cx="52578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389120"/>
            <a:ext cx="64008" cy="1207008"/>
          </a:xfrm>
          <a:prstGeom prst="rect">
            <a:avLst/>
          </a:prstGeom>
          <a:solidFill>
            <a:srgbClr val="E7A53B"/>
          </a:solidFill>
          <a:ln w="12700">
            <a:solidFill>
              <a:srgbClr val="E7A5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45354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5. Cache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5528" y="4892040"/>
            <a:ext cx="4910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Cache CapabilityStatement, terminology/static metadata, and safe read-heavy lookups; never use cache to hide poor indexes.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4389120"/>
            <a:ext cx="525780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4389120"/>
            <a:ext cx="64008" cy="1207008"/>
          </a:xfrm>
          <a:prstGeom prst="rect">
            <a:avLst/>
          </a:prstGeom>
          <a:solidFill>
            <a:srgbClr val="E7A53B"/>
          </a:solidFill>
          <a:ln w="12700">
            <a:solidFill>
              <a:srgbClr val="E7A5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4808" y="45354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6. Async work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64808" y="4892040"/>
            <a:ext cx="4910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Move Synthea/bulk import, exports, notifications, and expensive transformations to queue-backed workers with backpressure.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926"/>
                </a:solidFill>
              </a:rPr>
              <a:t>Scale by workload, not by server size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6C"/>
                </a:solidFill>
              </a:rPr>
              <a:t>Different FHIR workloads stress different parts of the platform.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63040"/>
            <a:ext cx="2468880" cy="4251960"/>
          </a:xfrm>
          <a:prstGeom prst="roundRect">
            <a:avLst>
              <a:gd name="adj" fmla="val 2222"/>
            </a:avLst>
          </a:prstGeom>
          <a:solidFill>
            <a:srgbClr val="DDF3EC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63040"/>
            <a:ext cx="64008" cy="4251960"/>
          </a:xfrm>
          <a:prstGeom prst="rect">
            <a:avLst/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6093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Interactive clinical/API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965960"/>
            <a:ext cx="2121408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Low latency • bursty reads/writes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Scale API replicas + indexes + cache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2468880" cy="42519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463040"/>
            <a:ext cx="64008" cy="4251960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16093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Bulk ingestion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75888" y="1965960"/>
            <a:ext cx="2121408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High write throughput • validation cost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Queue + batch workers + controlled concurrency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463040"/>
            <a:ext cx="2468880" cy="42519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463040"/>
            <a:ext cx="64008" cy="4251960"/>
          </a:xfrm>
          <a:prstGeom prst="rect">
            <a:avLst/>
          </a:prstGeom>
          <a:solidFill>
            <a:srgbClr val="E7A53B"/>
          </a:solidFill>
          <a:ln w="12700">
            <a:solidFill>
              <a:srgbClr val="E7A5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16093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Analytics / reporting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64808" y="1965960"/>
            <a:ext cx="2121408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Wide scans • aggregation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Replica/warehouse/lake; protect transactional store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52560" y="1463040"/>
            <a:ext cx="2468880" cy="42519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1463040"/>
            <a:ext cx="64008" cy="4251960"/>
          </a:xfrm>
          <a:prstGeom prst="rect">
            <a:avLst/>
          </a:prstGeom>
          <a:solidFill>
            <a:srgbClr val="C65B50"/>
          </a:solidFill>
          <a:ln w="12700">
            <a:solidFill>
              <a:srgbClr val="C65B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53728" y="16093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Terminology / validation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53728" y="1965960"/>
            <a:ext cx="2121408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CPU + reference-data intensive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Dedicated service/cache; pre-warm common artifacts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" y="623620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8582"/>
                </a:solidFill>
              </a:rPr>
              <a:t>Enterprise principle: isolate noisy neighbors and give each workload an explicit concurrency, latency, and resource budget.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926"/>
                </a:solidFill>
              </a:rPr>
              <a:t>Reliability and disaster recovery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6C"/>
                </a:solidFill>
              </a:rPr>
              <a:t>Enterprise readiness requires removing single points of failure and proving recovery—not just documenting it.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337560" cy="429768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64008" cy="4297680"/>
          </a:xfrm>
          <a:prstGeom prst="rect">
            <a:avLst/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5636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Availability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1920240"/>
            <a:ext cx="299008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• Multi-AZ load balancing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• ≥2 API replicas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• MongoDB replica set / managed service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• health/readiness probes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• rolling/blue-green deploys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07408" y="1417320"/>
            <a:ext cx="3337560" cy="429768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7408" y="1417320"/>
            <a:ext cx="64008" cy="4297680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15636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Data protection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08576" y="1920240"/>
            <a:ext cx="299008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• Point-in-time recovery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• encrypted off-host backups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• immutable retention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• restore automation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• backup integrity tests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74736" y="1417320"/>
            <a:ext cx="3337560" cy="429768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74736" y="1417320"/>
            <a:ext cx="64008" cy="4297680"/>
          </a:xfrm>
          <a:prstGeom prst="rect">
            <a:avLst/>
          </a:prstGeom>
          <a:solidFill>
            <a:srgbClr val="E7A53B"/>
          </a:solidFill>
          <a:ln w="12700">
            <a:solidFill>
              <a:srgbClr val="E7A5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5636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Resilience targets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75904" y="1920240"/>
            <a:ext cx="299008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Define business-backed SLOs and RTO/RPO. Exercise node loss, AZ loss, database failover, queue backlog, bad release rollback, and dependency degradation.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926"/>
                </a:solidFill>
              </a:rPr>
              <a:t>Observability becomes a product capability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6C"/>
                </a:solidFill>
              </a:rPr>
              <a:t>At enterprise scale, “is it up?” is insufficient. The platform must explain latency, errors, saturation, and data-path health.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2468880" cy="28346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64008" cy="2834640"/>
          </a:xfrm>
          <a:prstGeom prst="rect">
            <a:avLst/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636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RED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920240"/>
            <a:ext cx="212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Rate • Errors • Duration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API endpoints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0" y="1417320"/>
            <a:ext cx="2468880" cy="28346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417320"/>
            <a:ext cx="64008" cy="2834640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15636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USE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75888" y="1920240"/>
            <a:ext cx="212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Utilization • Saturation • Errors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CPU / JVM / DB / queue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2468880" cy="2834640"/>
          </a:xfrm>
          <a:prstGeom prst="roundRect">
            <a:avLst>
              <a:gd name="adj" fmla="val 2222"/>
            </a:avLst>
          </a:prstGeom>
          <a:solidFill>
            <a:srgbClr val="DDF3EC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417320"/>
            <a:ext cx="64008" cy="2834640"/>
          </a:xfrm>
          <a:prstGeom prst="rect">
            <a:avLst/>
          </a:prstGeom>
          <a:solidFill>
            <a:srgbClr val="E7A53B"/>
          </a:solidFill>
          <a:ln w="12700">
            <a:solidFill>
              <a:srgbClr val="E7A5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15636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FHIR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64808" y="1920240"/>
            <a:ext cx="212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Search latency • bundle size • resource mix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FHIR semantics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52560" y="1417320"/>
            <a:ext cx="2468880" cy="28346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1417320"/>
            <a:ext cx="64008" cy="2834640"/>
          </a:xfrm>
          <a:prstGeom prst="rect">
            <a:avLst/>
          </a:prstGeom>
          <a:solidFill>
            <a:srgbClr val="C65B50"/>
          </a:solidFill>
          <a:ln w="12700">
            <a:solidFill>
              <a:srgbClr val="C65B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53728" y="15636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Business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53728" y="1920240"/>
            <a:ext cx="212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Claims completed • import success • EOB latency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Outcome signals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88720" y="489204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D2926"/>
                </a:solidFill>
              </a:rPr>
              <a:t>Trace one request: client → gateway → FHIR provider → Mongo query → response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926"/>
                </a:solidFill>
              </a:rPr>
              <a:t>Capacity plan: measure before choosing a topology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6C"/>
                </a:solidFill>
              </a:rPr>
              <a:t>Use a repeatable performance model to turn “enterprise scale” into engineering numbers.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2468880" cy="30632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64008" cy="3063240"/>
          </a:xfrm>
          <a:prstGeom prst="rect">
            <a:avLst/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5636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Demand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920240"/>
            <a:ext cx="2121408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requests/sec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concurrent users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resource mix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0" y="1417320"/>
            <a:ext cx="2468880" cy="30632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1417320"/>
            <a:ext cx="64008" cy="3063240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15636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Latency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75888" y="1920240"/>
            <a:ext cx="2121408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p50 / p95 / p99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search vs write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end-to-end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2468880" cy="30632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417320"/>
            <a:ext cx="64008" cy="3063240"/>
          </a:xfrm>
          <a:prstGeom prst="rect">
            <a:avLst/>
          </a:prstGeom>
          <a:solidFill>
            <a:srgbClr val="E7A53B"/>
          </a:solidFill>
          <a:ln w="12700">
            <a:solidFill>
              <a:srgbClr val="E7A5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15636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64808" y="1920240"/>
            <a:ext cx="2121408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resources / patient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growth / day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index size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52560" y="1417320"/>
            <a:ext cx="2468880" cy="30632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1417320"/>
            <a:ext cx="64008" cy="3063240"/>
          </a:xfrm>
          <a:prstGeom prst="rect">
            <a:avLst/>
          </a:prstGeom>
          <a:solidFill>
            <a:srgbClr val="C65B50"/>
          </a:solidFill>
          <a:ln w="12700">
            <a:solidFill>
              <a:srgbClr val="C65B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53728" y="15636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Saturation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53728" y="1920240"/>
            <a:ext cx="2121408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CPU / heap / GC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DB IOPS / cache hit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queue depth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97280" y="498348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B36"/>
                </a:solidFill>
              </a:rPr>
              <a:t>Load test → identify bottleneck → change one variable → retest → set SLO + headroom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926"/>
                </a:solidFill>
              </a:rPr>
              <a:t>Recommended enterprise roadmap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6C"/>
                </a:solidFill>
              </a:rPr>
              <a:t>Prioritize risk reduction first, then scale, then optimization.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560320" cy="4297680"/>
          </a:xfrm>
          <a:prstGeom prst="roundRect">
            <a:avLst>
              <a:gd name="adj" fmla="val 2143"/>
            </a:avLst>
          </a:prstGeom>
          <a:solidFill>
            <a:srgbClr val="DDF3EC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64008" cy="4297680"/>
          </a:xfrm>
          <a:prstGeom prst="rect">
            <a:avLst/>
          </a:prstGeom>
          <a:solidFill>
            <a:srgbClr val="C65B50"/>
          </a:solidFill>
          <a:ln w="12700">
            <a:solidFill>
              <a:srgbClr val="C65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5636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0–30 days — Harden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088" y="1920240"/>
            <a:ext cx="221284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TLS + domain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Protect /fhir APIs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Secrets manager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Off-host backups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Baseline telemetry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417320"/>
            <a:ext cx="2560320" cy="42976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417320"/>
            <a:ext cx="64008" cy="4297680"/>
          </a:xfrm>
          <a:prstGeom prst="rect">
            <a:avLst/>
          </a:prstGeom>
          <a:solidFill>
            <a:srgbClr val="E7A53B"/>
          </a:solidFill>
          <a:ln w="12700">
            <a:solidFill>
              <a:srgbClr val="E7A5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4448" y="15636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30–90 days — Resilience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84448" y="1920240"/>
            <a:ext cx="221284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Managed/replicated MongoDB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Multiple API replicas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Ingress/WAF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E2E tests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Restore/failover drills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2560320" cy="42976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417320"/>
            <a:ext cx="64008" cy="4297680"/>
          </a:xfrm>
          <a:prstGeom prst="rect">
            <a:avLst/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15636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90–180 days — Scale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64808" y="1920240"/>
            <a:ext cx="221284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Queue-backed workers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Index redesign from workload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Caching strategy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Load/performance suite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Autoscaling policies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44000" y="1417320"/>
            <a:ext cx="2560320" cy="429768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0" y="1417320"/>
            <a:ext cx="64008" cy="4297680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45168" y="15636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6–12 months — Optimize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45168" y="1920240"/>
            <a:ext cx="221284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Tenant isolation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Advanced search/index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Analytics separation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Multi-region if required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Cost/performance tuning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926"/>
                </a:solidFill>
              </a:rPr>
              <a:t>Findings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6C"/>
                </a:solidFill>
              </a:rPr>
              <a:t>The prototype is valuable precisely because it exposes what changes when moving from demonstration to enterprise service.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074920" cy="1737360"/>
          </a:xfrm>
          <a:prstGeom prst="roundRect">
            <a:avLst>
              <a:gd name="adj" fmla="val 3158"/>
            </a:avLst>
          </a:prstGeom>
          <a:solidFill>
            <a:srgbClr val="DDF3EC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64008" cy="1737360"/>
          </a:xfrm>
          <a:prstGeom prst="rect">
            <a:avLst/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5636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Standards first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1920240"/>
            <a:ext cx="47274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FHIR gives the platform a durable interoperability boundary.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0749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17320"/>
            <a:ext cx="64008" cy="1737360"/>
          </a:xfrm>
          <a:prstGeom prst="rect">
            <a:avLst/>
          </a:prstGeom>
          <a:solidFill>
            <a:srgbClr val="2F6B9A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5636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Simple architecture first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10528" y="1920240"/>
            <a:ext cx="47274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The compact stack accelerated learning and made integration behavior visible.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50749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611880"/>
            <a:ext cx="64008" cy="1737360"/>
          </a:xfrm>
          <a:prstGeom prst="rect">
            <a:avLst/>
          </a:prstGeom>
          <a:solidFill>
            <a:srgbClr val="E7A53B"/>
          </a:solidFill>
          <a:ln w="12700">
            <a:solidFill>
              <a:srgbClr val="E7A5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7581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Operational rigor next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32688" y="4114800"/>
            <a:ext cx="47274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Security, HA, observability, recovery, and deployment controls dominate enterprise readiness.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3611880"/>
            <a:ext cx="50749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CBD5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611880"/>
            <a:ext cx="64008" cy="1737360"/>
          </a:xfrm>
          <a:prstGeom prst="rect">
            <a:avLst/>
          </a:prstGeom>
          <a:solidFill>
            <a:srgbClr val="C65B50"/>
          </a:solidFill>
          <a:ln w="12700">
            <a:solidFill>
              <a:srgbClr val="C65B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37581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926"/>
                </a:solidFill>
              </a:rPr>
              <a:t>Performance is empirical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10528" y="4114800"/>
            <a:ext cx="47274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1706C"/>
                </a:solidFill>
              </a:rPr>
              <a:t>Indexes, workload isolation, and capacity tests should drive scale decisions.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The platform has proven the pattern.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FE8E2"/>
                </a:solidFill>
              </a:rPr>
              <a:t>The next step is to engineer the operating envelope.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017520" y="2788920"/>
            <a:ext cx="6126480" cy="310896"/>
          </a:xfrm>
          <a:prstGeom prst="roundRect">
            <a:avLst>
              <a:gd name="adj" fmla="val 35294"/>
            </a:avLst>
          </a:prstGeom>
          <a:solidFill>
            <a:srgbClr val="1E9E8E"/>
          </a:solidFill>
          <a:ln w="12700">
            <a:solidFill>
              <a:srgbClr val="1E9E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90672" y="2852928"/>
            <a:ext cx="5980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Secure every API boundary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017520" y="3300984"/>
            <a:ext cx="6126480" cy="310896"/>
          </a:xfrm>
          <a:prstGeom prst="roundRect">
            <a:avLst>
              <a:gd name="adj" fmla="val 35294"/>
            </a:avLst>
          </a:prstGeom>
          <a:solidFill>
            <a:srgbClr val="21414B"/>
          </a:solidFill>
          <a:ln w="12700">
            <a:solidFill>
              <a:srgbClr val="2141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90672" y="3364992"/>
            <a:ext cx="5980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Scale stateless compute horizontally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017520" y="3813048"/>
            <a:ext cx="6126480" cy="310896"/>
          </a:xfrm>
          <a:prstGeom prst="roundRect">
            <a:avLst>
              <a:gd name="adj" fmla="val 35294"/>
            </a:avLst>
          </a:prstGeom>
          <a:solidFill>
            <a:srgbClr val="21414B"/>
          </a:solidFill>
          <a:ln w="12700">
            <a:solidFill>
              <a:srgbClr val="2141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0672" y="3877056"/>
            <a:ext cx="5980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Engineer indexes from real FHIR searches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17520" y="4325112"/>
            <a:ext cx="6126480" cy="310896"/>
          </a:xfrm>
          <a:prstGeom prst="roundRect">
            <a:avLst>
              <a:gd name="adj" fmla="val 35294"/>
            </a:avLst>
          </a:prstGeom>
          <a:solidFill>
            <a:srgbClr val="21414B"/>
          </a:solidFill>
          <a:ln w="12700">
            <a:solidFill>
              <a:srgbClr val="2141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4389120"/>
            <a:ext cx="5980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Isolate bulk/async workloads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17520" y="4837176"/>
            <a:ext cx="6126480" cy="310896"/>
          </a:xfrm>
          <a:prstGeom prst="roundRect">
            <a:avLst>
              <a:gd name="adj" fmla="val 35294"/>
            </a:avLst>
          </a:prstGeom>
          <a:solidFill>
            <a:srgbClr val="21414B"/>
          </a:solidFill>
          <a:ln w="12700">
            <a:solidFill>
              <a:srgbClr val="2141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4901184"/>
            <a:ext cx="5980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Design HA, DR, and observability 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Q&amp;A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926"/>
                </a:solidFill>
              </a:rPr>
              <a:t>Appendix — current technology stack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6C"/>
                </a:solidFill>
              </a:rPr>
              <a:t>Reference slide for deeper technical discussion.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E8E"/>
                </a:solidFill>
              </a:rPr>
              <a:t>Standard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834640" y="123444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926"/>
                </a:solidFill>
              </a:rPr>
              <a:t>HL7 FHIR R4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563624"/>
            <a:ext cx="10195560" cy="0"/>
          </a:xfrm>
          <a:prstGeom prst="line">
            <a:avLst/>
          </a:prstGeom>
          <a:noFill/>
          <a:ln w="7620">
            <a:solidFill>
              <a:srgbClr val="CBD5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5564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E8E"/>
                </a:solidFill>
              </a:rPr>
              <a:t>FHIR framework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175564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926"/>
                </a:solidFill>
              </a:rPr>
              <a:t>HAPI FHIR 7.2.0 Plain Server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10195560" cy="0"/>
          </a:xfrm>
          <a:prstGeom prst="line">
            <a:avLst/>
          </a:prstGeom>
          <a:noFill/>
          <a:ln w="7620">
            <a:solidFill>
              <a:srgbClr val="CBD5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7685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E8E"/>
                </a:solidFill>
              </a:rPr>
              <a:t>Backend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227685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926"/>
                </a:solidFill>
              </a:rPr>
              <a:t>Spring Boot 3.2.5 • Java 17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2606040"/>
            <a:ext cx="10195560" cy="0"/>
          </a:xfrm>
          <a:prstGeom prst="line">
            <a:avLst/>
          </a:prstGeom>
          <a:noFill/>
          <a:ln w="7620">
            <a:solidFill>
              <a:srgbClr val="CBD5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79806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E8E"/>
                </a:solidFill>
              </a:rPr>
              <a:t>Database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279806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926"/>
                </a:solidFill>
              </a:rPr>
              <a:t>MongoDB 7.0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127248"/>
            <a:ext cx="10195560" cy="0"/>
          </a:xfrm>
          <a:prstGeom prst="line">
            <a:avLst/>
          </a:prstGeom>
          <a:noFill/>
          <a:ln w="7620">
            <a:solidFill>
              <a:srgbClr val="CBD5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31927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E8E"/>
                </a:solidFill>
              </a:rPr>
              <a:t>Frontends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331927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926"/>
                </a:solidFill>
              </a:rPr>
              <a:t>React 18 • Vite 6 • TypeScript • Tailwind 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648456"/>
            <a:ext cx="10195560" cy="0"/>
          </a:xfrm>
          <a:prstGeom prst="line">
            <a:avLst/>
          </a:prstGeom>
          <a:noFill/>
          <a:ln w="7620">
            <a:solidFill>
              <a:srgbClr val="CBD5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84048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E8E"/>
                </a:solidFill>
              </a:rPr>
              <a:t>Runtime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38404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926"/>
                </a:solidFill>
              </a:rPr>
              <a:t>Docker / Docker Compose • nginx • Caddy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169664"/>
            <a:ext cx="10195560" cy="0"/>
          </a:xfrm>
          <a:prstGeom prst="line">
            <a:avLst/>
          </a:prstGeom>
          <a:noFill/>
          <a:ln w="7620">
            <a:solidFill>
              <a:srgbClr val="CBD5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36168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E8E"/>
                </a:solidFill>
              </a:rPr>
              <a:t>CI/CD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436168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926"/>
                </a:solidFill>
              </a:rPr>
              <a:t>GitHub Actions • GHCR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4690872"/>
            <a:ext cx="10195560" cy="0"/>
          </a:xfrm>
          <a:prstGeom prst="line">
            <a:avLst/>
          </a:prstGeom>
          <a:noFill/>
          <a:ln w="7620">
            <a:solidFill>
              <a:srgbClr val="CBD5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88289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E8E"/>
                </a:solidFill>
              </a:rPr>
              <a:t>Synthetic data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34640" y="4882896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926"/>
                </a:solidFill>
              </a:rPr>
              <a:t>Synthea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5212080"/>
            <a:ext cx="10195560" cy="0"/>
          </a:xfrm>
          <a:prstGeom prst="line">
            <a:avLst/>
          </a:prstGeom>
          <a:noFill/>
          <a:ln w="7620">
            <a:solidFill>
              <a:srgbClr val="CBD5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40410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9E8E"/>
                </a:solidFill>
              </a:rPr>
              <a:t>Testing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34640" y="5404104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926"/>
                </a:solidFill>
              </a:rPr>
              <a:t>Maven/JUnit slices • Vitest/RTL • live smoke test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5733288"/>
            <a:ext cx="10195560" cy="0"/>
          </a:xfrm>
          <a:prstGeom prst="line">
            <a:avLst/>
          </a:prstGeom>
          <a:noFill/>
          <a:ln w="7620">
            <a:solidFill>
              <a:srgbClr val="CBD5D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2926"/>
                </a:solidFill>
              </a:rPr>
              <a:t>Appendix — security hardening checklist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1706C"/>
                </a:solidFill>
              </a:rPr>
              <a:t>Suggested technical discussion points before any PHI-bearing enterprise deployment.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E8E"/>
                </a:solidFill>
              </a:rPr>
              <a:t>✓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3258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926"/>
                </a:solidFill>
              </a:rPr>
              <a:t>TLS everywhere; HSTS; managed certificates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309360" y="13258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E8E"/>
                </a:solidFill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20840" y="13258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926"/>
                </a:solidFill>
              </a:rPr>
              <a:t>OAuth2/OIDC + SMART-on-FHIR scopes and audience validation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2677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E8E"/>
                </a:solidFill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26771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926"/>
                </a:solidFill>
              </a:rPr>
              <a:t>Protect /fhir/**; resource/action-level authorization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09360" y="226771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E8E"/>
                </a:solidFill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20840" y="226771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926"/>
                </a:solidFill>
              </a:rPr>
              <a:t>API gateway/WAF rate limits, quotas, threat controls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320954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E8E"/>
                </a:solidFill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320954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926"/>
                </a:solidFill>
              </a:rPr>
              <a:t>Central secrets/KMS; key rotation; no committed defaults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09360" y="320954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E8E"/>
                </a:solidFill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20840" y="320954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926"/>
                </a:solidFill>
              </a:rPr>
              <a:t>Audit events for reads/writes/admin activity; immutable retention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415137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E8E"/>
                </a:solidFill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4151376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926"/>
                </a:solidFill>
              </a:rPr>
              <a:t>Private networking for data tier; least-privilege service identities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415137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E8E"/>
                </a:solidFill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20840" y="4151376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926"/>
                </a:solidFill>
              </a:rPr>
              <a:t>SAST/SCA/container scanning + signed images/SBOM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" y="509320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E8E"/>
                </a:solidFill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97280" y="509320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D2926"/>
                </a:solidFill>
              </a:rPr>
              <a:t>HIPAA/security risk analysis, logging controls, retention and incident response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3796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85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FHIR R4 Platform — From Working Prototype to Enterprise Scale</dc:title>
  <dc:subject>FHIR R4 Platform</dc:subject>
  <dc:creator>OpenAI</dc:creator>
  <cp:lastModifiedBy>OpenAI</cp:lastModifiedBy>
  <cp:revision>1</cp:revision>
  <dcterms:created xsi:type="dcterms:W3CDTF">2026-08-28T15:08:33Z</dcterms:created>
  <dcterms:modified xsi:type="dcterms:W3CDTF">2026-08-28T15:08:33Z</dcterms:modified>
</cp:coreProperties>
</file>