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0cf698a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4c9eb5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-7dbe019e1.png"/><Relationship Id="rId2" Type="http://schemas.openxmlformats.org/officeDocument/2006/relationships/image" Target="../media/image-3f3e1.png"/><Relationship Id="rId3" Type="http://schemas.openxmlformats.org/officeDocument/2006/relationships/image" Target="../media/image--4af74ede1.png"/><Relationship Id="rId4" Type="http://schemas.openxmlformats.org/officeDocument/2006/relationships/image" Target="../media/image--35c7dd5e1.png"/><Relationship Id="rId5" Type="http://schemas.openxmlformats.org/officeDocument/2006/relationships/image" Target="../media/image--7657061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-3e0db3d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--72ca595e1.png"/><Relationship Id="rId2" Type="http://schemas.openxmlformats.org/officeDocument/2006/relationships/image" Target="../media/image-63b1.png"/><Relationship Id="rId3" Type="http://schemas.openxmlformats.org/officeDocument/2006/relationships/image" Target="../media/image-3186d0e1.png"/><Relationship Id="rId4" Type="http://schemas.openxmlformats.org/officeDocument/2006/relationships/image" Target="../media/image-589607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-43c0ce1.png"/><Relationship Id="rId2" Type="http://schemas.openxmlformats.org/officeDocument/2006/relationships/image" Target="../media/image--7e2f329e1.png"/><Relationship Id="rId3" Type="http://schemas.openxmlformats.org/officeDocument/2006/relationships/image" Target="../media/image-2c5ca1.png"/><Relationship Id="rId4" Type="http://schemas.openxmlformats.org/officeDocument/2006/relationships/image" Target="../media/image--6b47ea5e1.png"/><Relationship Id="rId5" Type="http://schemas.openxmlformats.org/officeDocument/2006/relationships/image" Target="../media/image-582305a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--1c92899e1.png"/><Relationship Id="rId2" Type="http://schemas.openxmlformats.org/officeDocument/2006/relationships/image" Target="../media/image--994769e1.png"/><Relationship Id="rId3" Type="http://schemas.openxmlformats.org/officeDocument/2006/relationships/image" Target="../media/image-598c72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-33e46de1.png"/><Relationship Id="rId2" Type="http://schemas.openxmlformats.org/officeDocument/2006/relationships/image" Target="../media/image-68a892a1.png"/><Relationship Id="rId3" Type="http://schemas.openxmlformats.org/officeDocument/2006/relationships/image" Target="../media/image--3d5b0ede1.png"/><Relationship Id="rId4" Type="http://schemas.openxmlformats.org/officeDocument/2006/relationships/image" Target="../media/image-251c95a1.png"/><Relationship Id="rId5" Type="http://schemas.openxmlformats.org/officeDocument/2006/relationships/image" Target="../media/image--63789dd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--265bc39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image--7dbe019e2.png"/><Relationship Id="rId2" Type="http://schemas.openxmlformats.org/officeDocument/2006/relationships/image" Target="../media/image-3f3e2.png"/><Relationship Id="rId3" Type="http://schemas.openxmlformats.org/officeDocument/2006/relationships/image" Target="../media/image--4af74ede2.png"/><Relationship Id="rId4" Type="http://schemas.openxmlformats.org/officeDocument/2006/relationships/image" Target="../media/image--35c7dd5e2.png"/><Relationship Id="rId5" Type="http://schemas.openxmlformats.org/officeDocument/2006/relationships/image" Target="../media/image--7657061e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image--3d05871e1.png"/><Relationship Id="rId2" Type="http://schemas.openxmlformats.org/officeDocument/2006/relationships/image" Target="../media/image--448b8c5e1.png"/><Relationship Id="rId3" Type="http://schemas.openxmlformats.org/officeDocument/2006/relationships/image" Target="../media/image-540deea1.png"/><Relationship Id="rId4" Type="http://schemas.openxmlformats.org/officeDocument/2006/relationships/image" Target="../media/image-37221a1.png"/><Relationship Id="rId5" Type="http://schemas.openxmlformats.org/officeDocument/2006/relationships/image" Target="../media/image-3c4260a1.png"/><Relationship Id="rId6" Type="http://schemas.openxmlformats.org/officeDocument/2006/relationships/image" Target="../media/image-1.png"/><Relationship Id="rId7" Type="http://schemas.openxmlformats.org/officeDocument/2006/relationships/image" Target="../media/image-34fb63e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image--74d5241e1.png"/><Relationship Id="rId2" Type="http://schemas.openxmlformats.org/officeDocument/2006/relationships/image" Target="../media/image--3d5144de1.png"/><Relationship Id="rId3" Type="http://schemas.openxmlformats.org/officeDocument/2006/relationships/image" Target="../media/image--6ff01a5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../media/image-57754ba1.png"/><Relationship Id="rId2" Type="http://schemas.openxmlformats.org/officeDocument/2006/relationships/image" Target="../media/image-1f8e1.png"/><Relationship Id="rId3" Type="http://schemas.openxmlformats.org/officeDocument/2006/relationships/image" Target="../media/image--1c92899e2.png"/><Relationship Id="rId4" Type="http://schemas.openxmlformats.org/officeDocument/2006/relationships/image" Target="../media/image-590ba1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../media/image-002c3c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../media/image-3109cc1.png"/><Relationship Id="rId2" Type="http://schemas.openxmlformats.org/officeDocument/2006/relationships/image" Target="../media/image--3f64861e1.png"/><Relationship Id="rId3" Type="http://schemas.openxmlformats.org/officeDocument/2006/relationships/image" Target="../media/image--4ca72f1e1.png"/><Relationship Id="rId4" Type="http://schemas.openxmlformats.org/officeDocument/2006/relationships/image" Target="../media/image--596e0f1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../media/image--7030ea9e1.png"/><Relationship Id="rId2" Type="http://schemas.openxmlformats.org/officeDocument/2006/relationships/image" Target="../media/image--39f9cfd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../media/image--5e67d75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801564"/>
            <a:ext cx="4536817" cy="21725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8554"/>
              </a:lnSpc>
            </a:pPr>
            <a:r>
              <a:rPr lang="en-US" sz="74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FHIR R4</a:t>
            </a:r>
            <a:br>
              <a:rPr lang="en-US" sz="74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74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Platform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0" y="4045297"/>
            <a:ext cx="8191500" cy="87600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2300"/>
              </a:lnSpc>
              <a:spcBef>
                <a:spcPts val="550"/>
              </a:spcBef>
            </a:pPr>
            <a:r>
              <a:rPr lang="en-US" sz="1620" spc="3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From working prototype to enterprise scale. Architecture,</a:t>
            </a:r>
            <a:br>
              <a:rPr lang="en-US" sz="1620" spc="3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20" spc="3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implementation, lessons learned, and enterprise performance</a:t>
            </a:r>
            <a:br>
              <a:rPr lang="en-US" sz="1620" spc="3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620" spc="3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roadmap.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digital blueprint of a complex software network">    </p:cNvPr>
          <p:cNvPicPr>
            <a:picLocks noChangeAspect="1"/>
          </p:cNvPicPr>
          <p:nvPr/>
        </p:nvPicPr>
        <p:blipFill>
          <a:blip r:embed="rId1"/>
          <a:srcRect l="22222" r="22222" t="0" b="0"/>
          <a:stretch/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91000" y="6102846"/>
            <a:ext cx="2009775" cy="20835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42"/>
              </a:lnSpc>
            </a:pPr>
            <a:r>
              <a:rPr lang="en-US" sz="14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Paul W. Ford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91000" y="6416278"/>
            <a:ext cx="2079337" cy="2068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29"/>
              </a:lnSpc>
              <a:spcBef>
                <a:spcPts val="811"/>
              </a:spcBef>
            </a:pPr>
            <a:r>
              <a:rPr lang="en-US" sz="1148" spc="23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v1.1.1, August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The platform proves the pattern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Enterprise scale requires a stronger operating model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52600"/>
            <a:ext cx="4476750" cy="3905250"/>
          </a:xfrm>
          <a:prstGeom prst="round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complex network of interconnected nodes and architecture components">    </p:cNvPr>
          <p:cNvPicPr>
            <a:picLocks noChangeAspect="1"/>
          </p:cNvPicPr>
          <p:nvPr/>
        </p:nvPicPr>
        <p:blipFill>
          <a:blip r:embed="rId1"/>
          <a:srcRect l="0" r="0" t="6740" b="6740"/>
          <a:stretch/>
        </p:blipFill>
        <p:spPr>
          <a:xfrm>
            <a:off x="476250" y="1752600"/>
            <a:ext cx="4476750" cy="3905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1842343"/>
            <a:ext cx="6656040" cy="37272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Proven Foundations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 standards-based healthcare platform built from modern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open-source components, deployed to cloud with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automated CI/CD.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Key Learnings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Environment isolation, API contracts, HTTP behavior,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authentication boundaries, repeatable deployment,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smoke tests matter as much as FHIR semantics.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Enterprise Change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Zero-trust security, HA/DR, managed data, horizontal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scaling, search/index strategy, async isolation,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observability, SLOs, and capacity engineering.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2252663" y="6374904"/>
            <a:ext cx="7686675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Three-part executive takeaway: Proven, Learned, and Enterprise Change.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Presentation Roadmap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Agenda and Time Allocation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38375" y="1732806"/>
            <a:ext cx="8001000" cy="39537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482600" indent="-482600">
              <a:lnSpc>
                <a:spcPts val="2134"/>
              </a:lnSpc>
              <a:buSzPct val="20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Why FHIR and why this platform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5 min</a:t>
            </a:r>
            <a:endParaRPr lang="en-US" dirty="0"/>
          </a:p>
          <a:p>
            <a:pPr fontAlgn="ctr" algn="l" marL="482600" indent="-482600">
              <a:lnSpc>
                <a:spcPts val="2134"/>
              </a:lnSpc>
              <a:spcBef>
                <a:spcPts val="2027"/>
              </a:spcBef>
              <a:buSzPct val="200000"/>
              <a:buBlip>
                <a:blip r:embed="rId2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Architecture and implementation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12 min</a:t>
            </a:r>
            <a:endParaRPr lang="en-US" dirty="0"/>
          </a:p>
          <a:p>
            <a:pPr fontAlgn="ctr" algn="l" marL="482600" indent="-482600">
              <a:lnSpc>
                <a:spcPts val="2134"/>
              </a:lnSpc>
              <a:spcBef>
                <a:spcPts val="2027"/>
              </a:spcBef>
              <a:buSzPct val="200000"/>
              <a:buBlip>
                <a:blip r:embed="rId3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Claims workflow and delivery pipeline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8 min</a:t>
            </a:r>
            <a:endParaRPr lang="en-US" dirty="0"/>
          </a:p>
          <a:p>
            <a:pPr fontAlgn="ctr" algn="l" marL="482600" indent="-482600">
              <a:lnSpc>
                <a:spcPts val="2134"/>
              </a:lnSpc>
              <a:spcBef>
                <a:spcPts val="2027"/>
              </a:spcBef>
              <a:buSzPct val="200000"/>
              <a:buBlip>
                <a:blip r:embed="rId4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Lessons learned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8 min</a:t>
            </a:r>
            <a:endParaRPr lang="en-US" dirty="0"/>
          </a:p>
          <a:p>
            <a:pPr fontAlgn="ctr" algn="l" marL="482600" indent="-482600">
              <a:lnSpc>
                <a:spcPts val="2134"/>
              </a:lnSpc>
              <a:spcBef>
                <a:spcPts val="2027"/>
              </a:spcBef>
              <a:buSzPct val="200000"/>
              <a:buBlip>
                <a:blip r:embed="rId5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Enterprise scale and performance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10 min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6" name="Text 4"/>
          <p:cNvSpPr/>
          <p:nvPr/>
        </p:nvSpPr>
        <p:spPr>
          <a:xfrm>
            <a:off x="4096673" y="6374904"/>
            <a:ext cx="3998655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Recommendations and close (2 min)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7298085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Modernizing Healthcare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Interoperability with FHIR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Moving from brittle point-to-point interfaces to a reusable API contract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362200"/>
            <a:ext cx="4476750" cy="3295650"/>
          </a:xfrm>
          <a:prstGeom prst="round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bridge connecting two fragmented sides of a data network">    </p:cNvPr>
          <p:cNvPicPr>
            <a:picLocks noChangeAspect="1"/>
          </p:cNvPicPr>
          <p:nvPr/>
        </p:nvPicPr>
        <p:blipFill>
          <a:blip r:embed="rId1"/>
          <a:srcRect l="0" r="0" t="13191" b="13191"/>
          <a:stretch/>
        </p:blipFill>
        <p:spPr>
          <a:xfrm>
            <a:off x="476250" y="2362200"/>
            <a:ext cx="4476750" cy="3295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937718"/>
            <a:ext cx="6656040" cy="21539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Healthcare data problem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Fragmented clinical, administrative, and financial data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with bespoke mappings and brittle dependencies.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FHIR abstraction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Standard Patient, Encounter, Condition, Claim, and EOB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JSON resources, references, coding systems, and REST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semantics.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38100" y="6374904"/>
            <a:ext cx="12115800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Business outcome: lower integration friction and a reusable base for apps, analytics, automation, and partner exchange.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9725620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Four deployable components create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an end-to-end learning platform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System Architecture Overview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88219" y="2495550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2B6F9F">
              <a:alpha val="30000"/>
            </a:srgbClr>
          </a:solidFill>
          <a:ln>
            <a:miter lim="800000"/>
          </a:ln>
        </p:spPr>
      </p:sp>
      <p:pic>
        <p:nvPicPr>
          <p:cNvPr id="5" name="Image 0" descr="-72ca59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703" y="2933663"/>
            <a:ext cx="552450" cy="552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8144" y="4018211"/>
            <a:ext cx="2628900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Admin UI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0844" y="4357390"/>
            <a:ext cx="2763500" cy="19466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React, Vite, Tailwind;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resource browser, user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admin, API console.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Claims demo: guided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React workflow with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five live FHIR calls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a revenue-cycle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story.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917156" y="2495550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6E827E">
              <a:alpha val="30000"/>
            </a:srgbClr>
          </a:solidFill>
          <a:ln>
            <a:miter lim="800000"/>
          </a:ln>
        </p:spPr>
      </p:sp>
      <p:pic>
        <p:nvPicPr>
          <p:cNvPr id="9" name="Image 1" descr="63b638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384" y="2942034"/>
            <a:ext cx="504825" cy="533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4694" y="4018211"/>
            <a:ext cx="27336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FHIR server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191411" y="4357390"/>
            <a:ext cx="2880241" cy="97333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Spring Boot plus HAPI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FHIR, 15 resource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providers, CRUD/search,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auth/admin APIs.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846094" y="2495550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B0955C">
              <a:alpha val="30000"/>
            </a:srgbClr>
          </a:solidFill>
          <a:ln>
            <a:miter lim="800000"/>
          </a:ln>
        </p:spPr>
      </p:sp>
      <p:pic>
        <p:nvPicPr>
          <p:cNvPr id="13" name="Image 2" descr="3186d0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207" y="2942032"/>
            <a:ext cx="552450" cy="552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93631" y="4018211"/>
            <a:ext cx="27336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layer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120348" y="4357390"/>
            <a:ext cx="2880241" cy="97333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MongoDB 7, native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JSON/BSON and one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collection per resource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type.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9775031" y="2495550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F3A83B">
              <a:alpha val="30000"/>
            </a:srgbClr>
          </a:solidFill>
          <a:ln>
            <a:miter lim="800000"/>
          </a:ln>
        </p:spPr>
      </p:sp>
      <p:pic>
        <p:nvPicPr>
          <p:cNvPr id="17" name="Image 3" descr="589607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259" y="2875062"/>
            <a:ext cx="504825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74956" y="4018211"/>
            <a:ext cx="2628900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Synthea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9107656" y="4357390"/>
            <a:ext cx="2763500" cy="4866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Creates synthetic FHIR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R4 bundles.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System Architecture Topology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Production infrastructure overview using containerized services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095375" y="2157413"/>
            <a:ext cx="714375" cy="714375"/>
          </a:xfrm>
          <a:prstGeom prst="roundRect">
            <a:avLst>
              <a:gd name="adj" fmla="val 12800"/>
            </a:avLst>
          </a:prstGeom>
          <a:solidFill>
            <a:srgbClr val="2B6F9F">
              <a:alpha val="30000"/>
            </a:srgbClr>
          </a:solidFill>
          <a:ln>
            <a:miter lim="800000"/>
          </a:ln>
        </p:spPr>
      </p:sp>
      <p:pic>
        <p:nvPicPr>
          <p:cNvPr id="5" name="Image 0" descr="43c0c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805" y="2359726"/>
            <a:ext cx="266700" cy="314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00250" y="2108448"/>
            <a:ext cx="41433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Ingress Layer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00250" y="2447627"/>
            <a:ext cx="4190405" cy="4866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Browser requests directed to Caddy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TLS/reverse proxy.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095375" y="3348038"/>
            <a:ext cx="714375" cy="714375"/>
          </a:xfrm>
          <a:prstGeom prst="roundRect">
            <a:avLst>
              <a:gd name="adj" fmla="val 12800"/>
            </a:avLst>
          </a:prstGeom>
          <a:solidFill>
            <a:srgbClr val="5D7D86">
              <a:alpha val="30000"/>
            </a:srgbClr>
          </a:solidFill>
          <a:ln>
            <a:miter lim="800000"/>
          </a:ln>
        </p:spPr>
      </p:sp>
      <p:pic>
        <p:nvPicPr>
          <p:cNvPr id="9" name="Image 1" descr="-7e2f32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89" y="3571280"/>
            <a:ext cx="257175" cy="266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00250" y="3299073"/>
            <a:ext cx="41433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Application Layer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000250" y="3638252"/>
            <a:ext cx="4296817" cy="4866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Traffic routed to Admin UI nginx or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Claims Demo nginx at port 5175.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1095375" y="4538663"/>
            <a:ext cx="714375" cy="714375"/>
          </a:xfrm>
          <a:prstGeom prst="roundRect">
            <a:avLst>
              <a:gd name="adj" fmla="val 12800"/>
            </a:avLst>
          </a:prstGeom>
          <a:solidFill>
            <a:srgbClr val="8F8C6D">
              <a:alpha val="30000"/>
            </a:srgbClr>
          </a:solidFill>
          <a:ln>
            <a:miter lim="800000"/>
          </a:ln>
        </p:spPr>
      </p:sp>
      <p:pic>
        <p:nvPicPr>
          <p:cNvPr id="13" name="Image 2" descr="2c5ca0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130" y="4770279"/>
            <a:ext cx="342900" cy="2571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00250" y="4489698"/>
            <a:ext cx="41433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FHIR Server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000250" y="4828877"/>
            <a:ext cx="4143375" cy="4866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Spring Boot framework integrated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with HAPI.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334125" y="2157413"/>
            <a:ext cx="714375" cy="714375"/>
          </a:xfrm>
          <a:prstGeom prst="roundRect">
            <a:avLst>
              <a:gd name="adj" fmla="val 12800"/>
            </a:avLst>
          </a:prstGeom>
          <a:solidFill>
            <a:srgbClr val="C19A54">
              <a:alpha val="30000"/>
            </a:srgbClr>
          </a:solidFill>
          <a:ln>
            <a:miter lim="800000"/>
          </a:ln>
        </p:spPr>
      </p:sp>
      <p:pic>
        <p:nvPicPr>
          <p:cNvPr id="17" name="Image 3" descr="-6b47ea5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181" y="2380653"/>
            <a:ext cx="276225" cy="2762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39000" y="2108448"/>
            <a:ext cx="41433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Persistence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239000" y="2447627"/>
            <a:ext cx="4403080" cy="4866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CRUD operations performed on MongoDB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7 bound to localhost.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6334125" y="3348038"/>
            <a:ext cx="714375" cy="714375"/>
          </a:xfrm>
          <a:prstGeom prst="roundRect">
            <a:avLst>
              <a:gd name="adj" fmla="val 12800"/>
            </a:avLst>
          </a:prstGeom>
          <a:solidFill>
            <a:srgbClr val="F3A83B">
              <a:alpha val="30000"/>
            </a:srgbClr>
          </a:solidFill>
          <a:ln>
            <a:miter lim="800000"/>
          </a:ln>
        </p:spPr>
      </p:sp>
      <p:pic>
        <p:nvPicPr>
          <p:cNvPr id="21" name="Image 4" descr="582305a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739" y="3558722"/>
            <a:ext cx="257175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39000" y="3299073"/>
            <a:ext cx="41433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Backup Strategy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239000" y="3638252"/>
            <a:ext cx="4190405" cy="4866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Scheduled data dumps performed via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backup sidecar.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25" name="Text 18"/>
          <p:cNvSpPr/>
          <p:nvPr/>
        </p:nvSpPr>
        <p:spPr>
          <a:xfrm>
            <a:off x="2347913" y="6374904"/>
            <a:ext cx="7496175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 deliberately simple topology made the whole system understandable.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FHIR JSON &amp; Document Storage Scaling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Optimizing search design for FHIR resource persistence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500313"/>
            <a:ext cx="3619500" cy="2538413"/>
          </a:xfrm>
          <a:prstGeom prst="roundRect">
            <a:avLst>
              <a:gd name="adj" fmla="val 3602"/>
            </a:avLst>
          </a:prstGeom>
          <a:solidFill>
            <a:srgbClr val="2B6F9F">
              <a:alpha val="30000"/>
            </a:srgbClr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994868"/>
            <a:ext cx="3333750" cy="2710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34"/>
              </a:lnSpc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FHIR Resource Coverage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351312"/>
            <a:ext cx="3471714" cy="12166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59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Includes Patient, Encounter,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Condition, Observation,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Claim, Coverage, EOB,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eight additional resource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types.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28813" y="214312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05377"/>
            </a:solidFill>
            <a:prstDash val="solid"/>
            <a:miter lim="800000"/>
          </a:ln>
        </p:spPr>
      </p:sp>
      <p:pic>
        <p:nvPicPr>
          <p:cNvPr id="8" name="Image 0" descr="-1c9289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869" y="2366366"/>
            <a:ext cx="276225" cy="2762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2500313"/>
            <a:ext cx="3619500" cy="2538413"/>
          </a:xfrm>
          <a:prstGeom prst="roundRect">
            <a:avLst>
              <a:gd name="adj" fmla="val 3602"/>
            </a:avLst>
          </a:prstGeom>
          <a:solidFill>
            <a:srgbClr val="8F8C6D">
              <a:alpha val="30000"/>
            </a:srgbClr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572000" y="2994868"/>
            <a:ext cx="3333750" cy="2710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34"/>
              </a:lnSpc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Storage Architecture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3351312"/>
            <a:ext cx="3365450" cy="14600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59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Utilizes one MongoDB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collection per resource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type, using the resource ID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as the document key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maintaining raw FHIR JSON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integrity.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38813" y="214312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27057"/>
            </a:solidFill>
            <a:prstDash val="solid"/>
            <a:miter lim="800000"/>
          </a:ln>
        </p:spPr>
      </p:sp>
      <p:pic>
        <p:nvPicPr>
          <p:cNvPr id="13" name="Image 1" descr="-99476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497" y="2332881"/>
            <a:ext cx="295275" cy="3333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2500313"/>
            <a:ext cx="3619500" cy="2538413"/>
          </a:xfrm>
          <a:prstGeom prst="roundRect">
            <a:avLst>
              <a:gd name="adj" fmla="val 3602"/>
            </a:avLst>
          </a:prstGeom>
          <a:solidFill>
            <a:srgbClr val="F3A83B">
              <a:alpha val="30000"/>
            </a:srgbClr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382000" y="2994868"/>
            <a:ext cx="3333750" cy="2710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34"/>
              </a:lnSpc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Technical Advantages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3351312"/>
            <a:ext cx="3365450" cy="14600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59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Eliminates relational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impedance mismatch, avoids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schema migration for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extensions/optional fields,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enables direct FHIR-to-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JSON persistence.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48813" y="214312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C920E"/>
            </a:solidFill>
            <a:prstDash val="solid"/>
            <a:miter lim="800000"/>
          </a:ln>
        </p:spPr>
      </p:sp>
      <p:pic>
        <p:nvPicPr>
          <p:cNvPr id="18" name="Image 2" descr="598c72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568" y="2333845"/>
            <a:ext cx="333375" cy="3333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-138112" y="6260604"/>
            <a:ext cx="12468225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Enterprise implication: design indexes around actual search parameters, cardinality, tenant boundaries, and query patterns.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7633395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Five live calls turn FHIR into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 tangible claims story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 sequential workflow for medical claims processing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719388"/>
            <a:ext cx="3619500" cy="1243013"/>
          </a:xfrm>
          <a:prstGeom prst="roundRect">
            <a:avLst>
              <a:gd name="adj" fmla="val 7356"/>
            </a:avLst>
          </a:prstGeom>
          <a:solidFill>
            <a:srgbClr val="2B6F9F">
              <a:alpha val="30000"/>
            </a:srgbClr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3221980"/>
            <a:ext cx="33337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14"/>
              </a:lnSpc>
            </a:pPr>
            <a:r>
              <a:rPr lang="en-US" sz="157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1 Patient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524994"/>
            <a:ext cx="3333750" cy="2068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29"/>
              </a:lnSpc>
              <a:spcBef>
                <a:spcPts val="561"/>
              </a:spcBef>
            </a:pPr>
            <a:r>
              <a:rPr lang="en-US" sz="1148" spc="23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register member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28813" y="23622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05377"/>
            </a:solidFill>
            <a:prstDash val="solid"/>
            <a:miter lim="800000"/>
          </a:ln>
        </p:spPr>
      </p:sp>
      <p:pic>
        <p:nvPicPr>
          <p:cNvPr id="8" name="Image 0" descr="33e46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197" y="2627300"/>
            <a:ext cx="352425" cy="190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2719388"/>
            <a:ext cx="3619500" cy="1243013"/>
          </a:xfrm>
          <a:prstGeom prst="roundRect">
            <a:avLst>
              <a:gd name="adj" fmla="val 7356"/>
            </a:avLst>
          </a:prstGeom>
          <a:solidFill>
            <a:srgbClr val="5D7D86">
              <a:alpha val="30000"/>
            </a:srgbClr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572000" y="3221980"/>
            <a:ext cx="33337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14"/>
              </a:lnSpc>
            </a:pPr>
            <a:r>
              <a:rPr lang="en-US" sz="157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2 Encounter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3524994"/>
            <a:ext cx="3333750" cy="2068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29"/>
              </a:lnSpc>
              <a:spcBef>
                <a:spcPts val="561"/>
              </a:spcBef>
            </a:pPr>
            <a:r>
              <a:rPr lang="en-US" sz="1148" spc="23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office visit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38813" y="23622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86168"/>
            </a:solidFill>
            <a:prstDash val="solid"/>
            <a:miter lim="800000"/>
          </a:ln>
        </p:spPr>
      </p:sp>
      <p:pic>
        <p:nvPicPr>
          <p:cNvPr id="13" name="Image 1" descr="68a892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055" y="2616836"/>
            <a:ext cx="2667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2719388"/>
            <a:ext cx="3619500" cy="1243013"/>
          </a:xfrm>
          <a:prstGeom prst="roundRect">
            <a:avLst>
              <a:gd name="adj" fmla="val 7356"/>
            </a:avLst>
          </a:prstGeom>
          <a:solidFill>
            <a:srgbClr val="8F8C6D">
              <a:alpha val="30000"/>
            </a:srgbClr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382000" y="3221980"/>
            <a:ext cx="33337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14"/>
              </a:lnSpc>
            </a:pPr>
            <a:r>
              <a:rPr lang="en-US" sz="157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3 Condition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3524994"/>
            <a:ext cx="3333750" cy="2068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29"/>
              </a:lnSpc>
              <a:spcBef>
                <a:spcPts val="561"/>
              </a:spcBef>
            </a:pPr>
            <a:r>
              <a:rPr lang="en-US" sz="1148" spc="23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Type 2 diabetes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48813" y="23622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27057"/>
            </a:solidFill>
            <a:prstDash val="solid"/>
            <a:miter lim="800000"/>
          </a:ln>
        </p:spPr>
      </p:sp>
      <p:pic>
        <p:nvPicPr>
          <p:cNvPr id="18" name="Image 2" descr="-3d5b0e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312" y="2585441"/>
            <a:ext cx="304800" cy="2762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6250" y="4414838"/>
            <a:ext cx="5524500" cy="1243013"/>
          </a:xfrm>
          <a:prstGeom prst="roundRect">
            <a:avLst>
              <a:gd name="adj" fmla="val 7356"/>
            </a:avLst>
          </a:prstGeom>
          <a:solidFill>
            <a:srgbClr val="C19A54">
              <a:alpha val="30000"/>
            </a:srgbClr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762000" y="4917430"/>
            <a:ext cx="52387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14"/>
              </a:lnSpc>
            </a:pPr>
            <a:r>
              <a:rPr lang="en-US" sz="157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4 Claim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62000" y="5220444"/>
            <a:ext cx="5238750" cy="2068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29"/>
              </a:lnSpc>
              <a:spcBef>
                <a:spcPts val="561"/>
              </a:spcBef>
            </a:pPr>
            <a:r>
              <a:rPr lang="en-US" sz="1148" spc="23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$150, CPT 99213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2881313" y="40576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6803C"/>
            </a:solidFill>
            <a:prstDash val="solid"/>
            <a:miter lim="800000"/>
          </a:ln>
        </p:spPr>
      </p:sp>
      <p:pic>
        <p:nvPicPr>
          <p:cNvPr id="23" name="Image 3" descr="251c95a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099" y="4222799"/>
            <a:ext cx="304800" cy="381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191250" y="4414838"/>
            <a:ext cx="5524500" cy="1243013"/>
          </a:xfrm>
          <a:prstGeom prst="roundRect">
            <a:avLst>
              <a:gd name="adj" fmla="val 7356"/>
            </a:avLst>
          </a:prstGeom>
          <a:solidFill>
            <a:srgbClr val="F3A83B">
              <a:alpha val="30000"/>
            </a:srgbClr>
          </a:solidFill>
          <a:ln>
            <a:miter lim="800000"/>
          </a:ln>
        </p:spPr>
      </p:sp>
      <p:sp>
        <p:nvSpPr>
          <p:cNvPr id="25" name="Text 19"/>
          <p:cNvSpPr/>
          <p:nvPr/>
        </p:nvSpPr>
        <p:spPr>
          <a:xfrm>
            <a:off x="6477000" y="4917430"/>
            <a:ext cx="52387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14"/>
              </a:lnSpc>
            </a:pPr>
            <a:r>
              <a:rPr lang="en-US" sz="157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5 EOB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77000" y="5220444"/>
            <a:ext cx="5238750" cy="2068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29"/>
              </a:lnSpc>
              <a:spcBef>
                <a:spcPts val="561"/>
              </a:spcBef>
            </a:pPr>
            <a:r>
              <a:rPr lang="en-US" sz="1148" spc="23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$120 insurer paid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8596313" y="40576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C920E"/>
            </a:solidFill>
            <a:prstDash val="solid"/>
            <a:miter lim="800000"/>
          </a:ln>
        </p:spPr>
      </p:sp>
      <p:pic>
        <p:nvPicPr>
          <p:cNvPr id="28" name="Image 4" descr="-63789d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812" y="4255777"/>
            <a:ext cx="304800" cy="32385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30" name="Text 23"/>
          <p:cNvSpPr/>
          <p:nvPr/>
        </p:nvSpPr>
        <p:spPr>
          <a:xfrm>
            <a:off x="3048000" y="6374904"/>
            <a:ext cx="6096000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Server-assigned UUIDs pass forward as FHIR references.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Layered System Architecture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Separation of concerns across experience, standards, services, data, and runtime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571006"/>
            <a:ext cx="5238750" cy="29972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Experience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Admin UI and Claims demo built with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React/TypeScript.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API Boundary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 REST and custom admin/auth APIs using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HAPI Plain Server and Spring MVC.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Domain Services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Bundle import, Synthea jobs, users,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Spring services/async processing.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571006"/>
            <a:ext cx="5238750" cy="19106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Persistence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Dynamic FHIR collections plus users/jobs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using Spring Data MongoDB.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Runtime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Containers, reverse proxy, backups, Docker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Compose, nginx, and Caddy.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Evolution of the Delivery Pipeline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From code execution to verified production behavior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52600"/>
            <a:ext cx="4476750" cy="3905250"/>
          </a:xfrm>
          <a:prstGeom prst="round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streamlined software delivery pipeline icon">    </p:cNvPr>
          <p:cNvPicPr>
            <a:picLocks noChangeAspect="1"/>
          </p:cNvPicPr>
          <p:nvPr/>
        </p:nvPicPr>
        <p:blipFill>
          <a:blip r:embed="rId1"/>
          <a:srcRect l="0" r="0" t="6383" b="6383"/>
          <a:stretch/>
        </p:blipFill>
        <p:spPr>
          <a:xfrm>
            <a:off x="476250" y="1752600"/>
            <a:ext cx="4476750" cy="3905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1842343"/>
            <a:ext cx="6656040" cy="37272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Pipeline Flow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Code/PR in GitHub; CI with Maven, Vite, Vitest; Docker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Compose build gate; staging on self-hosted runner;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release by version tag or manual; GHCR registry;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production via SSH deploy plus health check.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Automated Testing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49 automated tests cover backend security and paging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plus frontend auth, dashboard, pagination, API console,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user management.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Production Smoke Tests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Validate CapabilityStatement, UI, auth, stats, Patient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CRUD, and optional Synthea generation.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1800225" y="6374904"/>
            <a:ext cx="8591550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Key principle: unit tests validate code; smoke tests validate the system users reach.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Security Architecture Assessment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Evaluation of FHIR Boundary Security and Enterprise Readiness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142381"/>
            <a:ext cx="5363021" cy="31273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Implemented Security Controls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BCrypt passwords, JWT classification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correct 401/403 behavior, ADMIN-only user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creation, environment-specific signing keys,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MongoDB on localhost, and dedicated app DB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user.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Lessons Learned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Registration privilege escalation was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identified and resolved; dev/staging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signing-key isolation requires explicit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architectural design.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142381"/>
            <a:ext cx="5363021" cy="15540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Enterprise Requirements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Transition from permitAll on /fhir/**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endpoints to enforcing OAuth2/OIDC, SMART-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on-FHIR scopes/consent, gateway policy, TLS,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audit trails, secrets management, and least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privilege.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1704975" y="6374904"/>
            <a:ext cx="8782050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Security patterns were sound—but the open FHIR boundary is an enterprise blocker.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9516666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The highest-value lessons emerged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at component boundaries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Key architectural insights from system integration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756743"/>
            <a:ext cx="5238750" cy="32405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482600" indent="-482600">
              <a:lnSpc>
                <a:spcPts val="2134"/>
              </a:lnSpc>
              <a:buSzPct val="20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Contracts beat assumptions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Nested stats response broke UI until API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shape matched.</a:t>
            </a:r>
            <a:endParaRPr lang="en-US" dirty="0"/>
          </a:p>
          <a:p>
            <a:pPr fontAlgn="ctr" algn="l" marL="482600" indent="-482600">
              <a:lnSpc>
                <a:spcPts val="2134"/>
              </a:lnSpc>
              <a:spcBef>
                <a:spcPts val="2027"/>
              </a:spcBef>
              <a:buSzPct val="200000"/>
              <a:buBlip>
                <a:blip r:embed="rId2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Environment isolation is a feature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Project names, volumes, ports, databases,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JWT secrets require separation.</a:t>
            </a:r>
            <a:endParaRPr lang="en-US" dirty="0"/>
          </a:p>
          <a:p>
            <a:pPr fontAlgn="ctr" algn="l" marL="482600" indent="-482600">
              <a:lnSpc>
                <a:spcPts val="2134"/>
              </a:lnSpc>
              <a:spcBef>
                <a:spcPts val="2027"/>
              </a:spcBef>
              <a:buSzPct val="200000"/>
              <a:buBlip>
                <a:blip r:embed="rId3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HTTP details become architecture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CORS, proxy Origin handling, chunking,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Location/ETag, and 401 vs 403 affect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workflows.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756743"/>
            <a:ext cx="5238750" cy="242500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482600" indent="-482600">
              <a:lnSpc>
                <a:spcPts val="2134"/>
              </a:lnSpc>
              <a:buSzPct val="200000"/>
              <a:buBlip>
                <a:blip r:embed="rId4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Build is not deploy is not operate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Live smoke tests close the gap.</a:t>
            </a:r>
            <a:endParaRPr lang="en-US" dirty="0"/>
          </a:p>
          <a:p>
            <a:pPr fontAlgn="ctr" algn="l" marL="482600" indent="-482600">
              <a:lnSpc>
                <a:spcPts val="2134"/>
              </a:lnSpc>
              <a:spcBef>
                <a:spcPts val="2027"/>
              </a:spcBef>
              <a:buSzPct val="200000"/>
              <a:buBlip>
                <a:blip r:embed="rId5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Prototype shortcuts become scale</a:t>
            </a:r>
            <a:b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bottlenecks</a:t>
            </a:r>
            <a:endParaRPr lang="en-US" dirty="0"/>
          </a:p>
          <a:p>
            <a:pPr fontAlgn="ctr" algn="l" lvl="1" marL="4826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Single-node data, local backups, single-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threaded Synthea, and unauthenticated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 are learning choices, not enterprise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end states.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7714506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Current Enterprise Backlog: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Compact Deployment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Analysis of existing infrastructure and operational constraints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699593"/>
            <a:ext cx="5256758" cy="33538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Availability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Single VPS and MongoDB instance.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Transport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HTTP on bare IP until domain/TLS.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API Security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 endpoints permitAll.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Bulk Workloads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Synthea subprocess and local async executor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compete with application resources.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699593"/>
            <a:ext cx="5238750" cy="19106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Backups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Local host, seven-day retention risks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primary and backup together.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Testing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No browser E2E suite, leaving some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integrated flows manual.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Enterprise Architecture Components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Scalable, secure, and observable infrastructure design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328118"/>
            <a:ext cx="5363021" cy="34839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Edge &amp; Security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Clients route through WAF and API Gateway,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secured by OIDC/SMART scopes.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Compute Layer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Stateless autoscaled FHIR API and Admin API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replicas handle ingress traffic.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Tier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MongoDB replica sets or sharded clusters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with Redis caching and optional search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indices; protected by multi-AZ and point-in-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time recovery.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328118"/>
            <a:ext cx="5238750" cy="21539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Async &amp; Workers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Queue-based architecture to isolate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process background tasks.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Observability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End-to-end monitoring including metrics,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logs, traces, audit events, SLOs,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synthetics, and capacity telemetry.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8831907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Performance work should follow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measured workload shapes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Optimizing system architecture and data access patterns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362200"/>
            <a:ext cx="4476750" cy="4019550"/>
          </a:xfrm>
          <a:prstGeom prst="round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high-performance computer server rack">    </p:cNvPr>
          <p:cNvPicPr>
            <a:picLocks noChangeAspect="1"/>
          </p:cNvPicPr>
          <p:nvPr/>
        </p:nvPicPr>
        <p:blipFill>
          <a:blip r:embed="rId1"/>
          <a:srcRect l="0" r="0" t="5106" b="5106"/>
          <a:stretch/>
        </p:blipFill>
        <p:spPr>
          <a:xfrm>
            <a:off x="476250" y="2362200"/>
            <a:ext cx="4476750" cy="401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491234"/>
            <a:ext cx="3190875" cy="35672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603250" indent="-603250">
              <a:lnSpc>
                <a:spcPts val="1707"/>
              </a:lnSpc>
              <a:buSzPct val="200000"/>
              <a:buBlip>
                <a:blip r:embed="rId2"/>
              </a:buBlip>
            </a:pPr>
            <a:r>
              <a:rPr lang="en-US" sz="148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Search/indexes</a:t>
            </a:r>
            <a:endParaRPr lang="en-US" dirty="0"/>
          </a:p>
          <a:p>
            <a:pPr fontAlgn="ctr" algn="l" lvl="1" marL="603250" indent="0">
              <a:lnSpc>
                <a:spcPts val="1534"/>
              </a:lnSpc>
              <a:spcBef>
                <a:spcPts val="410"/>
              </a:spcBef>
              <a:buNone/>
            </a:pP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Profile top searches;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compound indexes on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identifiers, references,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dates, and codes; eliminate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scans.</a:t>
            </a:r>
            <a:endParaRPr lang="en-US" dirty="0"/>
          </a:p>
          <a:p>
            <a:pPr fontAlgn="ctr" algn="l" marL="603250" indent="-603250">
              <a:lnSpc>
                <a:spcPts val="1707"/>
              </a:lnSpc>
              <a:spcBef>
                <a:spcPts val="1622"/>
              </a:spcBef>
              <a:buSzPct val="200000"/>
              <a:buBlip>
                <a:blip r:embed="rId3"/>
              </a:buBlip>
            </a:pPr>
            <a:r>
              <a:rPr lang="en-US" sz="148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Pagination</a:t>
            </a:r>
            <a:endParaRPr lang="en-US" dirty="0"/>
          </a:p>
          <a:p>
            <a:pPr fontAlgn="ctr" algn="l" lvl="1" marL="603250" indent="0">
              <a:lnSpc>
                <a:spcPts val="1534"/>
              </a:lnSpc>
              <a:spcBef>
                <a:spcPts val="410"/>
              </a:spcBef>
              <a:buNone/>
            </a:pP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Move high-volume queries from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offset/skip toward stable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cursor/search-after where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possible.</a:t>
            </a:r>
            <a:endParaRPr lang="en-US" dirty="0"/>
          </a:p>
          <a:p>
            <a:pPr fontAlgn="ctr" algn="l" marL="603250" indent="-603250">
              <a:lnSpc>
                <a:spcPts val="1707"/>
              </a:lnSpc>
              <a:spcBef>
                <a:spcPts val="1622"/>
              </a:spcBef>
              <a:buSzPct val="200000"/>
              <a:buBlip>
                <a:blip r:embed="rId4"/>
              </a:buBlip>
            </a:pPr>
            <a:r>
              <a:rPr lang="en-US" sz="148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API compute</a:t>
            </a:r>
            <a:endParaRPr lang="en-US" dirty="0"/>
          </a:p>
          <a:p>
            <a:pPr fontAlgn="ctr" algn="l" lvl="1" marL="603250" indent="0">
              <a:lnSpc>
                <a:spcPts val="1534"/>
              </a:lnSpc>
              <a:spcBef>
                <a:spcPts val="410"/>
              </a:spcBef>
              <a:buNone/>
            </a:pP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Stateless nodes; tune JVM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heap/GC, Tomcat threads,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pools; scale horizontally.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715375" y="2491234"/>
            <a:ext cx="3190875" cy="37620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603250" indent="-603250">
              <a:lnSpc>
                <a:spcPts val="1707"/>
              </a:lnSpc>
              <a:buSzPct val="200000"/>
              <a:buBlip>
                <a:blip r:embed="rId5"/>
              </a:buBlip>
            </a:pPr>
            <a:r>
              <a:rPr lang="en-US" sz="148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tier</a:t>
            </a:r>
            <a:endParaRPr lang="en-US" dirty="0"/>
          </a:p>
          <a:p>
            <a:pPr fontAlgn="ctr" algn="l" lvl="1" marL="603250" indent="0">
              <a:lnSpc>
                <a:spcPts val="1534"/>
              </a:lnSpc>
              <a:spcBef>
                <a:spcPts val="410"/>
              </a:spcBef>
              <a:buNone/>
            </a:pP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Replica sets for HA; shard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only when justified; choose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tenant-plus-access-pattern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shard keys.</a:t>
            </a:r>
            <a:endParaRPr lang="en-US" dirty="0"/>
          </a:p>
          <a:p>
            <a:pPr fontAlgn="ctr" algn="l" marL="603250" indent="-603250">
              <a:lnSpc>
                <a:spcPts val="1707"/>
              </a:lnSpc>
              <a:spcBef>
                <a:spcPts val="1622"/>
              </a:spcBef>
              <a:buSzPct val="200000"/>
              <a:buBlip>
                <a:blip r:embed="rId6"/>
              </a:buBlip>
            </a:pPr>
            <a:r>
              <a:rPr lang="en-US" sz="148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Cache</a:t>
            </a:r>
            <a:endParaRPr lang="en-US" dirty="0"/>
          </a:p>
          <a:p>
            <a:pPr fontAlgn="ctr" algn="l" lvl="1" marL="603250" indent="0">
              <a:lnSpc>
                <a:spcPts val="1534"/>
              </a:lnSpc>
              <a:spcBef>
                <a:spcPts val="410"/>
              </a:spcBef>
              <a:buNone/>
            </a:pP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CapabilityStatement,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terminology/static metadata,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safe read-heavy lookups;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never hide poor indexes.</a:t>
            </a:r>
            <a:endParaRPr lang="en-US" dirty="0"/>
          </a:p>
          <a:p>
            <a:pPr fontAlgn="ctr" algn="l" marL="603250" indent="-603250">
              <a:lnSpc>
                <a:spcPts val="1707"/>
              </a:lnSpc>
              <a:spcBef>
                <a:spcPts val="1622"/>
              </a:spcBef>
              <a:buSzPct val="200000"/>
              <a:buBlip>
                <a:blip r:embed="rId7"/>
              </a:buBlip>
            </a:pPr>
            <a:r>
              <a:rPr lang="en-US" sz="148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Async</a:t>
            </a:r>
            <a:endParaRPr lang="en-US" dirty="0"/>
          </a:p>
          <a:p>
            <a:pPr fontAlgn="ctr" algn="l" lvl="1" marL="603250" indent="0">
              <a:lnSpc>
                <a:spcPts val="1534"/>
              </a:lnSpc>
              <a:spcBef>
                <a:spcPts val="410"/>
              </a:spcBef>
              <a:buNone/>
            </a:pP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Queue-backed Synthea,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imports, exports,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notifications, and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transformations with</a:t>
            </a:r>
            <a:b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80" spc="22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backpressure.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103025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Scale each workload independently—not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the server as a whole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Optimizing resource allocation for diverse system requirements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937718"/>
            <a:ext cx="5256758" cy="21539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Interactive clinical/API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Low latency, bursty reads/writes; scale API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replicas, indexes, and cache.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Bulk ingestion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High write throughput and validation cost;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use queue, batch workers, controlled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concurrency.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937718"/>
            <a:ext cx="5256758" cy="21539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Analytics/reporting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Wide scans and aggregation; use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replica/warehouse/lake and protect the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transactional store.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Terminology/validation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CPU and reference-data intensive; dedicated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service/cache and pre-warmed artifacts.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1604963" y="6374904"/>
            <a:ext cx="8982075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Isolate noisy neighbors and assign explicit concurrency, latency, and resource budgets.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783169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System Reliability and Resilience Strategy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Ensuring continuous availability, data protection, and performance targets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476375" y="2195513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2B6F9F">
              <a:alpha val="30000"/>
            </a:srgbClr>
          </a:solidFill>
          <a:ln>
            <a:miter lim="800000"/>
          </a:ln>
        </p:spPr>
      </p:sp>
      <p:pic>
        <p:nvPicPr>
          <p:cNvPr id="5" name="Image 0" descr="-74d524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603" y="2641997"/>
            <a:ext cx="504825" cy="53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0050" y="3718173"/>
            <a:ext cx="3581400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Availability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83041" y="4057352"/>
            <a:ext cx="3815417" cy="12166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Multi-AZ load balancing, at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least two API replicas, MongoDB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replica set/managed service,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health and readiness probes,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rolling or blue-green deploys.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381625" y="2195513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8F8C6D">
              <a:alpha val="30000"/>
            </a:srgbClr>
          </a:solidFill>
          <a:ln>
            <a:miter lim="800000"/>
          </a:ln>
        </p:spPr>
      </p:sp>
      <p:pic>
        <p:nvPicPr>
          <p:cNvPr id="9" name="Image 1" descr="-3d5144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53" y="2616882"/>
            <a:ext cx="514350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62463" y="3718173"/>
            <a:ext cx="32670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protection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363477" y="4057352"/>
            <a:ext cx="3465046" cy="12166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Point-in-time recovery,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encrypted off-host backups,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immutable retention, restore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automation, backup integrity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tests.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9286875" y="2195513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F3A83B">
              <a:alpha val="30000"/>
            </a:srgbClr>
          </a:solidFill>
          <a:ln>
            <a:miter lim="800000"/>
          </a:ln>
        </p:spPr>
      </p:sp>
      <p:pic>
        <p:nvPicPr>
          <p:cNvPr id="13" name="Image 2" descr="-6ff01a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245" y="2621068"/>
            <a:ext cx="619125" cy="619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10550" y="3718173"/>
            <a:ext cx="3581400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Resilience targets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8093541" y="4057352"/>
            <a:ext cx="3815417" cy="12166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Business-backed SLOs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RTO/RPO; exercise node loss, AZ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loss, DB failover, queue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backlog, rollback,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dependency degradation.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17" name="Text 12"/>
          <p:cNvSpPr/>
          <p:nvPr/>
        </p:nvSpPr>
        <p:spPr>
          <a:xfrm>
            <a:off x="3200400" y="6374904"/>
            <a:ext cx="5791200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Reliability must be proven through recovery exercises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8271421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Four Signal Groups for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Comprehensive Observability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Standardizing metrics to monitor latency, errors, saturation, and data-path health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914650"/>
            <a:ext cx="2667000" cy="3271838"/>
          </a:xfrm>
          <a:prstGeom prst="roundRect">
            <a:avLst>
              <a:gd name="adj" fmla="val 3429"/>
            </a:avLst>
          </a:prstGeom>
          <a:solidFill>
            <a:srgbClr val="2B6F9F">
              <a:alpha val="30000"/>
            </a:srgbClr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3409206"/>
            <a:ext cx="2381250" cy="2710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34"/>
              </a:lnSpc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RED Method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765649"/>
            <a:ext cx="2381250" cy="97333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59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Focuses on Rate,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Errors,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Duration for all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API endpoints.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452563" y="255746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05377"/>
            </a:solidFill>
            <a:prstDash val="solid"/>
            <a:miter lim="800000"/>
          </a:ln>
        </p:spPr>
      </p:sp>
      <p:pic>
        <p:nvPicPr>
          <p:cNvPr id="8" name="Image 0" descr="57754b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052" y="2760951"/>
            <a:ext cx="304800" cy="30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3750" y="2914650"/>
            <a:ext cx="2667000" cy="3271838"/>
          </a:xfrm>
          <a:prstGeom prst="roundRect">
            <a:avLst>
              <a:gd name="adj" fmla="val 3429"/>
            </a:avLst>
          </a:prstGeom>
          <a:solidFill>
            <a:srgbClr val="6E827E">
              <a:alpha val="30000"/>
            </a:srgbClr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3619500" y="3409206"/>
            <a:ext cx="2381250" cy="2710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34"/>
              </a:lnSpc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USE Method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619500" y="3765649"/>
            <a:ext cx="2381250" cy="21900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59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Monitors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Utilization,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Saturation,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Errors for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infrastructure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components like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CPU, JVM,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Databases,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queues.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10063" y="255746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76663"/>
            </a:solidFill>
            <a:prstDash val="solid"/>
            <a:miter lim="800000"/>
          </a:ln>
        </p:spPr>
      </p:sp>
      <p:pic>
        <p:nvPicPr>
          <p:cNvPr id="13" name="Image 1" descr="1f8e70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676" y="2780705"/>
            <a:ext cx="257175" cy="266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91250" y="2914650"/>
            <a:ext cx="2667000" cy="3271838"/>
          </a:xfrm>
          <a:prstGeom prst="roundRect">
            <a:avLst>
              <a:gd name="adj" fmla="val 3429"/>
            </a:avLst>
          </a:prstGeom>
          <a:solidFill>
            <a:srgbClr val="B0955C">
              <a:alpha val="30000"/>
            </a:srgbClr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6477000" y="3409206"/>
            <a:ext cx="2381250" cy="2710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34"/>
              </a:lnSpc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FHIR Metrics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77000" y="3765649"/>
            <a:ext cx="2419796" cy="12166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59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Tracks search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latency, bundle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sizes, and resource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mix specific to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 operations.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7167563" y="255746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27A47"/>
            </a:solidFill>
            <a:prstDash val="solid"/>
            <a:miter lim="800000"/>
          </a:ln>
        </p:spPr>
      </p:sp>
      <p:pic>
        <p:nvPicPr>
          <p:cNvPr id="18" name="Image 2" descr="-1c9289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619" y="2780703"/>
            <a:ext cx="276225" cy="2762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48750" y="2914650"/>
            <a:ext cx="2667000" cy="3271838"/>
          </a:xfrm>
          <a:prstGeom prst="roundRect">
            <a:avLst>
              <a:gd name="adj" fmla="val 3429"/>
            </a:avLst>
          </a:prstGeom>
          <a:solidFill>
            <a:srgbClr val="F3A83B">
              <a:alpha val="30000"/>
            </a:srgbClr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9334500" y="3409206"/>
            <a:ext cx="2381250" cy="2710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34"/>
              </a:lnSpc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Business KPIs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9334500" y="3765649"/>
            <a:ext cx="2381250" cy="12166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17"/>
              </a:lnSpc>
              <a:spcBef>
                <a:spcPts val="659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Measures outcomes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such as claims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completed, import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success rates,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EOB latency.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0025063" y="255746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C920E"/>
            </a:solidFill>
            <a:prstDash val="solid"/>
            <a:miter lim="800000"/>
          </a:ln>
        </p:spPr>
      </p:sp>
      <p:pic>
        <p:nvPicPr>
          <p:cNvPr id="23" name="Image 3" descr="590ba1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560" y="2763962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8786961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Measure the operating envelope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before selecting a topology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Key metrics and iterative testing strategy for system capacity planning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362200"/>
            <a:ext cx="4476750" cy="3295650"/>
          </a:xfrm>
          <a:prstGeom prst="round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professional measuring tape">    </p:cNvPr>
          <p:cNvPicPr>
            <a:picLocks noChangeAspect="1"/>
          </p:cNvPicPr>
          <p:nvPr/>
        </p:nvPicPr>
        <p:blipFill>
          <a:blip r:embed="rId1"/>
          <a:srcRect l="0" r="0" t="13191" b="13191"/>
          <a:stretch/>
        </p:blipFill>
        <p:spPr>
          <a:xfrm>
            <a:off x="476250" y="2362200"/>
            <a:ext cx="4476750" cy="3295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473672"/>
            <a:ext cx="6563767" cy="30780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027"/>
              </a:lnSpc>
              <a:buClr>
                <a:srgbClr val="0b2d35"/>
              </a:buClr>
              <a:buSzPct val="120000"/>
              <a:buChar char="•"/>
            </a:pPr>
            <a:r>
              <a:rPr lang="en-US" sz="176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Capacity inputs</a:t>
            </a:r>
            <a:endParaRPr lang="en-US" dirty="0"/>
          </a:p>
          <a:p>
            <a:pPr fontAlgn="ctr" algn="l" lvl="1" marL="254000" indent="0">
              <a:lnSpc>
                <a:spcPts val="1821"/>
              </a:lnSpc>
              <a:spcBef>
                <a:spcPts val="487"/>
              </a:spcBef>
              <a:buNone/>
            </a:pPr>
            <a: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Demand (requests/sec, concurrent users, resource mix),</a:t>
            </a:r>
            <a:b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Latency (p50/p95/p99, search vs write, end-to-end), and</a:t>
            </a:r>
            <a:b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(resources per patient, growth per day, index size).</a:t>
            </a:r>
            <a:endParaRPr lang="en-US" dirty="0"/>
          </a:p>
          <a:p>
            <a:pPr fontAlgn="ctr" algn="l" marL="241300" indent="-241300">
              <a:lnSpc>
                <a:spcPts val="2027"/>
              </a:lnSpc>
              <a:spcBef>
                <a:spcPts val="1926"/>
              </a:spcBef>
              <a:buClr>
                <a:srgbClr val="0b2d35"/>
              </a:buClr>
              <a:buSzPct val="120000"/>
              <a:buChar char="•"/>
            </a:pPr>
            <a:r>
              <a:rPr lang="en-US" sz="176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Saturation</a:t>
            </a:r>
            <a:endParaRPr lang="en-US" dirty="0"/>
          </a:p>
          <a:p>
            <a:pPr fontAlgn="ctr" algn="l" lvl="1" marL="254000" indent="0">
              <a:lnSpc>
                <a:spcPts val="1821"/>
              </a:lnSpc>
              <a:spcBef>
                <a:spcPts val="487"/>
              </a:spcBef>
              <a:buNone/>
            </a:pPr>
            <a: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Monitoring CPU, heap, GC, DB IOPS, cache hit, and queue</a:t>
            </a:r>
            <a:b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depth.</a:t>
            </a:r>
            <a:endParaRPr lang="en-US" dirty="0"/>
          </a:p>
          <a:p>
            <a:pPr fontAlgn="ctr" algn="l" marL="241300" indent="-241300">
              <a:lnSpc>
                <a:spcPts val="2027"/>
              </a:lnSpc>
              <a:spcBef>
                <a:spcPts val="1926"/>
              </a:spcBef>
              <a:buClr>
                <a:srgbClr val="0b2d35"/>
              </a:buClr>
              <a:buSzPct val="120000"/>
              <a:buChar char="•"/>
            </a:pPr>
            <a:r>
              <a:rPr lang="en-US" sz="176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Iteration</a:t>
            </a:r>
            <a:endParaRPr lang="en-US" dirty="0"/>
          </a:p>
          <a:p>
            <a:pPr fontAlgn="ctr" algn="l" lvl="1" marL="254000" indent="0">
              <a:lnSpc>
                <a:spcPts val="1821"/>
              </a:lnSpc>
              <a:spcBef>
                <a:spcPts val="487"/>
              </a:spcBef>
              <a:buNone/>
            </a:pPr>
            <a: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Load test, identify bottleneck, change one variable,</a:t>
            </a:r>
            <a:b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83" spc="26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retest, set SLO plus headroom.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1390650" y="6374904"/>
            <a:ext cx="9410700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Iteration: load test, identify bottleneck, change one variable, retest, set SLO plus headroom.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8322320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Harden first, then build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resilience, scale, and optimize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 structured roadmap for phased system maturity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88219" y="2495550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2B6F9F">
              <a:alpha val="30000"/>
            </a:srgbClr>
          </a:solidFill>
          <a:ln>
            <a:miter lim="800000"/>
          </a:ln>
        </p:spPr>
      </p:sp>
      <p:pic>
        <p:nvPicPr>
          <p:cNvPr id="5" name="Image 0" descr="3109cc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446" y="2916920"/>
            <a:ext cx="51435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3598" y="4018211"/>
            <a:ext cx="2497991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0–30 days: Harden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92219" y="4357390"/>
            <a:ext cx="2420749" cy="12166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TLS/domain, protect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 APIs, secrets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manager, off-host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backups, baseline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telemetry.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917156" y="2495550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6E827E">
              <a:alpha val="30000"/>
            </a:srgbClr>
          </a:solidFill>
          <a:ln>
            <a:miter lim="800000"/>
          </a:ln>
        </p:spPr>
      </p:sp>
      <p:pic>
        <p:nvPicPr>
          <p:cNvPr id="9" name="Image 1" descr="-3f6486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613" y="2841575"/>
            <a:ext cx="400050" cy="742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7081" y="4018211"/>
            <a:ext cx="2628900" cy="5000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30–90 days:</a:t>
            </a:r>
            <a:b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Resilience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249781" y="4607421"/>
            <a:ext cx="2763500" cy="14600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Managed/replicated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MongoDB, multiple API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replicas, ingress/WAF,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E2E tests,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restore/failover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drills.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846094" y="2495550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B0955C">
              <a:alpha val="30000"/>
            </a:srgbClr>
          </a:solidFill>
          <a:ln>
            <a:miter lim="800000"/>
          </a:ln>
        </p:spPr>
      </p:sp>
      <p:pic>
        <p:nvPicPr>
          <p:cNvPr id="13" name="Image 2" descr="-4ca72f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090" y="2908550"/>
            <a:ext cx="609600" cy="609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93631" y="4018211"/>
            <a:ext cx="2733675" cy="2500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90–180 days: Scale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120348" y="4357390"/>
            <a:ext cx="2880241" cy="14600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Queue-backed workers,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workload-driven index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redesign, caching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strategy,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load/performance suite,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autoscaling.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9775031" y="2495550"/>
            <a:ext cx="1428750" cy="1428750"/>
          </a:xfrm>
          <a:prstGeom prst="roundRect">
            <a:avLst>
              <a:gd name="adj" fmla="val 6400"/>
            </a:avLst>
          </a:prstGeom>
          <a:solidFill>
            <a:srgbClr val="F3A83B">
              <a:alpha val="30000"/>
            </a:srgbClr>
          </a:solidFill>
          <a:ln>
            <a:miter lim="800000"/>
          </a:ln>
        </p:spPr>
      </p:sp>
      <p:pic>
        <p:nvPicPr>
          <p:cNvPr id="17" name="Image 3" descr="-596e0f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374" y="2870876"/>
            <a:ext cx="419100" cy="7143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7344" y="4018211"/>
            <a:ext cx="2524125" cy="5000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6–12 months:</a:t>
            </a:r>
            <a:b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710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Optimize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9166101" y="4607421"/>
            <a:ext cx="2646611" cy="17033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17"/>
              </a:lnSpc>
              <a:spcBef>
                <a:spcPts val="688"/>
              </a:spcBef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Tenant isolation,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advanced search/index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tier, analytics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separation, multi-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region if required,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cost/performance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tuning.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7942511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Prototype Value: Exposing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Enterprise Service Demands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Key dimensions for evaluating service readiness and scale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3418731"/>
            <a:ext cx="5238750" cy="19106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Standards first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 provides a durable interoperability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boundary.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Simple architecture first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compact stack accelerated learning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exposed integration behavior.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3418731"/>
            <a:ext cx="5238750" cy="19106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Operational rigor next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Security, HA, observability, recovery,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deployment controls dominate readiness.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Performance is empirical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Indexes, workload isolation, and capacity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tests should drive scale decisions.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9005888" cy="1206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The pattern is proven; now</a:t>
            </a:r>
            <a:b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engineer the operating envelope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80418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Operational excellence for FHIR-based systems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394793"/>
            <a:ext cx="5381327" cy="32405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Secure every API boundary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Implement robust authentication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authorization to protect all endpoints.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Scale stateless compute horizontally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Ensure system elasticity by maintaining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stateless application architecture.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Engineer indexes from real FHIR searches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Optimize database performance based on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actual query patterns and FHIR resource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access.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394793"/>
            <a:ext cx="5363021" cy="21539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Isolate bulk and async workloads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Prevent resource contention by separating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batch processing from real-time API traffic.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2027"/>
              </a:spcBef>
              <a:buClr>
                <a:srgbClr val="0b2d35"/>
              </a:buClr>
              <a:buSzPct val="120000"/>
              <a:buChar char="•"/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Design HA, DR, and observability in</a:t>
            </a:r>
            <a:endParaRPr lang="en-US" dirty="0"/>
          </a:p>
          <a:p>
            <a:pPr fontAlgn="ctr" algn="l" lvl="1" marL="241300" indent="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Build high availability, disaster recovery,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comprehensive monitoring directly into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architecture.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1F5EE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5691188" y="6374904"/>
            <a:ext cx="809625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</a:pPr>
            <a:r>
              <a:rPr lang="en-US" sz="1567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Q&amp;A.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525250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Appendix: Current Technology Stack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Overview of infrastructure, frameworks, and tools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52600"/>
            <a:ext cx="11239500" cy="4629150"/>
          </a:xfrm>
          <a:prstGeom prst="roundRect">
            <a:avLst>
              <a:gd name="adj" fmla="val 1975"/>
            </a:avLst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-7030ea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752600"/>
            <a:ext cx="11249025" cy="4638675"/>
          </a:xfrm>
          <a:prstGeom prst="rect">
            <a:avLst/>
          </a:prstGeom>
        </p:spPr>
      </p:pic>
      <p:pic>
        <p:nvPicPr>
          <p:cNvPr id="6" name="Image 1" descr="-39f9cf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52600"/>
            <a:ext cx="11239500" cy="4629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752600"/>
            <a:ext cx="4288563" cy="59731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Category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764813" y="1752600"/>
            <a:ext cx="6950937" cy="59731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Technology / Tool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76250" y="2349910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Standard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764813" y="2349910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HL7 FHIR R4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76250" y="2797892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 Framework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64813" y="2797892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HAPI FHIR 7.2.0 Plain Server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3245874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Backend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64813" y="3245874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Spring Boot 3.2.5, Java 17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6250" y="3693856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Database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764813" y="3693856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MongoDB 7.0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6250" y="4141839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Frontend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764813" y="4141839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React 18, Vite 6, TypeScript, Tailwind 4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76250" y="4589821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Runtime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764813" y="4589821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Docker/Docker Compose, nginx, Caddy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6250" y="5037803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CI/CD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764813" y="5037803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GitHub Actions, GHCR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76250" y="5485785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Synthetic Data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764813" y="5485785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Synthea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76250" y="5933768"/>
            <a:ext cx="4288563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Testing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64813" y="5933768"/>
            <a:ext cx="6950937" cy="4479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28282E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Maven/JUnit slices, Vitest/RTL, Live smoke test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7932"/>
            <a:ext cx="11776918" cy="6034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4752"/>
              </a:lnSpc>
            </a:pPr>
            <a:r>
              <a:rPr lang="en-US" sz="4125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Appendix — security hardening checklist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76920"/>
            <a:ext cx="11525250" cy="2677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109"/>
              </a:lnSpc>
              <a:spcBef>
                <a:spcPts val="892"/>
              </a:spcBef>
            </a:pPr>
            <a:r>
              <a:rPr lang="en-US" sz="1485" spc="30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Recommended security practices for infrastructure and application layers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1947118"/>
            <a:ext cx="3460700" cy="34839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508000" indent="-444500">
              <a:lnSpc>
                <a:spcPts val="2134"/>
              </a:lnSpc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Transport Security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TLS everywhere, HSTS,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managed certificates.</a:t>
            </a:r>
            <a:endParaRPr lang="en-US" dirty="0"/>
          </a:p>
          <a:p>
            <a:pPr fontAlgn="ctr" algn="l" marL="508000" indent="-444500">
              <a:lnSpc>
                <a:spcPts val="2134"/>
              </a:lnSpc>
              <a:spcBef>
                <a:spcPts val="2027"/>
              </a:spcBef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Identity &amp; Access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OAuth2/OIDC and SMART-on-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FHIR scopes with audience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validation.</a:t>
            </a:r>
            <a:endParaRPr lang="en-US" dirty="0"/>
          </a:p>
          <a:p>
            <a:pPr fontAlgn="ctr" algn="l" marL="508000" indent="-444500">
              <a:lnSpc>
                <a:spcPts val="2134"/>
              </a:lnSpc>
              <a:spcBef>
                <a:spcPts val="2027"/>
              </a:spcBef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Authorization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Protect /fhir/** with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resource/action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authorization.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08500" y="1947118"/>
            <a:ext cx="3460700" cy="34839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508000" indent="-444500">
              <a:lnSpc>
                <a:spcPts val="2134"/>
              </a:lnSpc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API Gateway &amp; WAF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Rate limits, quotas,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threat controls.</a:t>
            </a:r>
            <a:endParaRPr lang="en-US" dirty="0"/>
          </a:p>
          <a:p>
            <a:pPr fontAlgn="ctr" algn="l" marL="508000" indent="-444500">
              <a:lnSpc>
                <a:spcPts val="2134"/>
              </a:lnSpc>
              <a:spcBef>
                <a:spcPts val="2027"/>
              </a:spcBef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Secrets Management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Central secrets/KMS,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rotation, no committed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defaults.</a:t>
            </a:r>
            <a:endParaRPr lang="en-US" dirty="0"/>
          </a:p>
          <a:p>
            <a:pPr fontAlgn="ctr" algn="l" marL="508000" indent="-444500">
              <a:lnSpc>
                <a:spcPts val="2134"/>
              </a:lnSpc>
              <a:spcBef>
                <a:spcPts val="2027"/>
              </a:spcBef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Audit &amp; Logging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Immutable audit events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for reads, writes,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admin.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64500" y="1947118"/>
            <a:ext cx="3460700" cy="424160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508000" indent="-444500">
              <a:lnSpc>
                <a:spcPts val="2134"/>
              </a:lnSpc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Network &amp; Identities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Private data networking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least-privilege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service identities.</a:t>
            </a:r>
            <a:endParaRPr lang="en-US" dirty="0"/>
          </a:p>
          <a:p>
            <a:pPr fontAlgn="ctr" algn="l" marL="508000" indent="-444500">
              <a:lnSpc>
                <a:spcPts val="2134"/>
              </a:lnSpc>
              <a:spcBef>
                <a:spcPts val="2027"/>
              </a:spcBef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Supply Chain Security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SAST/SCA/container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scanning plus signed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images/SBOM.</a:t>
            </a:r>
            <a:endParaRPr lang="en-US" dirty="0"/>
          </a:p>
          <a:p>
            <a:pPr fontAlgn="ctr" algn="l" marL="508000" indent="-444500">
              <a:lnSpc>
                <a:spcPts val="2134"/>
              </a:lnSpc>
              <a:spcBef>
                <a:spcPts val="2027"/>
              </a:spcBef>
              <a:buSzPct val="120000"/>
              <a:buBlip>
                <a:blip r:embed="rId1"/>
              </a:buBlip>
            </a:pP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Compliance &amp;</a:t>
            </a:r>
            <a:b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52" dirty="0">
                <a:solidFill>
                  <a:srgbClr val="28282E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Governance</a:t>
            </a:r>
            <a:endParaRPr lang="en-US" dirty="0"/>
          </a:p>
          <a:p>
            <a:pPr fontAlgn="ctr" algn="l" lvl="1" marL="952500" indent="-444500">
              <a:lnSpc>
                <a:spcPts val="1917"/>
              </a:lnSpc>
              <a:spcBef>
                <a:spcPts val="512"/>
              </a:spcBef>
              <a:buNone/>
            </a:pP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HIPAA security risk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analysis, logging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controls, retention, and</a:t>
            </a:r>
            <a:b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50" spc="27" kern="0" dirty="0">
                <a:solidFill>
                  <a:srgbClr val="000000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incident response.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b2d3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Beautiful.ai</cp:lastModifiedBy>
  <cp:revision>1</cp:revision>
  <dcterms:created xsi:type="dcterms:W3CDTF">2026-08-29T01:08:41Z</dcterms:created>
  <dcterms:modified xsi:type="dcterms:W3CDTF">2026-08-29T01:08:41Z</dcterms:modified>
</cp:coreProperties>
</file>